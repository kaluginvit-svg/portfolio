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Brandbook source: /mnt/data/Logobuk_Partnerstvo_Maminoy.pdf (logo rules, palette, fonts, design elements).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RAEX, analytical overview of Russian consulting market and finance consulting segment: https://raex-rr.com/b2b/consulting/biggest_consulting_companies_and_groups/2025/ and https://raex-rr.com/b2b/consulting/finance_consulting/2025/analytics/
B1 operational excellence: finance and methodology / budgeting / reporting: https://b1.ru/en/operations-finance-consulting-services/
Kept digital finance and treasury optimization: https://kept.ru/services/consulting/tsifrovye-finansy/ and https://kept.ru/services/consulting/tsifrovye-finansy/optimizatsiya-finansovo-kaznacheyskoy-funktsii-gruppy-kompaniy/
Delovoy Profil management accounting and budgeting offers: https://delprof.ru/services/postanovka-upravlencheskogo-ucheta/ and https://delprof.ru/services/upravlencheskij-uchet-i-avtomatizaciya/
Neskuchnye Finansy outsourced CFO: https://noboring-finance.ru/services/finansovyy-direktor-na-autsorse/
Finolog outsourced CFO: https://finolog.ru/findirector/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1216359" cy="6309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work/logo_sign_tran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695590" y="1205096"/>
            <a:ext cx="3575304" cy="37053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08618" y="744321"/>
            <a:ext cx="134599" cy="445861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1411467" y="1181770"/>
            <a:ext cx="5636361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СИСТЕМА ПРОДУКТОВ</a:t>
            </a:r>
            <a:endParaRPr lang="en-US" sz="30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ФИНАНСОВОЙ ПРАКТИКИ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411467" y="3032516"/>
            <a:ext cx="466892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Новая продуктовая вертикаль для усиления клиентской ценности, роста выручки и выхода на управленческие решения клиента</a:t>
            </a:r>
            <a:endParaRPr lang="en-US" sz="1400" dirty="0"/>
          </a:p>
        </p:txBody>
      </p:sp>
      <p:pic>
        <p:nvPicPr>
          <p:cNvPr id="7" name="Image 1" descr="/mnt/data/work/logo_crop_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603" y="4765487"/>
            <a:ext cx="1648846" cy="8833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1467" y="5808634"/>
            <a:ext cx="3196742" cy="16824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внутренний материал для руководителей отделов</a:t>
            </a:r>
            <a:endParaRPr lang="en-US" sz="95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232904" y="996696"/>
            <a:ext cx="3925824" cy="4068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ЗАЧЕМ ЭТО НАПРАВЛЕНИЕ КОМПАНИИ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практика как новая вертикаль роста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1346" y="1311928"/>
            <a:ext cx="3448650" cy="128219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09032" y="1329613"/>
            <a:ext cx="70741" cy="1246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0515" y="1453411"/>
            <a:ext cx="3201055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Рост среднего чека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0515" y="1807119"/>
            <a:ext cx="3201055" cy="64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Расширяет существующую клиентскую базу за счет проектов и регулярного сопровождения.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01896" y="1311928"/>
            <a:ext cx="3448650" cy="128219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119581" y="1329613"/>
            <a:ext cx="70741" cy="1246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261064" y="1453411"/>
            <a:ext cx="3201055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Выход на собственника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261064" y="1807119"/>
            <a:ext cx="3201055" cy="64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Переводит диалог из учета и налогов в решения о прибыли, деньгах и развитии.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12445" y="1311928"/>
            <a:ext cx="3448650" cy="128219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630130" y="1329613"/>
            <a:ext cx="70741" cy="1246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771613" y="1453411"/>
            <a:ext cx="3201055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Абонентская выручка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71613" y="1807119"/>
            <a:ext cx="3201055" cy="64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Создает повторяющиеся форматы: внешний CFO, обзоры, cash-flow и profitability review.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351042" y="2815186"/>
            <a:ext cx="3448650" cy="128219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368728" y="2832871"/>
            <a:ext cx="70741" cy="1246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510211" y="2956669"/>
            <a:ext cx="3201055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Меньше ценовой конкуренции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510211" y="3310376"/>
            <a:ext cx="3201055" cy="64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Клиент сравнивает не часы учета, а полезность для управления бизнесом.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861592" y="2815186"/>
            <a:ext cx="3448650" cy="128219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5879277" y="2832871"/>
            <a:ext cx="70741" cy="124681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020760" y="2956669"/>
            <a:ext cx="3201055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Усиление advisory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020760" y="3310376"/>
            <a:ext cx="3201055" cy="6455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Достраивает аудит, бухгалтерию и налоги до полноценного финансового консалтинга.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77695" y="4910904"/>
            <a:ext cx="9461681" cy="39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практика не дублирует учет, а превращает данные учета в инструмент управленческих решений.</a:t>
            </a:r>
            <a:endParaRPr lang="en-US" sz="1600" dirty="0"/>
          </a:p>
        </p:txBody>
      </p:sp>
      <p:sp>
        <p:nvSpPr>
          <p:cNvPr id="29" name="Rectangle 28"/>
          <p:cNvSpPr/>
          <p:nvPr/>
        </p:nvSpPr>
        <p:spPr>
          <a:xfrm>
            <a:off x="502920" y="1751852"/>
            <a:ext cx="309494" cy="12379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1689953"/>
            <a:ext cx="49518" cy="108322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7198" y="1628054"/>
            <a:ext cx="49518" cy="170221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1476" y="1566155"/>
            <a:ext cx="49518" cy="232120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673141" y="1519731"/>
            <a:ext cx="129986" cy="86658"/>
          </a:xfrm>
          <a:prstGeom prst="rightArrow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art 33"/>
          <p:cNvSpPr/>
          <p:nvPr/>
        </p:nvSpPr>
        <p:spPr>
          <a:xfrm>
            <a:off x="989268" y="1488782"/>
            <a:ext cx="294019" cy="294019"/>
          </a:xfrm>
          <a:prstGeom prst="heart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1082116" y="1680667"/>
            <a:ext cx="68087" cy="18569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18900000">
            <a:off x="1119254" y="1668288"/>
            <a:ext cx="105227" cy="18569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75616" y="1488782"/>
            <a:ext cx="309494" cy="309494"/>
          </a:xfrm>
          <a:prstGeom prst="ellipse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75616" y="1525920"/>
            <a:ext cx="309494" cy="235215"/>
          </a:xfrm>
          <a:prstGeom prst="rect">
            <a:avLst/>
          </a:prstGeom>
          <a:noFill/>
        </p:spPr>
        <p:txBody>
          <a:bodyPr wrap="none" lIns="109728" t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F0F0F"/>
                </a:solidFill>
              </a:rPr>
              <a:t>₽</a:t>
            </a:r>
          </a:p>
        </p:txBody>
      </p:sp>
      <p:sp>
        <p:nvSpPr>
          <p:cNvPr id="39" name="Oval 38"/>
          <p:cNvSpPr/>
          <p:nvPr/>
        </p:nvSpPr>
        <p:spPr>
          <a:xfrm>
            <a:off x="1961964" y="1488782"/>
            <a:ext cx="222835" cy="222835"/>
          </a:xfrm>
          <a:prstGeom prst="ellipse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700000">
            <a:off x="2129090" y="1668288"/>
            <a:ext cx="105227" cy="18569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 ФИНАНСОВАЯ ПРАКТИКА ВСТРАИВАЕТСЯ В ДЕЙСТВУЮЩИЕ НАПРАВЛЕНИЯ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единая архитектура услуг компании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68200" y="1886703"/>
            <a:ext cx="2078032" cy="11495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4044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27369" y="2081242"/>
            <a:ext cx="1759695" cy="88426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Налоговый</a:t>
            </a:r>
            <a:endParaRPr lang="en-US" sz="2200" dirty="0"/>
          </a:p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консалтинг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199941" y="1886703"/>
            <a:ext cx="2431740" cy="11495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54545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359109" y="2081242"/>
            <a:ext cx="2113403" cy="88426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Бухгалтерское</a:t>
            </a:r>
            <a:endParaRPr lang="en-US" sz="2200" dirty="0"/>
          </a:p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сопровождение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073816" y="1886703"/>
            <a:ext cx="1768538" cy="11495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84383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232985" y="2081242"/>
            <a:ext cx="1450201" cy="88426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Аудит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84490" y="1886703"/>
            <a:ext cx="2475954" cy="11495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56000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443658" y="2081242"/>
            <a:ext cx="2157617" cy="88426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Финансовая</a:t>
            </a:r>
            <a:endParaRPr lang="en-US" sz="2200" dirty="0"/>
          </a:p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dirty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практика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846233" y="2461478"/>
            <a:ext cx="353707" cy="26528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631682" y="2461478"/>
            <a:ext cx="442134" cy="26528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842355" y="2461478"/>
            <a:ext cx="442134" cy="26528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33481" y="3876309"/>
            <a:ext cx="9594322" cy="1370617"/>
          </a:xfrm>
          <a:prstGeom prst="roundRect">
            <a:avLst>
              <a:gd name="adj" fmla="val 5161"/>
            </a:avLst>
          </a:prstGeom>
          <a:solidFill>
            <a:srgbClr val="F1EFE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1166" y="3893994"/>
            <a:ext cx="70741" cy="133524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192650" y="4017792"/>
            <a:ext cx="9346726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Общий смысл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92650" y="4371500"/>
            <a:ext cx="9346726" cy="73394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практика не заменяет действующие направления. Она связывает налоговую, бухгалтерскую и аудиторскую экспертизу с управлением прибылью, ликвидностью, отчетностью собственника и подготовкой к росту, кредитованию или сделке.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 КАКИМИ ВОПРОСАМИ К НАМ МОЖЕТ ПРИХОДИТЬ КЛИЕНТ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рыночные боли и типы решений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79773" y="1400355"/>
            <a:ext cx="4377133" cy="4288706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97459" y="1418040"/>
            <a:ext cx="70741" cy="4253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38942" y="1541838"/>
            <a:ext cx="4129537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Клиентские вопросы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8942" y="1895545"/>
            <a:ext cx="4129537" cy="365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9268" y="1992815"/>
            <a:ext cx="3713931" cy="344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понимаю, где компания реально зарабатывает.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Прибыль есть, а денег постоянно не хватает.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отчетности для собственника и CEO.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Неясна доходность направлений, клиентов или проектов.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системы планирования, бюджета и контроля.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Нужна подготовка к кредиту, росту или сделке.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366401" y="2992039"/>
            <a:ext cx="689730" cy="424449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400996" y="1400355"/>
            <a:ext cx="4509773" cy="4288706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418681" y="1418040"/>
            <a:ext cx="70741" cy="4253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560164" y="1541838"/>
            <a:ext cx="4262178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Типы решений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60164" y="1895545"/>
            <a:ext cx="4262178" cy="365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10490" y="1992815"/>
            <a:ext cx="3846571" cy="344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финансовой модели и текущих цифр.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 учета, отчетности и правил закрытия.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Постановка P&amp;L, БДДС, баланса и панели собственника.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Бюджетирование, казначейство и управление оборотным капиталом.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Регулярное CFO-/controller-сопровождение.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Подготовка к кредитованию, инвестициям и special situations.</a:t>
            </a:r>
            <a:endParaRPr lang="en-US" sz="1500" dirty="0"/>
          </a:p>
        </p:txBody>
      </p:sp>
      <p:sp>
        <p:nvSpPr>
          <p:cNvPr id="19" name="Oval 18"/>
          <p:cNvSpPr/>
          <p:nvPr/>
        </p:nvSpPr>
        <p:spPr>
          <a:xfrm>
            <a:off x="502920" y="1488782"/>
            <a:ext cx="222835" cy="222835"/>
          </a:xfrm>
          <a:prstGeom prst="ellipse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670046" y="1668288"/>
            <a:ext cx="105227" cy="18569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rt 20"/>
          <p:cNvSpPr/>
          <p:nvPr/>
        </p:nvSpPr>
        <p:spPr>
          <a:xfrm>
            <a:off x="989268" y="1488782"/>
            <a:ext cx="294019" cy="294019"/>
          </a:xfrm>
          <a:prstGeom prst="heart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1082116" y="1680667"/>
            <a:ext cx="68087" cy="18569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8900000">
            <a:off x="1119254" y="1668288"/>
            <a:ext cx="105227" cy="18569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75616" y="1488782"/>
            <a:ext cx="309494" cy="309494"/>
          </a:xfrm>
          <a:prstGeom prst="ellipse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75616" y="1525920"/>
            <a:ext cx="309494" cy="235215"/>
          </a:xfrm>
          <a:prstGeom prst="rect">
            <a:avLst/>
          </a:prstGeom>
          <a:noFill/>
        </p:spPr>
        <p:txBody>
          <a:bodyPr wrap="none" lIns="109728" t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F0F0F"/>
                </a:solidFill>
              </a:rPr>
              <a:t>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АРХИТЕКТУРА ПРОДУКТОВОЙ ЛИНЕЙКИ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шесть укрупненных блоков практики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35560" y="1444568"/>
            <a:ext cx="3006515" cy="1591684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3245" y="1462253"/>
            <a:ext cx="70741" cy="155631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94728" y="1586051"/>
            <a:ext cx="2758920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1. Диагностика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4728" y="1939759"/>
            <a:ext cx="2758920" cy="95501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быстрый вход, выявление боли, дорожная карта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63143" y="1444568"/>
            <a:ext cx="3006515" cy="1591684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880828" y="1462253"/>
            <a:ext cx="70741" cy="155631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022311" y="1586051"/>
            <a:ext cx="2758920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2. Методология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022311" y="1939759"/>
            <a:ext cx="2758920" cy="95501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правила учета, KPI, регламенты, мосты между контурами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90726" y="1444568"/>
            <a:ext cx="3006515" cy="1591684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108411" y="1462253"/>
            <a:ext cx="70741" cy="155631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249895" y="1586051"/>
            <a:ext cx="2758920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3. Постановка и внедрение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49895" y="1939759"/>
            <a:ext cx="2758920" cy="95501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отчетность, бюджетирование, казначейство, автоматизация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5560" y="3655241"/>
            <a:ext cx="3006515" cy="1591684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53245" y="3672927"/>
            <a:ext cx="70741" cy="155631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94728" y="3796725"/>
            <a:ext cx="2758920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4. Контроль и сопровождение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94728" y="4150432"/>
            <a:ext cx="2758920" cy="95501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CFO, контролер, обзорный и комитетный формат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63143" y="3655241"/>
            <a:ext cx="3006515" cy="1591684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880828" y="3672927"/>
            <a:ext cx="70741" cy="155631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022311" y="3796725"/>
            <a:ext cx="2758920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5. Прибыльность и решения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022311" y="4150432"/>
            <a:ext cx="2758920" cy="95501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маржа, unit-экономика, модель бизнеса и масштабирования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090726" y="3655241"/>
            <a:ext cx="3006515" cy="1591684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108411" y="3672927"/>
            <a:ext cx="70741" cy="155631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249895" y="3796725"/>
            <a:ext cx="2758920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6. Группа / финансирование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249895" y="4150432"/>
            <a:ext cx="2758920" cy="95501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кредиты, due diligence, реструктуризация, временный CFO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ОТ ВЫЯВЛЕНИЯ ПРОБЛЕМЫ К ФИКСАЦИИ ПРАВИЛ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входной контур практики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79773" y="1400355"/>
            <a:ext cx="4996121" cy="437713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97459" y="1418040"/>
            <a:ext cx="70741" cy="434176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38942" y="1541838"/>
            <a:ext cx="4748526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Диагностика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8942" y="1895545"/>
            <a:ext cx="4748526" cy="374045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9268" y="1957444"/>
            <a:ext cx="4377133" cy="3271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диагностика бизнеса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управленческого учета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денежных потоков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прибыльности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расхождений между учетными контурами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67704" y="1400355"/>
            <a:ext cx="4996121" cy="437713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985389" y="1418040"/>
            <a:ext cx="70741" cy="434176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126873" y="1541838"/>
            <a:ext cx="4748526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Методология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26873" y="1895545"/>
            <a:ext cx="4748526" cy="374045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77198" y="1957444"/>
            <a:ext cx="4377133" cy="3271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 управленческого учета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Учетная политика управленческого учета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Регламент закрытия месяца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Мост между РСБУ, налоговым и управленческим учетом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 KPI и отчетности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414" y="5910128"/>
            <a:ext cx="9992243" cy="24759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Сначала компания понимает, что не так. Затем фиксирует единые правила, по которым будут считаться цифры.</a:t>
            </a:r>
            <a:endParaRPr lang="en-US" sz="1450" dirty="0"/>
          </a:p>
        </p:txBody>
      </p:sp>
      <p:sp>
        <p:nvSpPr>
          <p:cNvPr id="19" name="Oval 18"/>
          <p:cNvSpPr/>
          <p:nvPr/>
        </p:nvSpPr>
        <p:spPr>
          <a:xfrm>
            <a:off x="502920" y="1488782"/>
            <a:ext cx="222835" cy="222835"/>
          </a:xfrm>
          <a:prstGeom prst="ellipse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670046" y="1668288"/>
            <a:ext cx="105227" cy="18569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rt 20"/>
          <p:cNvSpPr/>
          <p:nvPr/>
        </p:nvSpPr>
        <p:spPr>
          <a:xfrm>
            <a:off x="989268" y="1488782"/>
            <a:ext cx="294019" cy="294019"/>
          </a:xfrm>
          <a:prstGeom prst="heart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1082116" y="1680667"/>
            <a:ext cx="68087" cy="18569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8900000">
            <a:off x="1119254" y="1668288"/>
            <a:ext cx="105227" cy="18569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ОТ СИСТЕМЫ ОТЧЕТНОСТИ К РЕГУЛЯРНОМУ СОПРОВОЖДЕНИЮ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ядро проектной и recurring-выручки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17875" y="1462253"/>
            <a:ext cx="5217189" cy="4288706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35560" y="1479939"/>
            <a:ext cx="70741" cy="4253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043" y="1603737"/>
            <a:ext cx="4969593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Постановка и внедрение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043" y="1957444"/>
            <a:ext cx="4969593" cy="365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53897" y="1957444"/>
            <a:ext cx="4492088" cy="318336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Управленческий учет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P&amp;L / БДДС / баланс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Панель собственника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Бюджетирование и казначейство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Консолидация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Автоматизация отчетности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76547" y="3045096"/>
            <a:ext cx="194539" cy="194539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365625" y="1462253"/>
            <a:ext cx="4668942" cy="4288706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383311" y="1479939"/>
            <a:ext cx="70741" cy="4253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524794" y="1603737"/>
            <a:ext cx="4421346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Контроль и сопровождение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24794" y="1957444"/>
            <a:ext cx="4421346" cy="365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1957444"/>
            <a:ext cx="4049953" cy="318336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финансовый директор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финансовый контролер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Ежемесячный финансовый обзор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Cash-flow review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Profitability review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Бюджетный комитет на аутсорсе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46233" y="5910128"/>
            <a:ext cx="6013031" cy="24759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Логика продажи: проект → результат → регулярное сопровождение</a:t>
            </a:r>
            <a:endParaRPr lang="en-US" sz="1450" dirty="0"/>
          </a:p>
        </p:txBody>
      </p:sp>
      <p:sp>
        <p:nvSpPr>
          <p:cNvPr id="20" name="Oval 19"/>
          <p:cNvSpPr/>
          <p:nvPr/>
        </p:nvSpPr>
        <p:spPr>
          <a:xfrm>
            <a:off x="502920" y="1488782"/>
            <a:ext cx="222835" cy="222835"/>
          </a:xfrm>
          <a:prstGeom prst="ellipse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670046" y="1668288"/>
            <a:ext cx="105227" cy="18569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art 21"/>
          <p:cNvSpPr/>
          <p:nvPr/>
        </p:nvSpPr>
        <p:spPr>
          <a:xfrm>
            <a:off x="989268" y="1488782"/>
            <a:ext cx="294019" cy="294019"/>
          </a:xfrm>
          <a:prstGeom prst="heart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1082116" y="1680667"/>
            <a:ext cx="68087" cy="18569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8900000">
            <a:off x="1119254" y="1668288"/>
            <a:ext cx="105227" cy="18569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ПРОДУКТЫ С ВЫСОКИМ ЧЕКОМ И СТРАТЕГИЧЕСКОЙ ЦЕННОСТЬЮ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премиальный слой практики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23987" y="1488782"/>
            <a:ext cx="2608594" cy="119376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41672" y="1506467"/>
            <a:ext cx="70741" cy="1158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83155" y="1630265"/>
            <a:ext cx="2360999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Модель прибыльности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83155" y="1983972"/>
            <a:ext cx="2360999" cy="5570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 направлениям, клиентам, SKU, проектам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74716" y="1488782"/>
            <a:ext cx="2608594" cy="119376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792401" y="1506467"/>
            <a:ext cx="70741" cy="1158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933885" y="1630265"/>
            <a:ext cx="2360999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Unit-экономика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933885" y="1983972"/>
            <a:ext cx="2360999" cy="5570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доходность единицы продукта, сделки, заказа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25445" y="1488782"/>
            <a:ext cx="2608594" cy="119376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6843131" y="1506467"/>
            <a:ext cx="70741" cy="1158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984614" y="1630265"/>
            <a:ext cx="2360999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Финансовая модель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984614" y="1983972"/>
            <a:ext cx="2360999" cy="5570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сценарии прибыли, денег и роста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3987" y="3080466"/>
            <a:ext cx="2608594" cy="119376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41672" y="3098152"/>
            <a:ext cx="70741" cy="1158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83155" y="3221949"/>
            <a:ext cx="2360999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Модель масштабирования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83155" y="3575657"/>
            <a:ext cx="2360999" cy="5570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филиалы, каналы, рост штата, CAPEX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74716" y="3080466"/>
            <a:ext cx="2608594" cy="119376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792401" y="3098152"/>
            <a:ext cx="70741" cy="1158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3933885" y="3221949"/>
            <a:ext cx="2360999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Подготовка к кредитованию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933885" y="3575657"/>
            <a:ext cx="2360999" cy="5570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банк, ковенанты, пакет материалов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825445" y="3080466"/>
            <a:ext cx="2608594" cy="119376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6843131" y="3098152"/>
            <a:ext cx="70741" cy="1158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984614" y="3221949"/>
            <a:ext cx="2360999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Financial due diligence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984614" y="3575657"/>
            <a:ext cx="2360999" cy="5570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покупка, продажа, инвестор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23987" y="4672151"/>
            <a:ext cx="2608594" cy="119376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741672" y="4689837"/>
            <a:ext cx="70741" cy="1158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883155" y="4813634"/>
            <a:ext cx="2360999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Investment readiness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83155" y="5167342"/>
            <a:ext cx="2360999" cy="5570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готовность к инвестору и партнерству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774716" y="4672151"/>
            <a:ext cx="2608594" cy="119376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3792401" y="4689837"/>
            <a:ext cx="70741" cy="1158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3933885" y="4813634"/>
            <a:ext cx="2360999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Реструктуризация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3933885" y="5167342"/>
            <a:ext cx="2360999" cy="5570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антикризисный cash-flow и пересборка модели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825445" y="4672151"/>
            <a:ext cx="2608594" cy="1193763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6843131" y="4689837"/>
            <a:ext cx="70741" cy="1158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6984614" y="4813634"/>
            <a:ext cx="2360999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Временный CFO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6984614" y="5167342"/>
            <a:ext cx="2360999" cy="55708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роль на период роста, смены команды или кризиса</a:t>
            </a:r>
            <a:endParaRPr lang="en-US" sz="1100" dirty="0"/>
          </a:p>
        </p:txBody>
      </p:sp>
      <p:sp>
        <p:nvSpPr>
          <p:cNvPr id="44" name="Rectangle 43"/>
          <p:cNvSpPr/>
          <p:nvPr/>
        </p:nvSpPr>
        <p:spPr>
          <a:xfrm>
            <a:off x="502920" y="1751852"/>
            <a:ext cx="309494" cy="12379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1689953"/>
            <a:ext cx="49518" cy="108322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77198" y="1628054"/>
            <a:ext cx="49518" cy="170221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1476" y="1566155"/>
            <a:ext cx="49518" cy="232120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673141" y="1519731"/>
            <a:ext cx="129986" cy="86658"/>
          </a:xfrm>
          <a:prstGeom prst="rightArrow">
            <a:avLst/>
          </a:prstGeom>
          <a:noFill/>
          <a:ln w="22225">
            <a:solidFill>
              <a:srgbClr val="040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89268" y="1488782"/>
            <a:ext cx="309494" cy="309494"/>
          </a:xfrm>
          <a:prstGeom prst="ellipse">
            <a:avLst/>
          </a:prstGeom>
          <a:noFill/>
          <a:ln w="22225">
            <a:solidFill>
              <a:srgbClr val="040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9268" y="1525920"/>
            <a:ext cx="309494" cy="235215"/>
          </a:xfrm>
          <a:prstGeom prst="rect">
            <a:avLst/>
          </a:prstGeom>
          <a:noFill/>
        </p:spPr>
        <p:txBody>
          <a:bodyPr wrap="none" lIns="109728" tIns="27432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0F0F0F"/>
                </a:solidFill>
              </a:rPr>
              <a:t>₽</a:t>
            </a:r>
          </a:p>
        </p:txBody>
      </p:sp>
      <p:sp>
        <p:nvSpPr>
          <p:cNvPr id="51" name="Heart 50"/>
          <p:cNvSpPr/>
          <p:nvPr/>
        </p:nvSpPr>
        <p:spPr>
          <a:xfrm>
            <a:off x="1475616" y="1488782"/>
            <a:ext cx="294019" cy="294019"/>
          </a:xfrm>
          <a:prstGeom prst="heart">
            <a:avLst/>
          </a:prstGeom>
          <a:noFill/>
          <a:ln w="22225">
            <a:solidFill>
              <a:srgbClr val="040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2700000">
            <a:off x="1568464" y="1680667"/>
            <a:ext cx="68087" cy="18569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18900000">
            <a:off x="1605603" y="1668288"/>
            <a:ext cx="105227" cy="18569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 ПРОДУКТЫ СОЕДИНЯЮТСЯ В ЕДИНУЮ ВОРОНКУ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логика развития клиента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35560" y="2284624"/>
            <a:ext cx="1724325" cy="1105336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56000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41672" y="2488006"/>
            <a:ext cx="1512100" cy="238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Диагностика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50515" y="2770972"/>
            <a:ext cx="1494415" cy="39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быстрый вход</a:t>
            </a:r>
            <a:endParaRPr lang="en-US" sz="1020" dirty="0"/>
          </a:p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 выявление боли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2430627" y="2638332"/>
            <a:ext cx="300651" cy="22991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846233" y="2284624"/>
            <a:ext cx="1724325" cy="1105336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84383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952346" y="2488006"/>
            <a:ext cx="1512100" cy="238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Методология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961188" y="2770972"/>
            <a:ext cx="1494415" cy="39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единые правила</a:t>
            </a:r>
            <a:endParaRPr lang="en-US" sz="1020" dirty="0"/>
          </a:p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 архитектура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641300" y="2638332"/>
            <a:ext cx="300651" cy="22991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056907" y="2284624"/>
            <a:ext cx="1724325" cy="1105336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4044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163019" y="2488006"/>
            <a:ext cx="1512100" cy="238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Внедрение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71862" y="2770972"/>
            <a:ext cx="1494415" cy="39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отчетность, бюджет,</a:t>
            </a:r>
            <a:endParaRPr lang="en-US" sz="1020" dirty="0"/>
          </a:p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казначейство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6851973" y="2638332"/>
            <a:ext cx="300651" cy="22991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7267580" y="2284624"/>
            <a:ext cx="1724325" cy="1105336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56000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373692" y="2488006"/>
            <a:ext cx="1512100" cy="238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Сопровождение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82535" y="2770972"/>
            <a:ext cx="1494415" cy="39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CFO / controller</a:t>
            </a:r>
            <a:endParaRPr lang="en-US" sz="1020" dirty="0"/>
          </a:p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 обзоры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9062647" y="2638332"/>
            <a:ext cx="300651" cy="22991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478253" y="2284624"/>
            <a:ext cx="1724325" cy="1105336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4044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9584366" y="2488006"/>
            <a:ext cx="1512100" cy="238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Спецпроекты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593208" y="2770972"/>
            <a:ext cx="1494415" cy="39792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кредит, M&amp;A,</a:t>
            </a:r>
            <a:endParaRPr lang="en-US" sz="1020" dirty="0"/>
          </a:p>
          <a:p>
            <a:pPr algn="ct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реструктуризация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1210335" y="4318443"/>
            <a:ext cx="9107974" cy="1149550"/>
          </a:xfrm>
          <a:prstGeom prst="roundRect">
            <a:avLst>
              <a:gd name="adj" fmla="val 6154"/>
            </a:avLst>
          </a:prstGeom>
          <a:solidFill>
            <a:srgbClr val="F1EFE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228020" y="4336129"/>
            <a:ext cx="70741" cy="111417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9503" y="4459927"/>
            <a:ext cx="8860378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Пример развития клиента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369503" y="4813634"/>
            <a:ext cx="8860378" cy="5128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диагностика → методология управленческого учета → трехформенная отчетность → внешний CFO → подготовка к кредитованию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 ФИНАНСОВАЯ ПРАКТИКА УСИЛИВАЕТ ДРУГИЕ НАПРАВЛЕНИЯ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союзная, а не конкурирующая логика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79773" y="1577208"/>
            <a:ext cx="3316010" cy="406763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97459" y="1594894"/>
            <a:ext cx="70741" cy="4032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38942" y="1718692"/>
            <a:ext cx="3068414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Налоговый блок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8942" y="2072399"/>
            <a:ext cx="3068414" cy="343096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2740" y="2196197"/>
            <a:ext cx="2723549" cy="282966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новые поводы для входа в бизнес-решения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связка налогов с экономикой и cash flow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более широкий advisory-диалог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49491" y="1577208"/>
            <a:ext cx="3316010" cy="406763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367177" y="1594894"/>
            <a:ext cx="70741" cy="4032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08660" y="1718692"/>
            <a:ext cx="3068414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Бухгалтерский блок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08660" y="2072399"/>
            <a:ext cx="3068414" cy="343096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32457" y="2196197"/>
            <a:ext cx="2723549" cy="282966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апсейл от учета к отчетности и контролю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рост ценности сопровождения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панель собственника как next step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019209" y="1577208"/>
            <a:ext cx="3316010" cy="4067638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036894" y="1594894"/>
            <a:ext cx="70741" cy="4032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178377" y="1718692"/>
            <a:ext cx="3068414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Аудит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178377" y="2072399"/>
            <a:ext cx="3068414" cy="343096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02175" y="2196197"/>
            <a:ext cx="2723549" cy="282966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усиление advisory-составляющей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методология, отчетность, трансформация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проекты после аудита и диагностики</a:t>
            </a:r>
            <a:endParaRPr lang="en-US" sz="1500" dirty="0"/>
          </a:p>
        </p:txBody>
      </p:sp>
      <p:sp>
        <p:nvSpPr>
          <p:cNvPr id="23" name="Oval 22"/>
          <p:cNvSpPr/>
          <p:nvPr/>
        </p:nvSpPr>
        <p:spPr>
          <a:xfrm>
            <a:off x="502920" y="1488782"/>
            <a:ext cx="222835" cy="222835"/>
          </a:xfrm>
          <a:prstGeom prst="ellipse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670046" y="1668288"/>
            <a:ext cx="105227" cy="18569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 ЧЕГО РАЗУМНО НАЧАТЬ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приоритетный контур запуска практики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23987" y="1621422"/>
            <a:ext cx="3227583" cy="406763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41672" y="1639107"/>
            <a:ext cx="70741" cy="4032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83155" y="1762905"/>
            <a:ext cx="2979987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Вход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83155" y="2116613"/>
            <a:ext cx="2979987" cy="343096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6953" y="2222725"/>
            <a:ext cx="2608594" cy="274123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диагностика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управленческого учета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денежных потоков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прибыльности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67177" y="1621422"/>
            <a:ext cx="3227583" cy="406763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384862" y="1639107"/>
            <a:ext cx="70741" cy="4032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26345" y="1762905"/>
            <a:ext cx="2979987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26345" y="2116613"/>
            <a:ext cx="2979987" cy="343096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50143" y="2222725"/>
            <a:ext cx="2608594" cy="274123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 управленческого учета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Трехформенная отчетность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Панель собственника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Бюджетирование / казначейство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010366" y="1621422"/>
            <a:ext cx="3227583" cy="406763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028052" y="1639107"/>
            <a:ext cx="70741" cy="40322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169535" y="1762905"/>
            <a:ext cx="2979987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Recurring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169535" y="2116613"/>
            <a:ext cx="2979987" cy="343096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93332" y="2222725"/>
            <a:ext cx="2608594" cy="274123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CFO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финансовый контролер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Ежемесячный финансовый обзор</a:t>
            </a:r>
            <a:endParaRPr lang="en-US" sz="1500" dirty="0"/>
          </a:p>
        </p:txBody>
      </p:sp>
      <p:sp>
        <p:nvSpPr>
          <p:cNvPr id="23" name="Oval 22"/>
          <p:cNvSpPr/>
          <p:nvPr/>
        </p:nvSpPr>
        <p:spPr>
          <a:xfrm>
            <a:off x="502920" y="1488782"/>
            <a:ext cx="222835" cy="222835"/>
          </a:xfrm>
          <a:prstGeom prst="ellipse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670046" y="1668288"/>
            <a:ext cx="105227" cy="18569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8816"/>
            <a:ext cx="7781570" cy="3713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36576" bIns="18288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РЫНОК, КОНКУРЕНЦИЯ И ТОЧКИ БЫСТРОГО СТАРТА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816737"/>
            <a:ext cx="7339435" cy="19453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рыночный итог и рекомендуемая стратегия запуска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704" y="365760"/>
            <a:ext cx="907849" cy="486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25725" y="6378791"/>
            <a:ext cx="309494" cy="159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algn="r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020119"/>
            <a:ext cx="1065544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79773" y="1426883"/>
            <a:ext cx="5084548" cy="4156065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97459" y="1444568"/>
            <a:ext cx="70741" cy="4120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38942" y="1568366"/>
            <a:ext cx="4836953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Высокая конкуренция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8942" y="1922074"/>
            <a:ext cx="4836953" cy="3519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89268" y="1975130"/>
            <a:ext cx="4377133" cy="265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Постановка управленческого учета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Бюджетирование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Казначейство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финансовый директор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Финансовое моделирование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Трансформация финансовой функции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89268" y="4875533"/>
            <a:ext cx="4377133" cy="33602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Рынок в этих категориях уже насыщен сильными брендами и платформенными игроками.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96962" y="1426883"/>
            <a:ext cx="5084548" cy="4156065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914648" y="1444568"/>
            <a:ext cx="70741" cy="412069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056131" y="1568366"/>
            <a:ext cx="4836953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Быстрый старт / приемлемая конкуренция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56131" y="1922074"/>
            <a:ext cx="4836953" cy="351939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06457" y="1975130"/>
            <a:ext cx="4377133" cy="265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 lIns="109728" tIns="54864" bIns="54864"/>
          <a:lstStyle/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расхождений между бух-, налоговым и управленческим учетом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Учетная политика управленческого учета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Регламент закрытия месяца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панель собственника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35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Подготовка к кредитованию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06457" y="4875533"/>
            <a:ext cx="4377133" cy="33602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27432" bIns="0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b="1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Эти офферы лучше опираются на текущую экспертизу компании и легче продаются действующей базе.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68200" y="5715589"/>
            <a:ext cx="10124883" cy="636673"/>
          </a:xfrm>
          <a:prstGeom prst="roundRect">
            <a:avLst>
              <a:gd name="adj" fmla="val 11111"/>
            </a:avLst>
          </a:prstGeom>
          <a:solidFill>
            <a:srgbClr val="F1EFE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85886" y="5733274"/>
            <a:ext cx="70741" cy="60130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27369" y="5857072"/>
            <a:ext cx="9877288" cy="30065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/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545454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Рекомендуемая стратегия запуска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27369" y="6210780"/>
            <a:ext cx="9877288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109728" tIns="54864" bIns="54864" rtlCol="0" anchor="ctr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b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Начинать с решений на стыке бухгалтерии, налогов и управленческих финансов — там ниже прямое конкурентное давление и выше естественное доверие к аудиторской компании.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продуктов финансовой практики</dc:title>
  <dc:subject>Система продуктов финансовой практики</dc:subject>
  <dc:creator>OpenAI</dc:creator>
  <cp:lastModifiedBy>OpenAI</cp:lastModifiedBy>
  <cp:revision>1</cp:revision>
  <dcterms:created xsi:type="dcterms:W3CDTF">2026-04-15T06:57:41Z</dcterms:created>
  <dcterms:modified xsi:type="dcterms:W3CDTF">2026-04-15T06:57:41Z</dcterms:modified>
</cp:coreProperties>
</file>