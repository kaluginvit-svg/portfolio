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3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</p:sldIdLst>
  <p:notesMasterIdLst>
    <p:notesMasterId r:id="rId14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notesMaster" Target="notesMasters/notesMaster1.xml"/><Relationship Id="rId15" Type="http://schemas.openxmlformats.org/officeDocument/2006/relationships/presProps" Target="presProps.xml"/><Relationship Id="rId16" Type="http://schemas.openxmlformats.org/officeDocument/2006/relationships/viewProps" Target="viewProps.xml"/><Relationship Id="rId17" Type="http://schemas.openxmlformats.org/officeDocument/2006/relationships/theme" Target="theme/theme1.xml"/><Relationship Id="rId18" Type="http://schemas.openxmlformats.org/officeDocument/2006/relationships/tableStyles" Target="tableStyles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1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_rels/notesSlide1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1.xml"/></Relationships>
</file>

<file path=ppt/notesSlides/_rels/notesSlide1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2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
[Sources]
Brandbook source: /mnt/data/Logobuk_Partnerstvo_Maminoy.pdf (logo rules, palette, fonts, design elements).
[/Sources]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
[Sources]
RAEX, analytical overview of Russian consulting market and finance consulting segment: https://raex-rr.com/b2b/consulting/biggest_consulting_companies_and_groups/2025/ and https://raex-rr.com/b2b/consulting/finance_consulting/2025/analytics/
B1 operational excellence: finance and methodology / budgeting / reporting: https://b1.ru/en/operations-finance-consulting-services/
Kept digital finance and treasury optimization: https://kept.ru/services/consulting/tsifrovye-finansy/ and https://kept.ru/services/consulting/tsifrovye-finansy/optimizatsiya-finansovo-kaznacheyskoy-funktsii-gruppy-kompaniy/
Delovoy Profil management accounting and budgeting offers: https://delprof.ru/services/postanovka-upravlencheskogo-ucheta/ and https://delprof.ru/services/upravlencheskij-uchet-i-avtomatizaciya/
Neskuchnye Finansy outsourced CFO: https://noboring-finance.ru/services/finansovyy-direktor-na-autsorse/
Finolog outsourced CFO: https://finolog.ru/findirector/
[/Sources]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image" Target="../media/image-1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image" Target="../media/image-2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image" Target="../media/image-3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image" Target="../media/image-4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image" Target="../media/image-5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image" Target="../media/image-6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image" Target="../media/image-7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image" Target="../media/image-8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8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image" Target="../media/image-9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9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image" Target="../media/image-10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0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image" Target="../media/image-1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1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image" Target="../media/image-12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7F6F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 w="12700">
            <a:solidFill>
              <a:srgbClr val="D6D6D6"/>
            </a:solidFill>
            <a:prstDash val="solid"/>
          </a:ln>
        </p:spPr>
        <p:txBody>
          <a:bodyPr/>
          <a:p/>
        </p:txBody>
      </p:sp>
      <p:pic>
        <p:nvPicPr>
          <p:cNvPr id="3" name="Image 0" descr="/mnt/data/work/logo_sign_trans.png">    </p:cNvPr>
          <p:cNvPicPr>
            <a:picLocks noChangeAspect="1"/>
          </p:cNvPicPr>
          <p:nvPr/>
        </p:nvPicPr>
        <p:blipFill>
          <a:blip r:embed="rId1">
            <a:alphaModFix amt="12000"/>
          </a:blip>
          <a:stretch>
            <a:fillRect/>
          </a:stretch>
        </p:blipFill>
        <p:spPr>
          <a:xfrm>
            <a:off x="7818120" y="912322"/>
            <a:ext cx="3886200" cy="4027516"/>
          </a:xfrm>
          <a:prstGeom prst="rect">
            <a:avLst/>
          </a:prstGeom>
        </p:spPr>
      </p:pic>
      <p:sp>
        <p:nvSpPr>
          <p:cNvPr id="4" name="Shape 1"/>
          <p:cNvSpPr/>
          <p:nvPr/>
        </p:nvSpPr>
        <p:spPr>
          <a:xfrm>
            <a:off x="658368" y="411480"/>
            <a:ext cx="146304" cy="4846320"/>
          </a:xfrm>
          <a:prstGeom prst="rect">
            <a:avLst/>
          </a:prstGeom>
          <a:solidFill>
            <a:srgbClr val="FFFFFF"/>
          </a:solidFill>
          <a:ln w="12700">
            <a:solidFill>
              <a:srgbClr val="D6D6D6"/>
            </a:solidFill>
            <a:prstDash val="solid"/>
          </a:ln>
        </p:spPr>
        <p:txBody>
          <a:bodyPr/>
          <a:p/>
        </p:txBody>
      </p:sp>
      <p:sp>
        <p:nvSpPr>
          <p:cNvPr id="5" name="Text 2"/>
          <p:cNvSpPr/>
          <p:nvPr/>
        </p:nvSpPr>
        <p:spPr>
          <a:xfrm>
            <a:off x="987552" y="886968"/>
            <a:ext cx="6126480" cy="1828800"/>
          </a:xfrm>
          <a:prstGeom prst="rect">
            <a:avLst/>
          </a:prstGeom>
          <a:solidFill>
            <a:srgbClr val="FFFFFF"/>
          </a:solidFill>
          <a:ln w="12700">
            <a:solidFill>
              <a:srgbClr val="D6D6D6"/>
            </a:solidFill>
          </a:ln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800" b="1" dirty="0">
                <a:solidFill>
                  <a:srgbClr val="0F0F0F"/>
                </a:solidFill>
                <a:latin typeface="Roboto Condensed" pitchFamily="34" charset="0"/>
                <a:ea typeface="Roboto Condensed" pitchFamily="34" charset="-122"/>
                <a:cs typeface="Roboto Condensed" pitchFamily="34" charset="-120"/>
              </a:rPr>
              <a:t>СИСТЕМА ПРОДУКТОВ</a:t>
            </a:r>
            <a:endParaRPr lang="en-US" sz="3000" dirty="0"/>
          </a:p>
          <a:p>
            <a:pPr indent="0" marL="0">
              <a:buNone/>
            </a:pPr>
            <a:r>
              <a:rPr lang="en-US" sz="3800" b="1" dirty="0">
                <a:solidFill>
                  <a:srgbClr val="0F0F0F"/>
                </a:solidFill>
                <a:latin typeface="Roboto Condensed" pitchFamily="34" charset="0"/>
                <a:ea typeface="Roboto Condensed" pitchFamily="34" charset="-122"/>
                <a:cs typeface="Roboto Condensed" pitchFamily="34" charset="-120"/>
              </a:rPr>
              <a:t>ФИНАНСОВОЙ ПРАКТИКИ</a:t>
            </a:r>
            <a:endParaRPr lang="en-US" sz="3000" dirty="0"/>
          </a:p>
        </p:txBody>
      </p:sp>
      <p:sp>
        <p:nvSpPr>
          <p:cNvPr id="6" name="Text 3"/>
          <p:cNvSpPr/>
          <p:nvPr/>
        </p:nvSpPr>
        <p:spPr>
          <a:xfrm>
            <a:off x="987552" y="2898648"/>
            <a:ext cx="5074920" cy="914400"/>
          </a:xfrm>
          <a:prstGeom prst="rect">
            <a:avLst/>
          </a:prstGeom>
          <a:solidFill>
            <a:srgbClr val="FFFFFF"/>
          </a:solidFill>
          <a:ln w="12700">
            <a:solidFill>
              <a:srgbClr val="D6D6D6"/>
            </a:solidFill>
          </a:ln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545454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Новая продуктовая вертикаль для усиления клиентской ценности, роста выручки и выхода на управленческие решения клиента</a:t>
            </a:r>
            <a:endParaRPr lang="en-US" sz="1400" dirty="0"/>
          </a:p>
        </p:txBody>
      </p:sp>
      <p:pic>
        <p:nvPicPr>
          <p:cNvPr id="7" name="Image 1" descr="/mnt/data/work/logo_crop_trans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965960" y="4782312"/>
            <a:ext cx="1792224" cy="960120"/>
          </a:xfrm>
          <a:prstGeom prst="rect">
            <a:avLst/>
          </a:prstGeom>
        </p:spPr>
      </p:pic>
      <p:sp>
        <p:nvSpPr>
          <p:cNvPr id="8" name="Text 4"/>
          <p:cNvSpPr/>
          <p:nvPr/>
        </p:nvSpPr>
        <p:spPr>
          <a:xfrm>
            <a:off x="987552" y="5916168"/>
            <a:ext cx="3474720" cy="182880"/>
          </a:xfrm>
          <a:prstGeom prst="rect">
            <a:avLst/>
          </a:prstGeom>
          <a:solidFill>
            <a:srgbClr val="FFFFFF"/>
          </a:solidFill>
          <a:ln w="12700">
            <a:solidFill>
              <a:srgbClr val="D6D6D6"/>
            </a:solidFill>
          </a:ln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545454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внутренний материал для руководителей отделов</a:t>
            </a:r>
            <a:endParaRPr lang="en-US" sz="950" dirty="0"/>
          </a:p>
        </p:txBody>
      </p:sp>
      <p:pic>
        <p:nvPicPr>
          <p:cNvPr id="9" name="Picture 8" descr="image.png"/>
          <p:cNvPicPr>
            <a:picLocks noChangeAspect="1"/>
          </p:cNvPicPr>
          <p:nvPr/>
        </p:nvPicPr>
        <p:blipFill>
          <a:blip r:embed="rId1"/>
          <a:srcRect/>
          <a:stretch>
            <a:fillRect/>
          </a:stretch>
        </p:blipFill>
        <p:spPr>
          <a:xfrm>
            <a:off x="7315200" y="685800"/>
            <a:ext cx="4267200" cy="4422371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164592"/>
          </a:xfrm>
          <a:prstGeom prst="rect">
            <a:avLst/>
          </a:prstGeom>
          <a:solidFill>
            <a:srgbClr val="FFFFFF"/>
          </a:solidFill>
          <a:ln w="12700">
            <a:solidFill>
              <a:srgbClr val="D6D6D6"/>
            </a:solidFill>
            <a:prstDash val="solid"/>
          </a:ln>
        </p:spPr>
        <p:txBody>
          <a:bodyPr/>
          <a:p/>
        </p:txBody>
      </p:sp>
      <p:sp>
        <p:nvSpPr>
          <p:cNvPr id="3" name="Text 1"/>
          <p:cNvSpPr/>
          <p:nvPr/>
        </p:nvSpPr>
        <p:spPr>
          <a:xfrm>
            <a:off x="594360" y="310896"/>
            <a:ext cx="8046720" cy="384048"/>
          </a:xfrm>
          <a:prstGeom prst="rect">
            <a:avLst/>
          </a:prstGeom>
          <a:solidFill>
            <a:srgbClr val="FFFFFF"/>
          </a:solidFill>
          <a:ln w="12700">
            <a:solidFill>
              <a:srgbClr val="D6D6D6"/>
            </a:solidFill>
          </a:ln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0F0F0F"/>
                </a:solidFill>
                <a:latin typeface="Roboto Condensed" pitchFamily="34" charset="0"/>
                <a:ea typeface="Roboto Condensed" pitchFamily="34" charset="-122"/>
                <a:cs typeface="Roboto Condensed" pitchFamily="34" charset="-120"/>
              </a:rPr>
              <a:t>ЗАЧЕМ ЭТО НАПРАВЛЕНИЕ КОМПАНИИ</a:t>
            </a:r>
            <a:endParaRPr lang="en-US" sz="2600" dirty="0"/>
          </a:p>
        </p:txBody>
      </p:sp>
      <p:sp>
        <p:nvSpPr>
          <p:cNvPr id="4" name="Text 2"/>
          <p:cNvSpPr/>
          <p:nvPr/>
        </p:nvSpPr>
        <p:spPr>
          <a:xfrm>
            <a:off x="594360" y="722376"/>
            <a:ext cx="7589520" cy="201168"/>
          </a:xfrm>
          <a:prstGeom prst="rect">
            <a:avLst/>
          </a:prstGeom>
          <a:solidFill>
            <a:srgbClr val="FFFFFF"/>
          </a:solidFill>
          <a:ln w="12700">
            <a:solidFill>
              <a:srgbClr val="D6D6D6"/>
            </a:solidFill>
          </a:ln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545454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финансовая практика как новая вертикаль роста</a:t>
            </a:r>
            <a:endParaRPr lang="en-US" sz="950" dirty="0"/>
          </a:p>
        </p:txBody>
      </p:sp>
      <p:pic>
        <p:nvPicPr>
          <p:cNvPr id="5" name="Image 0" descr="/mnt/data/work/logo_crop_trans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343388" y="256032"/>
            <a:ext cx="938784" cy="502920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11475720" y="6473952"/>
            <a:ext cx="320040" cy="164592"/>
          </a:xfrm>
          <a:prstGeom prst="rect">
            <a:avLst/>
          </a:prstGeom>
          <a:solidFill>
            <a:srgbClr val="FFFFFF"/>
          </a:solidFill>
          <a:ln w="12700">
            <a:solidFill>
              <a:srgbClr val="D6D6D6"/>
            </a:solidFill>
          </a:ln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dirty="0" b="1">
                <a:solidFill>
                  <a:srgbClr val="84383E"/>
                </a:solidFill>
                <a:latin typeface="Roboto Condensed" pitchFamily="34" charset="0"/>
                <a:ea typeface="Roboto Condensed" pitchFamily="34" charset="-122"/>
                <a:cs typeface="Roboto Condensed" pitchFamily="34" charset="-120"/>
              </a:rPr>
              <a:t>02</a:t>
            </a:r>
            <a:endParaRPr lang="en-US" sz="1000" dirty="0"/>
          </a:p>
        </p:txBody>
      </p:sp>
      <p:sp>
        <p:nvSpPr>
          <p:cNvPr id="7" name="Shape 4"/>
          <p:cNvSpPr/>
          <p:nvPr/>
        </p:nvSpPr>
        <p:spPr>
          <a:xfrm>
            <a:off x="594360" y="932688"/>
            <a:ext cx="11018520" cy="0"/>
          </a:xfrm>
          <a:prstGeom prst="line">
            <a:avLst/>
          </a:prstGeom>
          <a:noFill/>
          <a:ln w="12700">
            <a:solidFill>
              <a:srgbClr val="D6D6D6"/>
            </a:solidFill>
            <a:prstDash val="solid"/>
          </a:ln>
        </p:spPr>
        <p:txBody>
          <a:bodyPr/>
          <a:p/>
        </p:txBody>
      </p:sp>
      <p:sp>
        <p:nvSpPr>
          <p:cNvPr id="8" name="Shape 5"/>
          <p:cNvSpPr/>
          <p:nvPr/>
        </p:nvSpPr>
        <p:spPr>
          <a:xfrm>
            <a:off x="685800" y="1234440"/>
            <a:ext cx="3566160" cy="1325880"/>
          </a:xfrm>
          <a:prstGeom prst="roundRect">
            <a:avLst>
              <a:gd name="adj" fmla="val 5517"/>
            </a:avLst>
          </a:prstGeom>
          <a:solidFill>
            <a:srgbClr val="FFFFFF"/>
          </a:solidFill>
          <a:ln w="12700">
            <a:solidFill>
              <a:srgbClr val="D6D6D6"/>
            </a:solidFill>
            <a:prstDash val="solid"/>
          </a:ln>
          <a:effectLst>
            <a:outerShdw sx="100000" sy="100000" kx="0" ky="0" algn="bl" rotWithShape="0" blurRad="12700" dist="3810" dir="2700000">
              <a:srgbClr val="000000">
                <a:alpha val="8000"/>
              </a:srgbClr>
            </a:outerShdw>
          </a:effectLst>
        </p:spPr>
        <p:txBody>
          <a:bodyPr/>
          <a:p/>
        </p:txBody>
      </p:sp>
      <p:sp>
        <p:nvSpPr>
          <p:cNvPr id="9" name="Shape 6"/>
          <p:cNvSpPr/>
          <p:nvPr/>
        </p:nvSpPr>
        <p:spPr>
          <a:xfrm>
            <a:off x="704088" y="1252728"/>
            <a:ext cx="73152" cy="1289304"/>
          </a:xfrm>
          <a:prstGeom prst="rect">
            <a:avLst/>
          </a:prstGeom>
          <a:solidFill>
            <a:srgbClr val="FFFFFF"/>
          </a:solidFill>
          <a:ln w="12700">
            <a:solidFill>
              <a:srgbClr val="D6D6D6"/>
            </a:solidFill>
            <a:prstDash val="solid"/>
          </a:ln>
        </p:spPr>
        <p:txBody>
          <a:bodyPr/>
          <a:p/>
        </p:txBody>
      </p:sp>
      <p:sp>
        <p:nvSpPr>
          <p:cNvPr id="10" name="Text 7"/>
          <p:cNvSpPr/>
          <p:nvPr/>
        </p:nvSpPr>
        <p:spPr>
          <a:xfrm>
            <a:off x="850392" y="1380744"/>
            <a:ext cx="3310128" cy="310896"/>
          </a:xfrm>
          <a:prstGeom prst="rect">
            <a:avLst/>
          </a:prstGeom>
          <a:solidFill>
            <a:srgbClr val="FFFFFF"/>
          </a:solidFill>
          <a:ln w="12700">
            <a:solidFill>
              <a:srgbClr val="D6D6D6"/>
            </a:solidFill>
          </a:ln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0F0F0F"/>
                </a:solidFill>
                <a:latin typeface="Roboto Condensed" pitchFamily="34" charset="0"/>
                <a:ea typeface="Roboto Condensed" pitchFamily="34" charset="-122"/>
                <a:cs typeface="Roboto Condensed" pitchFamily="34" charset="-120"/>
              </a:rPr>
              <a:t>Рост среднего чека</a:t>
            </a:r>
            <a:endParaRPr lang="en-US" sz="1800" dirty="0"/>
          </a:p>
        </p:txBody>
      </p:sp>
      <p:sp>
        <p:nvSpPr>
          <p:cNvPr id="11" name="Text 8"/>
          <p:cNvSpPr/>
          <p:nvPr/>
        </p:nvSpPr>
        <p:spPr>
          <a:xfrm>
            <a:off x="850392" y="1746504"/>
            <a:ext cx="3310128" cy="667512"/>
          </a:xfrm>
          <a:prstGeom prst="rect">
            <a:avLst/>
          </a:prstGeom>
          <a:solidFill>
            <a:srgbClr val="FFFFFF"/>
          </a:solidFill>
          <a:ln w="12700">
            <a:solidFill>
              <a:srgbClr val="D6D6D6"/>
            </a:solidFill>
          </a:ln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800" dirty="0">
                <a:solidFill>
                  <a:srgbClr val="545454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Расширяет существующую клиентскую базу за счет проектов и регулярного сопровождения.</a:t>
            </a:r>
            <a:endParaRPr lang="en-US" sz="1100" dirty="0"/>
          </a:p>
        </p:txBody>
      </p:sp>
      <p:sp>
        <p:nvSpPr>
          <p:cNvPr id="12" name="Shape 9"/>
          <p:cNvSpPr/>
          <p:nvPr/>
        </p:nvSpPr>
        <p:spPr>
          <a:xfrm>
            <a:off x="4315968" y="1234440"/>
            <a:ext cx="3566160" cy="1325880"/>
          </a:xfrm>
          <a:prstGeom prst="roundRect">
            <a:avLst>
              <a:gd name="adj" fmla="val 5517"/>
            </a:avLst>
          </a:prstGeom>
          <a:solidFill>
            <a:srgbClr val="FFFFFF"/>
          </a:solidFill>
          <a:ln w="12700">
            <a:solidFill>
              <a:srgbClr val="D6D6D6"/>
            </a:solidFill>
            <a:prstDash val="solid"/>
          </a:ln>
          <a:effectLst>
            <a:outerShdw sx="100000" sy="100000" kx="0" ky="0" algn="bl" rotWithShape="0" blurRad="12700" dist="3810" dir="2700000">
              <a:srgbClr val="000000">
                <a:alpha val="8000"/>
              </a:srgbClr>
            </a:outerShdw>
          </a:effectLst>
        </p:spPr>
        <p:txBody>
          <a:bodyPr/>
          <a:p/>
        </p:txBody>
      </p:sp>
      <p:sp>
        <p:nvSpPr>
          <p:cNvPr id="13" name="Shape 10"/>
          <p:cNvSpPr/>
          <p:nvPr/>
        </p:nvSpPr>
        <p:spPr>
          <a:xfrm>
            <a:off x="4334256" y="1252728"/>
            <a:ext cx="73152" cy="1289304"/>
          </a:xfrm>
          <a:prstGeom prst="rect">
            <a:avLst/>
          </a:prstGeom>
          <a:solidFill>
            <a:srgbClr val="FFFFFF"/>
          </a:solidFill>
          <a:ln w="12700">
            <a:solidFill>
              <a:srgbClr val="D6D6D6"/>
            </a:solidFill>
            <a:prstDash val="solid"/>
          </a:ln>
        </p:spPr>
        <p:txBody>
          <a:bodyPr/>
          <a:p/>
        </p:txBody>
      </p:sp>
      <p:sp>
        <p:nvSpPr>
          <p:cNvPr id="14" name="Text 11"/>
          <p:cNvSpPr/>
          <p:nvPr/>
        </p:nvSpPr>
        <p:spPr>
          <a:xfrm>
            <a:off x="4480560" y="1380744"/>
            <a:ext cx="3310128" cy="310896"/>
          </a:xfrm>
          <a:prstGeom prst="rect">
            <a:avLst/>
          </a:prstGeom>
          <a:solidFill>
            <a:srgbClr val="FFFFFF"/>
          </a:solidFill>
          <a:ln w="12700">
            <a:solidFill>
              <a:srgbClr val="D6D6D6"/>
            </a:solidFill>
          </a:ln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0F0F0F"/>
                </a:solidFill>
                <a:latin typeface="Roboto Condensed" pitchFamily="34" charset="0"/>
                <a:ea typeface="Roboto Condensed" pitchFamily="34" charset="-122"/>
                <a:cs typeface="Roboto Condensed" pitchFamily="34" charset="-120"/>
              </a:rPr>
              <a:t>Выход на собственника</a:t>
            </a:r>
            <a:endParaRPr lang="en-US" sz="1800" dirty="0"/>
          </a:p>
        </p:txBody>
      </p:sp>
      <p:sp>
        <p:nvSpPr>
          <p:cNvPr id="15" name="Text 12"/>
          <p:cNvSpPr/>
          <p:nvPr/>
        </p:nvSpPr>
        <p:spPr>
          <a:xfrm>
            <a:off x="4480560" y="1746504"/>
            <a:ext cx="3310128" cy="667512"/>
          </a:xfrm>
          <a:prstGeom prst="rect">
            <a:avLst/>
          </a:prstGeom>
          <a:solidFill>
            <a:srgbClr val="FFFFFF"/>
          </a:solidFill>
          <a:ln w="12700">
            <a:solidFill>
              <a:srgbClr val="D6D6D6"/>
            </a:solidFill>
          </a:ln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800" dirty="0">
                <a:solidFill>
                  <a:srgbClr val="545454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Переводит диалог из учета и налогов в решения о прибыли, деньгах и развитии.</a:t>
            </a:r>
            <a:endParaRPr lang="en-US" sz="1100" dirty="0"/>
          </a:p>
        </p:txBody>
      </p:sp>
      <p:sp>
        <p:nvSpPr>
          <p:cNvPr id="16" name="Shape 13"/>
          <p:cNvSpPr/>
          <p:nvPr/>
        </p:nvSpPr>
        <p:spPr>
          <a:xfrm>
            <a:off x="7946136" y="1234440"/>
            <a:ext cx="3566160" cy="1325880"/>
          </a:xfrm>
          <a:prstGeom prst="roundRect">
            <a:avLst>
              <a:gd name="adj" fmla="val 5517"/>
            </a:avLst>
          </a:prstGeom>
          <a:solidFill>
            <a:srgbClr val="FFFFFF"/>
          </a:solidFill>
          <a:ln w="12700">
            <a:solidFill>
              <a:srgbClr val="D6D6D6"/>
            </a:solidFill>
            <a:prstDash val="solid"/>
          </a:ln>
          <a:effectLst>
            <a:outerShdw sx="100000" sy="100000" kx="0" ky="0" algn="bl" rotWithShape="0" blurRad="12700" dist="3810" dir="2700000">
              <a:srgbClr val="000000">
                <a:alpha val="8000"/>
              </a:srgbClr>
            </a:outerShdw>
          </a:effectLst>
        </p:spPr>
        <p:txBody>
          <a:bodyPr/>
          <a:p/>
        </p:txBody>
      </p:sp>
      <p:sp>
        <p:nvSpPr>
          <p:cNvPr id="17" name="Shape 14"/>
          <p:cNvSpPr/>
          <p:nvPr/>
        </p:nvSpPr>
        <p:spPr>
          <a:xfrm>
            <a:off x="7964424" y="1252728"/>
            <a:ext cx="73152" cy="1289304"/>
          </a:xfrm>
          <a:prstGeom prst="rect">
            <a:avLst/>
          </a:prstGeom>
          <a:solidFill>
            <a:srgbClr val="FFFFFF"/>
          </a:solidFill>
          <a:ln w="12700">
            <a:solidFill>
              <a:srgbClr val="D6D6D6"/>
            </a:solidFill>
            <a:prstDash val="solid"/>
          </a:ln>
        </p:spPr>
        <p:txBody>
          <a:bodyPr/>
          <a:p/>
        </p:txBody>
      </p:sp>
      <p:sp>
        <p:nvSpPr>
          <p:cNvPr id="18" name="Text 15"/>
          <p:cNvSpPr/>
          <p:nvPr/>
        </p:nvSpPr>
        <p:spPr>
          <a:xfrm>
            <a:off x="8110728" y="1380744"/>
            <a:ext cx="3310128" cy="310896"/>
          </a:xfrm>
          <a:prstGeom prst="rect">
            <a:avLst/>
          </a:prstGeom>
          <a:solidFill>
            <a:srgbClr val="FFFFFF"/>
          </a:solidFill>
          <a:ln w="12700">
            <a:solidFill>
              <a:srgbClr val="D6D6D6"/>
            </a:solidFill>
          </a:ln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0F0F0F"/>
                </a:solidFill>
                <a:latin typeface="Roboto Condensed" pitchFamily="34" charset="0"/>
                <a:ea typeface="Roboto Condensed" pitchFamily="34" charset="-122"/>
                <a:cs typeface="Roboto Condensed" pitchFamily="34" charset="-120"/>
              </a:rPr>
              <a:t>Абонентская выручка</a:t>
            </a:r>
            <a:endParaRPr lang="en-US" sz="1800" dirty="0"/>
          </a:p>
        </p:txBody>
      </p:sp>
      <p:sp>
        <p:nvSpPr>
          <p:cNvPr id="19" name="Text 16"/>
          <p:cNvSpPr/>
          <p:nvPr/>
        </p:nvSpPr>
        <p:spPr>
          <a:xfrm>
            <a:off x="8110728" y="1746504"/>
            <a:ext cx="3310128" cy="667512"/>
          </a:xfrm>
          <a:prstGeom prst="rect">
            <a:avLst/>
          </a:prstGeom>
          <a:solidFill>
            <a:srgbClr val="FFFFFF"/>
          </a:solidFill>
          <a:ln w="12700">
            <a:solidFill>
              <a:srgbClr val="D6D6D6"/>
            </a:solidFill>
          </a:ln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800" dirty="0">
                <a:solidFill>
                  <a:srgbClr val="545454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Создает повторяющиеся форматы: внешний CFO, обзоры, cash-flow и profitability review.</a:t>
            </a:r>
            <a:endParaRPr lang="en-US" sz="1100" dirty="0"/>
          </a:p>
        </p:txBody>
      </p:sp>
      <p:sp>
        <p:nvSpPr>
          <p:cNvPr id="20" name="Shape 17"/>
          <p:cNvSpPr/>
          <p:nvPr/>
        </p:nvSpPr>
        <p:spPr>
          <a:xfrm>
            <a:off x="2505456" y="2788920"/>
            <a:ext cx="3566160" cy="1325880"/>
          </a:xfrm>
          <a:prstGeom prst="roundRect">
            <a:avLst>
              <a:gd name="adj" fmla="val 5517"/>
            </a:avLst>
          </a:prstGeom>
          <a:solidFill>
            <a:srgbClr val="FFFFFF"/>
          </a:solidFill>
          <a:ln w="12700">
            <a:solidFill>
              <a:srgbClr val="D6D6D6"/>
            </a:solidFill>
            <a:prstDash val="solid"/>
          </a:ln>
          <a:effectLst>
            <a:outerShdw sx="100000" sy="100000" kx="0" ky="0" algn="bl" rotWithShape="0" blurRad="12700" dist="3810" dir="2700000">
              <a:srgbClr val="000000">
                <a:alpha val="8000"/>
              </a:srgbClr>
            </a:outerShdw>
          </a:effectLst>
        </p:spPr>
        <p:txBody>
          <a:bodyPr/>
          <a:p/>
        </p:txBody>
      </p:sp>
      <p:sp>
        <p:nvSpPr>
          <p:cNvPr id="21" name="Shape 18"/>
          <p:cNvSpPr/>
          <p:nvPr/>
        </p:nvSpPr>
        <p:spPr>
          <a:xfrm>
            <a:off x="2523744" y="2807208"/>
            <a:ext cx="73152" cy="1289304"/>
          </a:xfrm>
          <a:prstGeom prst="rect">
            <a:avLst/>
          </a:prstGeom>
          <a:solidFill>
            <a:srgbClr val="FFFFFF"/>
          </a:solidFill>
          <a:ln w="12700">
            <a:solidFill>
              <a:srgbClr val="D6D6D6"/>
            </a:solidFill>
            <a:prstDash val="solid"/>
          </a:ln>
        </p:spPr>
        <p:txBody>
          <a:bodyPr/>
          <a:p/>
        </p:txBody>
      </p:sp>
      <p:sp>
        <p:nvSpPr>
          <p:cNvPr id="22" name="Text 19"/>
          <p:cNvSpPr/>
          <p:nvPr/>
        </p:nvSpPr>
        <p:spPr>
          <a:xfrm>
            <a:off x="2670048" y="2935224"/>
            <a:ext cx="3310128" cy="310896"/>
          </a:xfrm>
          <a:prstGeom prst="rect">
            <a:avLst/>
          </a:prstGeom>
          <a:solidFill>
            <a:srgbClr val="FFFFFF"/>
          </a:solidFill>
          <a:ln w="12700">
            <a:solidFill>
              <a:srgbClr val="D6D6D6"/>
            </a:solidFill>
          </a:ln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0F0F0F"/>
                </a:solidFill>
                <a:latin typeface="Roboto Condensed" pitchFamily="34" charset="0"/>
                <a:ea typeface="Roboto Condensed" pitchFamily="34" charset="-122"/>
                <a:cs typeface="Roboto Condensed" pitchFamily="34" charset="-120"/>
              </a:rPr>
              <a:t>Меньше ценовой конкуренции</a:t>
            </a:r>
            <a:endParaRPr lang="en-US" sz="1800" dirty="0"/>
          </a:p>
        </p:txBody>
      </p:sp>
      <p:sp>
        <p:nvSpPr>
          <p:cNvPr id="23" name="Text 20"/>
          <p:cNvSpPr/>
          <p:nvPr/>
        </p:nvSpPr>
        <p:spPr>
          <a:xfrm>
            <a:off x="2670048" y="3300984"/>
            <a:ext cx="3310128" cy="667512"/>
          </a:xfrm>
          <a:prstGeom prst="rect">
            <a:avLst/>
          </a:prstGeom>
          <a:solidFill>
            <a:srgbClr val="FFFFFF"/>
          </a:solidFill>
          <a:ln w="12700">
            <a:solidFill>
              <a:srgbClr val="D6D6D6"/>
            </a:solidFill>
          </a:ln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800" dirty="0">
                <a:solidFill>
                  <a:srgbClr val="545454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Клиент сравнивает не часы учета, а полезность для управления бизнесом.</a:t>
            </a:r>
            <a:endParaRPr lang="en-US" sz="1100" dirty="0"/>
          </a:p>
        </p:txBody>
      </p:sp>
      <p:sp>
        <p:nvSpPr>
          <p:cNvPr id="24" name="Shape 21"/>
          <p:cNvSpPr/>
          <p:nvPr/>
        </p:nvSpPr>
        <p:spPr>
          <a:xfrm>
            <a:off x="6135624" y="2788920"/>
            <a:ext cx="3566160" cy="1325880"/>
          </a:xfrm>
          <a:prstGeom prst="roundRect">
            <a:avLst>
              <a:gd name="adj" fmla="val 5517"/>
            </a:avLst>
          </a:prstGeom>
          <a:solidFill>
            <a:srgbClr val="FFFFFF"/>
          </a:solidFill>
          <a:ln w="12700">
            <a:solidFill>
              <a:srgbClr val="D6D6D6"/>
            </a:solidFill>
            <a:prstDash val="solid"/>
          </a:ln>
          <a:effectLst>
            <a:outerShdw sx="100000" sy="100000" kx="0" ky="0" algn="bl" rotWithShape="0" blurRad="12700" dist="3810" dir="2700000">
              <a:srgbClr val="000000">
                <a:alpha val="8000"/>
              </a:srgbClr>
            </a:outerShdw>
          </a:effectLst>
        </p:spPr>
        <p:txBody>
          <a:bodyPr/>
          <a:p/>
        </p:txBody>
      </p:sp>
      <p:sp>
        <p:nvSpPr>
          <p:cNvPr id="25" name="Shape 22"/>
          <p:cNvSpPr/>
          <p:nvPr/>
        </p:nvSpPr>
        <p:spPr>
          <a:xfrm>
            <a:off x="6153912" y="2807208"/>
            <a:ext cx="73152" cy="1289304"/>
          </a:xfrm>
          <a:prstGeom prst="rect">
            <a:avLst/>
          </a:prstGeom>
          <a:solidFill>
            <a:srgbClr val="FFFFFF"/>
          </a:solidFill>
          <a:ln w="12700">
            <a:solidFill>
              <a:srgbClr val="D6D6D6"/>
            </a:solidFill>
            <a:prstDash val="solid"/>
          </a:ln>
        </p:spPr>
        <p:txBody>
          <a:bodyPr/>
          <a:p/>
        </p:txBody>
      </p:sp>
      <p:sp>
        <p:nvSpPr>
          <p:cNvPr id="26" name="Text 23"/>
          <p:cNvSpPr/>
          <p:nvPr/>
        </p:nvSpPr>
        <p:spPr>
          <a:xfrm>
            <a:off x="6300216" y="2935224"/>
            <a:ext cx="3310128" cy="310896"/>
          </a:xfrm>
          <a:prstGeom prst="rect">
            <a:avLst/>
          </a:prstGeom>
          <a:solidFill>
            <a:srgbClr val="FFFFFF"/>
          </a:solidFill>
          <a:ln w="12700">
            <a:solidFill>
              <a:srgbClr val="D6D6D6"/>
            </a:solidFill>
          </a:ln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0F0F0F"/>
                </a:solidFill>
                <a:latin typeface="Roboto Condensed" pitchFamily="34" charset="0"/>
                <a:ea typeface="Roboto Condensed" pitchFamily="34" charset="-122"/>
                <a:cs typeface="Roboto Condensed" pitchFamily="34" charset="-120"/>
              </a:rPr>
              <a:t>Усиление advisory</a:t>
            </a:r>
            <a:endParaRPr lang="en-US" sz="1800" dirty="0"/>
          </a:p>
        </p:txBody>
      </p:sp>
      <p:sp>
        <p:nvSpPr>
          <p:cNvPr id="27" name="Text 24"/>
          <p:cNvSpPr/>
          <p:nvPr/>
        </p:nvSpPr>
        <p:spPr>
          <a:xfrm>
            <a:off x="6300216" y="3300984"/>
            <a:ext cx="3310128" cy="667512"/>
          </a:xfrm>
          <a:prstGeom prst="rect">
            <a:avLst/>
          </a:prstGeom>
          <a:solidFill>
            <a:srgbClr val="FFFFFF"/>
          </a:solidFill>
          <a:ln w="12700">
            <a:solidFill>
              <a:srgbClr val="D6D6D6"/>
            </a:solidFill>
          </a:ln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800" dirty="0">
                <a:solidFill>
                  <a:srgbClr val="545454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Достраивает аудит, бухгалтерию и налоги до полноценного финансового консалтинга.</a:t>
            </a:r>
            <a:endParaRPr lang="en-US" sz="1100" dirty="0"/>
          </a:p>
        </p:txBody>
      </p:sp>
      <p:sp>
        <p:nvSpPr>
          <p:cNvPr id="28" name="Text 25"/>
          <p:cNvSpPr/>
          <p:nvPr/>
        </p:nvSpPr>
        <p:spPr>
          <a:xfrm>
            <a:off x="1188720" y="4956048"/>
            <a:ext cx="9784080" cy="411480"/>
          </a:xfrm>
          <a:prstGeom prst="rect">
            <a:avLst/>
          </a:prstGeom>
          <a:solidFill>
            <a:srgbClr val="FFFFFF"/>
          </a:solidFill>
          <a:ln w="12700">
            <a:solidFill>
              <a:srgbClr val="D6D6D6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545454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Финансовая практика не дублирует учет, а превращает данные учета в инструмент управленческих решений.</a:t>
            </a:r>
            <a:endParaRPr lang="en-US" sz="1600" dirty="0"/>
          </a:p>
        </p:txBody>
      </p:sp>
      <p:sp>
        <p:nvSpPr>
          <p:cNvPr id="29" name="Rectangle 28"/>
          <p:cNvSpPr/>
          <p:nvPr/>
        </p:nvSpPr>
        <p:spPr>
          <a:xfrm>
            <a:off x="594360" y="1689354"/>
            <a:ext cx="320040" cy="12801"/>
          </a:xfrm>
          <a:prstGeom prst="rect">
            <a:avLst/>
          </a:prstGeom>
          <a:solidFill>
            <a:srgbClr val="56000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Rectangle 29"/>
          <p:cNvSpPr/>
          <p:nvPr/>
        </p:nvSpPr>
        <p:spPr>
          <a:xfrm>
            <a:off x="594360" y="1625346"/>
            <a:ext cx="51206" cy="112014"/>
          </a:xfrm>
          <a:prstGeom prst="rect">
            <a:avLst/>
          </a:prstGeom>
          <a:solidFill>
            <a:srgbClr val="56000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Rectangle 30"/>
          <p:cNvSpPr/>
          <p:nvPr/>
        </p:nvSpPr>
        <p:spPr>
          <a:xfrm>
            <a:off x="671169" y="1561338"/>
            <a:ext cx="51206" cy="176022"/>
          </a:xfrm>
          <a:prstGeom prst="rect">
            <a:avLst/>
          </a:prstGeom>
          <a:solidFill>
            <a:srgbClr val="56000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Rectangle 31"/>
          <p:cNvSpPr/>
          <p:nvPr/>
        </p:nvSpPr>
        <p:spPr>
          <a:xfrm>
            <a:off x="747978" y="1497330"/>
            <a:ext cx="51206" cy="240030"/>
          </a:xfrm>
          <a:prstGeom prst="rect">
            <a:avLst/>
          </a:prstGeom>
          <a:solidFill>
            <a:srgbClr val="56000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Right Arrow 32"/>
          <p:cNvSpPr/>
          <p:nvPr/>
        </p:nvSpPr>
        <p:spPr>
          <a:xfrm>
            <a:off x="770382" y="1449324"/>
            <a:ext cx="134416" cy="89611"/>
          </a:xfrm>
          <a:prstGeom prst="rightArrow">
            <a:avLst/>
          </a:prstGeom>
          <a:noFill/>
          <a:ln w="22225">
            <a:solidFill>
              <a:srgbClr val="56000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Heart 33"/>
          <p:cNvSpPr/>
          <p:nvPr/>
        </p:nvSpPr>
        <p:spPr>
          <a:xfrm>
            <a:off x="1097280" y="1417320"/>
            <a:ext cx="304038" cy="304038"/>
          </a:xfrm>
          <a:prstGeom prst="heart">
            <a:avLst/>
          </a:prstGeom>
          <a:noFill/>
          <a:ln w="22225">
            <a:solidFill>
              <a:srgbClr val="56000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Rectangle 34"/>
          <p:cNvSpPr/>
          <p:nvPr/>
        </p:nvSpPr>
        <p:spPr>
          <a:xfrm rot="2700000">
            <a:off x="1193292" y="1615744"/>
            <a:ext cx="70408" cy="19202"/>
          </a:xfrm>
          <a:prstGeom prst="rect">
            <a:avLst/>
          </a:prstGeom>
          <a:solidFill>
            <a:srgbClr val="56000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Rectangle 35"/>
          <p:cNvSpPr/>
          <p:nvPr/>
        </p:nvSpPr>
        <p:spPr>
          <a:xfrm rot="18900000">
            <a:off x="1231696" y="1602943"/>
            <a:ext cx="108813" cy="19202"/>
          </a:xfrm>
          <a:prstGeom prst="rect">
            <a:avLst/>
          </a:prstGeom>
          <a:solidFill>
            <a:srgbClr val="56000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Oval 36"/>
          <p:cNvSpPr/>
          <p:nvPr/>
        </p:nvSpPr>
        <p:spPr>
          <a:xfrm>
            <a:off x="1600200" y="1417320"/>
            <a:ext cx="320040" cy="320040"/>
          </a:xfrm>
          <a:prstGeom prst="ellipse">
            <a:avLst/>
          </a:prstGeom>
          <a:noFill/>
          <a:ln w="22225">
            <a:solidFill>
              <a:srgbClr val="56000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1600200" y="1455724"/>
            <a:ext cx="320040" cy="24323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b="1" sz="2000">
                <a:solidFill>
                  <a:srgbClr val="560004"/>
                </a:solidFill>
              </a:rPr>
              <a:t>₽</a:t>
            </a:r>
          </a:p>
        </p:txBody>
      </p:sp>
      <p:sp>
        <p:nvSpPr>
          <p:cNvPr id="39" name="Oval 38"/>
          <p:cNvSpPr/>
          <p:nvPr/>
        </p:nvSpPr>
        <p:spPr>
          <a:xfrm>
            <a:off x="2103120" y="1417320"/>
            <a:ext cx="230428" cy="230428"/>
          </a:xfrm>
          <a:prstGeom prst="ellipse">
            <a:avLst/>
          </a:prstGeom>
          <a:noFill/>
          <a:ln w="22225">
            <a:solidFill>
              <a:srgbClr val="56000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Rectangle 39"/>
          <p:cNvSpPr/>
          <p:nvPr/>
        </p:nvSpPr>
        <p:spPr>
          <a:xfrm rot="2700000">
            <a:off x="2275941" y="1602943"/>
            <a:ext cx="108813" cy="19202"/>
          </a:xfrm>
          <a:prstGeom prst="rect">
            <a:avLst/>
          </a:prstGeom>
          <a:solidFill>
            <a:srgbClr val="56000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164592"/>
          </a:xfrm>
          <a:prstGeom prst="rect">
            <a:avLst/>
          </a:prstGeom>
          <a:solidFill>
            <a:srgbClr val="FFFFFF"/>
          </a:solidFill>
          <a:ln w="12700">
            <a:solidFill>
              <a:srgbClr val="D6D6D6"/>
            </a:solidFill>
            <a:prstDash val="solid"/>
          </a:ln>
        </p:spPr>
        <p:txBody>
          <a:bodyPr/>
          <a:p/>
        </p:txBody>
      </p:sp>
      <p:sp>
        <p:nvSpPr>
          <p:cNvPr id="3" name="Text 1"/>
          <p:cNvSpPr/>
          <p:nvPr/>
        </p:nvSpPr>
        <p:spPr>
          <a:xfrm>
            <a:off x="594360" y="310896"/>
            <a:ext cx="8046720" cy="384048"/>
          </a:xfrm>
          <a:prstGeom prst="rect">
            <a:avLst/>
          </a:prstGeom>
          <a:solidFill>
            <a:srgbClr val="FFFFFF"/>
          </a:solidFill>
          <a:ln w="12700">
            <a:solidFill>
              <a:srgbClr val="D6D6D6"/>
            </a:solidFill>
          </a:ln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0F0F0F"/>
                </a:solidFill>
                <a:latin typeface="Roboto Condensed" pitchFamily="34" charset="0"/>
                <a:ea typeface="Roboto Condensed" pitchFamily="34" charset="-122"/>
                <a:cs typeface="Roboto Condensed" pitchFamily="34" charset="-120"/>
              </a:rPr>
              <a:t>КАК ФИНАНСОВАЯ ПРАКТИКА ВСТРАИВАЕТСЯ В ДЕЙСТВУЮЩИЕ НАПРАВЛЕНИЯ</a:t>
            </a:r>
            <a:endParaRPr lang="en-US" sz="2600" dirty="0"/>
          </a:p>
        </p:txBody>
      </p:sp>
      <p:sp>
        <p:nvSpPr>
          <p:cNvPr id="4" name="Text 2"/>
          <p:cNvSpPr/>
          <p:nvPr/>
        </p:nvSpPr>
        <p:spPr>
          <a:xfrm>
            <a:off x="594360" y="722376"/>
            <a:ext cx="7589520" cy="201168"/>
          </a:xfrm>
          <a:prstGeom prst="rect">
            <a:avLst/>
          </a:prstGeom>
          <a:solidFill>
            <a:srgbClr val="FFFFFF"/>
          </a:solidFill>
          <a:ln w="12700">
            <a:solidFill>
              <a:srgbClr val="D6D6D6"/>
            </a:solidFill>
          </a:ln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545454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единая архитектура услуг компании</a:t>
            </a:r>
            <a:endParaRPr lang="en-US" sz="950" dirty="0"/>
          </a:p>
        </p:txBody>
      </p:sp>
      <p:pic>
        <p:nvPicPr>
          <p:cNvPr id="5" name="Image 0" descr="/mnt/data/work/logo_crop_trans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343388" y="256032"/>
            <a:ext cx="938784" cy="502920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11475720" y="6473952"/>
            <a:ext cx="320040" cy="164592"/>
          </a:xfrm>
          <a:prstGeom prst="rect">
            <a:avLst/>
          </a:prstGeom>
          <a:solidFill>
            <a:srgbClr val="FFFFFF"/>
          </a:solidFill>
          <a:ln w="12700">
            <a:solidFill>
              <a:srgbClr val="D6D6D6"/>
            </a:solidFill>
          </a:ln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dirty="0" b="1">
                <a:solidFill>
                  <a:srgbClr val="84383E"/>
                </a:solidFill>
                <a:latin typeface="Roboto Condensed" pitchFamily="34" charset="0"/>
                <a:ea typeface="Roboto Condensed" pitchFamily="34" charset="-122"/>
                <a:cs typeface="Roboto Condensed" pitchFamily="34" charset="-120"/>
              </a:rPr>
              <a:t>03</a:t>
            </a:r>
            <a:endParaRPr lang="en-US" sz="1000" dirty="0"/>
          </a:p>
        </p:txBody>
      </p:sp>
      <p:sp>
        <p:nvSpPr>
          <p:cNvPr id="7" name="Shape 4"/>
          <p:cNvSpPr/>
          <p:nvPr/>
        </p:nvSpPr>
        <p:spPr>
          <a:xfrm>
            <a:off x="594360" y="932688"/>
            <a:ext cx="11018520" cy="0"/>
          </a:xfrm>
          <a:prstGeom prst="line">
            <a:avLst/>
          </a:prstGeom>
          <a:noFill/>
          <a:ln w="12700">
            <a:solidFill>
              <a:srgbClr val="D6D6D6"/>
            </a:solidFill>
            <a:prstDash val="solid"/>
          </a:ln>
        </p:spPr>
        <p:txBody>
          <a:bodyPr/>
          <a:p/>
        </p:txBody>
      </p:sp>
      <p:sp>
        <p:nvSpPr>
          <p:cNvPr id="8" name="Shape 5"/>
          <p:cNvSpPr/>
          <p:nvPr/>
        </p:nvSpPr>
        <p:spPr>
          <a:xfrm>
            <a:off x="868680" y="1828800"/>
            <a:ext cx="2148840" cy="1188720"/>
          </a:xfrm>
          <a:prstGeom prst="roundRect">
            <a:avLst>
              <a:gd name="adj" fmla="val 6154"/>
            </a:avLst>
          </a:prstGeom>
          <a:solidFill>
            <a:srgbClr val="FFFFFF"/>
          </a:solidFill>
          <a:ln w="12700">
            <a:solidFill>
              <a:srgbClr val="040442"/>
            </a:solidFill>
            <a:prstDash val="solid"/>
          </a:ln>
        </p:spPr>
        <p:txBody>
          <a:bodyPr/>
          <a:p/>
        </p:txBody>
      </p:sp>
      <p:sp>
        <p:nvSpPr>
          <p:cNvPr id="9" name="Text 6"/>
          <p:cNvSpPr/>
          <p:nvPr/>
        </p:nvSpPr>
        <p:spPr>
          <a:xfrm>
            <a:off x="1033272" y="2029968"/>
            <a:ext cx="1819656" cy="914400"/>
          </a:xfrm>
          <a:prstGeom prst="rect">
            <a:avLst/>
          </a:prstGeom>
          <a:solidFill>
            <a:srgbClr val="FFFFFF"/>
          </a:solidFill>
          <a:ln w="12700">
            <a:solidFill>
              <a:srgbClr val="D6D6D6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600" b="1" dirty="0">
                <a:solidFill>
                  <a:srgbClr val="0F0F0F"/>
                </a:solidFill>
                <a:latin typeface="Roboto Condensed" pitchFamily="34" charset="0"/>
                <a:ea typeface="Roboto Condensed" pitchFamily="34" charset="-122"/>
                <a:cs typeface="Roboto Condensed" pitchFamily="34" charset="-120"/>
              </a:rPr>
              <a:t>Налоговый</a:t>
            </a:r>
            <a:endParaRPr lang="en-US" sz="2200" dirty="0"/>
          </a:p>
          <a:p>
            <a:pPr algn="ctr" indent="0" marL="0">
              <a:buNone/>
            </a:pPr>
            <a:r>
              <a:rPr lang="en-US" sz="2600" b="1" dirty="0">
                <a:solidFill>
                  <a:srgbClr val="0F0F0F"/>
                </a:solidFill>
                <a:latin typeface="Roboto Condensed" pitchFamily="34" charset="0"/>
                <a:ea typeface="Roboto Condensed" pitchFamily="34" charset="-122"/>
                <a:cs typeface="Roboto Condensed" pitchFamily="34" charset="-120"/>
              </a:rPr>
              <a:t>консалтинг</a:t>
            </a:r>
            <a:endParaRPr lang="en-US" sz="2200" dirty="0"/>
          </a:p>
        </p:txBody>
      </p:sp>
      <p:sp>
        <p:nvSpPr>
          <p:cNvPr id="10" name="Shape 7"/>
          <p:cNvSpPr/>
          <p:nvPr/>
        </p:nvSpPr>
        <p:spPr>
          <a:xfrm>
            <a:off x="3383280" y="1828800"/>
            <a:ext cx="2514600" cy="1188720"/>
          </a:xfrm>
          <a:prstGeom prst="roundRect">
            <a:avLst>
              <a:gd name="adj" fmla="val 6154"/>
            </a:avLst>
          </a:prstGeom>
          <a:solidFill>
            <a:srgbClr val="FFFFFF"/>
          </a:solidFill>
          <a:ln w="12700">
            <a:solidFill>
              <a:srgbClr val="545454"/>
            </a:solidFill>
            <a:prstDash val="solid"/>
          </a:ln>
        </p:spPr>
        <p:txBody>
          <a:bodyPr/>
          <a:p/>
        </p:txBody>
      </p:sp>
      <p:sp>
        <p:nvSpPr>
          <p:cNvPr id="11" name="Text 8"/>
          <p:cNvSpPr/>
          <p:nvPr/>
        </p:nvSpPr>
        <p:spPr>
          <a:xfrm>
            <a:off x="3547872" y="2029968"/>
            <a:ext cx="2185416" cy="914400"/>
          </a:xfrm>
          <a:prstGeom prst="rect">
            <a:avLst/>
          </a:prstGeom>
          <a:solidFill>
            <a:srgbClr val="FFFFFF"/>
          </a:solidFill>
          <a:ln w="12700">
            <a:solidFill>
              <a:srgbClr val="D6D6D6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600" b="1" dirty="0">
                <a:solidFill>
                  <a:srgbClr val="0F0F0F"/>
                </a:solidFill>
                <a:latin typeface="Roboto Condensed" pitchFamily="34" charset="0"/>
                <a:ea typeface="Roboto Condensed" pitchFamily="34" charset="-122"/>
                <a:cs typeface="Roboto Condensed" pitchFamily="34" charset="-120"/>
              </a:rPr>
              <a:t>Бухгалтерское</a:t>
            </a:r>
            <a:endParaRPr lang="en-US" sz="2200" dirty="0"/>
          </a:p>
          <a:p>
            <a:pPr algn="ctr" indent="0" marL="0">
              <a:buNone/>
            </a:pPr>
            <a:r>
              <a:rPr lang="en-US" sz="2600" b="1" dirty="0">
                <a:solidFill>
                  <a:srgbClr val="0F0F0F"/>
                </a:solidFill>
                <a:latin typeface="Roboto Condensed" pitchFamily="34" charset="0"/>
                <a:ea typeface="Roboto Condensed" pitchFamily="34" charset="-122"/>
                <a:cs typeface="Roboto Condensed" pitchFamily="34" charset="-120"/>
              </a:rPr>
              <a:t>сопровождение</a:t>
            </a:r>
            <a:endParaRPr lang="en-US" sz="2200" dirty="0"/>
          </a:p>
        </p:txBody>
      </p:sp>
      <p:sp>
        <p:nvSpPr>
          <p:cNvPr id="12" name="Shape 9"/>
          <p:cNvSpPr/>
          <p:nvPr/>
        </p:nvSpPr>
        <p:spPr>
          <a:xfrm>
            <a:off x="6355080" y="1828800"/>
            <a:ext cx="1828800" cy="1188720"/>
          </a:xfrm>
          <a:prstGeom prst="roundRect">
            <a:avLst>
              <a:gd name="adj" fmla="val 6154"/>
            </a:avLst>
          </a:prstGeom>
          <a:solidFill>
            <a:srgbClr val="FFFFFF"/>
          </a:solidFill>
          <a:ln w="12700">
            <a:solidFill>
              <a:srgbClr val="84383E"/>
            </a:solidFill>
            <a:prstDash val="solid"/>
          </a:ln>
        </p:spPr>
        <p:txBody>
          <a:bodyPr/>
          <a:p/>
        </p:txBody>
      </p:sp>
      <p:sp>
        <p:nvSpPr>
          <p:cNvPr id="13" name="Text 10"/>
          <p:cNvSpPr/>
          <p:nvPr/>
        </p:nvSpPr>
        <p:spPr>
          <a:xfrm>
            <a:off x="6519672" y="2029968"/>
            <a:ext cx="1499616" cy="914400"/>
          </a:xfrm>
          <a:prstGeom prst="rect">
            <a:avLst/>
          </a:prstGeom>
          <a:solidFill>
            <a:srgbClr val="FFFFFF"/>
          </a:solidFill>
          <a:ln w="12700">
            <a:solidFill>
              <a:srgbClr val="D6D6D6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600" b="1" dirty="0">
                <a:solidFill>
                  <a:srgbClr val="0F0F0F"/>
                </a:solidFill>
                <a:latin typeface="Roboto Condensed" pitchFamily="34" charset="0"/>
                <a:ea typeface="Roboto Condensed" pitchFamily="34" charset="-122"/>
                <a:cs typeface="Roboto Condensed" pitchFamily="34" charset="-120"/>
              </a:rPr>
              <a:t>Аудит</a:t>
            </a:r>
            <a:endParaRPr lang="en-US" sz="2200" dirty="0"/>
          </a:p>
        </p:txBody>
      </p:sp>
      <p:sp>
        <p:nvSpPr>
          <p:cNvPr id="14" name="Shape 11"/>
          <p:cNvSpPr/>
          <p:nvPr/>
        </p:nvSpPr>
        <p:spPr>
          <a:xfrm>
            <a:off x="8641080" y="1828800"/>
            <a:ext cx="2560320" cy="1188720"/>
          </a:xfrm>
          <a:prstGeom prst="roundRect">
            <a:avLst>
              <a:gd name="adj" fmla="val 6154"/>
            </a:avLst>
          </a:prstGeom>
          <a:solidFill>
            <a:srgbClr val="FFFFFF"/>
          </a:solidFill>
          <a:ln w="12700">
            <a:solidFill>
              <a:srgbClr val="560004"/>
            </a:solidFill>
            <a:prstDash val="solid"/>
          </a:ln>
        </p:spPr>
        <p:txBody>
          <a:bodyPr/>
          <a:p/>
        </p:txBody>
      </p:sp>
      <p:sp>
        <p:nvSpPr>
          <p:cNvPr id="15" name="Text 12"/>
          <p:cNvSpPr/>
          <p:nvPr/>
        </p:nvSpPr>
        <p:spPr>
          <a:xfrm>
            <a:off x="8805672" y="2029968"/>
            <a:ext cx="2231136" cy="914400"/>
          </a:xfrm>
          <a:prstGeom prst="rect">
            <a:avLst/>
          </a:prstGeom>
          <a:solidFill>
            <a:srgbClr val="FFFFFF"/>
          </a:solidFill>
          <a:ln w="12700">
            <a:solidFill>
              <a:srgbClr val="D6D6D6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600" b="1" dirty="0">
                <a:solidFill>
                  <a:srgbClr val="0F0F0F"/>
                </a:solidFill>
                <a:latin typeface="Roboto Condensed" pitchFamily="34" charset="0"/>
                <a:ea typeface="Roboto Condensed" pitchFamily="34" charset="-122"/>
                <a:cs typeface="Roboto Condensed" pitchFamily="34" charset="-120"/>
              </a:rPr>
              <a:t>Финансовая</a:t>
            </a:r>
            <a:endParaRPr lang="en-US" sz="2200" dirty="0"/>
          </a:p>
          <a:p>
            <a:pPr algn="ctr" indent="0" marL="0">
              <a:buNone/>
            </a:pPr>
            <a:r>
              <a:rPr lang="en-US" sz="2600" b="1" dirty="0">
                <a:solidFill>
                  <a:srgbClr val="0F0F0F"/>
                </a:solidFill>
                <a:latin typeface="Roboto Condensed" pitchFamily="34" charset="0"/>
                <a:ea typeface="Roboto Condensed" pitchFamily="34" charset="-122"/>
                <a:cs typeface="Roboto Condensed" pitchFamily="34" charset="-120"/>
              </a:rPr>
              <a:t>практика</a:t>
            </a:r>
            <a:endParaRPr lang="en-US" sz="2200" dirty="0"/>
          </a:p>
        </p:txBody>
      </p:sp>
      <p:sp>
        <p:nvSpPr>
          <p:cNvPr id="16" name="Shape 13"/>
          <p:cNvSpPr/>
          <p:nvPr/>
        </p:nvSpPr>
        <p:spPr>
          <a:xfrm>
            <a:off x="3017520" y="2423160"/>
            <a:ext cx="365760" cy="274320"/>
          </a:xfrm>
          <a:prstGeom prst="chevron">
            <a:avLst/>
          </a:prstGeom>
          <a:solidFill>
            <a:srgbClr val="D6D6D6"/>
          </a:solidFill>
          <a:ln w="12700">
            <a:solidFill>
              <a:srgbClr val="D6D6D6"/>
            </a:solidFill>
            <a:prstDash val="solid"/>
          </a:ln>
        </p:spPr>
        <p:txBody>
          <a:bodyPr/>
          <a:p/>
        </p:txBody>
      </p:sp>
      <p:sp>
        <p:nvSpPr>
          <p:cNvPr id="17" name="Shape 14"/>
          <p:cNvSpPr/>
          <p:nvPr/>
        </p:nvSpPr>
        <p:spPr>
          <a:xfrm>
            <a:off x="5897880" y="2423160"/>
            <a:ext cx="457200" cy="274320"/>
          </a:xfrm>
          <a:prstGeom prst="chevron">
            <a:avLst/>
          </a:prstGeom>
          <a:solidFill>
            <a:srgbClr val="D6D6D6"/>
          </a:solidFill>
          <a:ln w="12700">
            <a:solidFill>
              <a:srgbClr val="D6D6D6"/>
            </a:solidFill>
            <a:prstDash val="solid"/>
          </a:ln>
        </p:spPr>
        <p:txBody>
          <a:bodyPr/>
          <a:p/>
        </p:txBody>
      </p:sp>
      <p:sp>
        <p:nvSpPr>
          <p:cNvPr id="18" name="Shape 15"/>
          <p:cNvSpPr/>
          <p:nvPr/>
        </p:nvSpPr>
        <p:spPr>
          <a:xfrm>
            <a:off x="8183880" y="2423160"/>
            <a:ext cx="457200" cy="274320"/>
          </a:xfrm>
          <a:prstGeom prst="chevron">
            <a:avLst/>
          </a:prstGeom>
          <a:solidFill>
            <a:srgbClr val="D6D6D6"/>
          </a:solidFill>
          <a:ln w="12700">
            <a:solidFill>
              <a:srgbClr val="D6D6D6"/>
            </a:solidFill>
            <a:prstDash val="solid"/>
          </a:ln>
        </p:spPr>
        <p:txBody>
          <a:bodyPr/>
          <a:p/>
        </p:txBody>
      </p:sp>
      <p:sp>
        <p:nvSpPr>
          <p:cNvPr id="19" name="Shape 16"/>
          <p:cNvSpPr/>
          <p:nvPr/>
        </p:nvSpPr>
        <p:spPr>
          <a:xfrm>
            <a:off x="1143000" y="3886200"/>
            <a:ext cx="9921240" cy="1417320"/>
          </a:xfrm>
          <a:prstGeom prst="roundRect">
            <a:avLst>
              <a:gd name="adj" fmla="val 5161"/>
            </a:avLst>
          </a:prstGeom>
          <a:solidFill>
            <a:srgbClr val="F1EFEF"/>
          </a:solidFill>
          <a:ln w="12700">
            <a:solidFill>
              <a:srgbClr val="D6D6D6"/>
            </a:solidFill>
            <a:prstDash val="solid"/>
          </a:ln>
          <a:effectLst>
            <a:outerShdw sx="100000" sy="100000" kx="0" ky="0" algn="bl" rotWithShape="0" blurRad="12700" dist="3810" dir="2700000">
              <a:srgbClr val="000000">
                <a:alpha val="8000"/>
              </a:srgbClr>
            </a:outerShdw>
          </a:effectLst>
        </p:spPr>
        <p:txBody>
          <a:bodyPr/>
          <a:p/>
        </p:txBody>
      </p:sp>
      <p:sp>
        <p:nvSpPr>
          <p:cNvPr id="20" name="Shape 17"/>
          <p:cNvSpPr/>
          <p:nvPr/>
        </p:nvSpPr>
        <p:spPr>
          <a:xfrm>
            <a:off x="1161288" y="3904488"/>
            <a:ext cx="73152" cy="1380744"/>
          </a:xfrm>
          <a:prstGeom prst="rect">
            <a:avLst/>
          </a:prstGeom>
          <a:solidFill>
            <a:srgbClr val="FFFFFF"/>
          </a:solidFill>
          <a:ln w="12700">
            <a:solidFill>
              <a:srgbClr val="D6D6D6"/>
            </a:solidFill>
            <a:prstDash val="solid"/>
          </a:ln>
        </p:spPr>
        <p:txBody>
          <a:bodyPr/>
          <a:p/>
        </p:txBody>
      </p:sp>
      <p:sp>
        <p:nvSpPr>
          <p:cNvPr id="21" name="Text 18"/>
          <p:cNvSpPr/>
          <p:nvPr/>
        </p:nvSpPr>
        <p:spPr>
          <a:xfrm>
            <a:off x="1307592" y="4032504"/>
            <a:ext cx="9665208" cy="310896"/>
          </a:xfrm>
          <a:prstGeom prst="rect">
            <a:avLst/>
          </a:prstGeom>
          <a:solidFill>
            <a:srgbClr val="FFFFFF"/>
          </a:solidFill>
          <a:ln w="12700">
            <a:solidFill>
              <a:srgbClr val="D6D6D6"/>
            </a:solidFill>
          </a:ln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0F0F0F"/>
                </a:solidFill>
                <a:latin typeface="Roboto Condensed" pitchFamily="34" charset="0"/>
                <a:ea typeface="Roboto Condensed" pitchFamily="34" charset="-122"/>
                <a:cs typeface="Roboto Condensed" pitchFamily="34" charset="-120"/>
              </a:rPr>
              <a:t>Общий смысл</a:t>
            </a:r>
            <a:endParaRPr lang="en-US" sz="1800" dirty="0"/>
          </a:p>
        </p:txBody>
      </p:sp>
      <p:sp>
        <p:nvSpPr>
          <p:cNvPr id="22" name="Text 19"/>
          <p:cNvSpPr/>
          <p:nvPr/>
        </p:nvSpPr>
        <p:spPr>
          <a:xfrm>
            <a:off x="1307592" y="4398264"/>
            <a:ext cx="9665208" cy="758952"/>
          </a:xfrm>
          <a:prstGeom prst="rect">
            <a:avLst/>
          </a:prstGeom>
          <a:solidFill>
            <a:srgbClr val="FFFFFF"/>
          </a:solidFill>
          <a:ln w="12700">
            <a:solidFill>
              <a:srgbClr val="D6D6D6"/>
            </a:solidFill>
          </a:ln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800" dirty="0">
                <a:solidFill>
                  <a:srgbClr val="545454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Финансовая практика не заменяет действующие направления. Она связывает налоговую, бухгалтерскую и аудиторскую экспертизу с управлением прибылью, ликвидностью, отчетностью собственника и подготовкой к росту, кредитованию или сделке.</a:t>
            </a:r>
            <a:endParaRPr lang="en-US" sz="11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164592"/>
          </a:xfrm>
          <a:prstGeom prst="rect">
            <a:avLst/>
          </a:prstGeom>
          <a:solidFill>
            <a:srgbClr val="FFFFFF"/>
          </a:solidFill>
          <a:ln w="12700">
            <a:solidFill>
              <a:srgbClr val="D6D6D6"/>
            </a:solidFill>
            <a:prstDash val="solid"/>
          </a:ln>
        </p:spPr>
        <p:txBody>
          <a:bodyPr/>
          <a:p/>
        </p:txBody>
      </p:sp>
      <p:sp>
        <p:nvSpPr>
          <p:cNvPr id="3" name="Text 1"/>
          <p:cNvSpPr/>
          <p:nvPr/>
        </p:nvSpPr>
        <p:spPr>
          <a:xfrm>
            <a:off x="594360" y="310896"/>
            <a:ext cx="8046720" cy="384048"/>
          </a:xfrm>
          <a:prstGeom prst="rect">
            <a:avLst/>
          </a:prstGeom>
          <a:solidFill>
            <a:srgbClr val="FFFFFF"/>
          </a:solidFill>
          <a:ln w="12700">
            <a:solidFill>
              <a:srgbClr val="D6D6D6"/>
            </a:solidFill>
          </a:ln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0F0F0F"/>
                </a:solidFill>
                <a:latin typeface="Roboto Condensed" pitchFamily="34" charset="0"/>
                <a:ea typeface="Roboto Condensed" pitchFamily="34" charset="-122"/>
                <a:cs typeface="Roboto Condensed" pitchFamily="34" charset="-120"/>
              </a:rPr>
              <a:t>С КАКИМИ ВОПРОСАМИ К НАМ МОЖЕТ ПРИХОДИТЬ КЛИЕНТ</a:t>
            </a:r>
            <a:endParaRPr lang="en-US" sz="2600" dirty="0"/>
          </a:p>
        </p:txBody>
      </p:sp>
      <p:sp>
        <p:nvSpPr>
          <p:cNvPr id="4" name="Text 2"/>
          <p:cNvSpPr/>
          <p:nvPr/>
        </p:nvSpPr>
        <p:spPr>
          <a:xfrm>
            <a:off x="594360" y="722376"/>
            <a:ext cx="7589520" cy="201168"/>
          </a:xfrm>
          <a:prstGeom prst="rect">
            <a:avLst/>
          </a:prstGeom>
          <a:solidFill>
            <a:srgbClr val="FFFFFF"/>
          </a:solidFill>
          <a:ln w="12700">
            <a:solidFill>
              <a:srgbClr val="D6D6D6"/>
            </a:solidFill>
          </a:ln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545454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рыночные боли и типы решений</a:t>
            </a:r>
            <a:endParaRPr lang="en-US" sz="950" dirty="0"/>
          </a:p>
        </p:txBody>
      </p:sp>
      <p:pic>
        <p:nvPicPr>
          <p:cNvPr id="5" name="Image 0" descr="/mnt/data/work/logo_crop_trans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343388" y="256032"/>
            <a:ext cx="938784" cy="502920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11475720" y="6473952"/>
            <a:ext cx="320040" cy="164592"/>
          </a:xfrm>
          <a:prstGeom prst="rect">
            <a:avLst/>
          </a:prstGeom>
          <a:solidFill>
            <a:srgbClr val="FFFFFF"/>
          </a:solidFill>
          <a:ln w="12700">
            <a:solidFill>
              <a:srgbClr val="D6D6D6"/>
            </a:solidFill>
          </a:ln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dirty="0" b="1">
                <a:solidFill>
                  <a:srgbClr val="84383E"/>
                </a:solidFill>
                <a:latin typeface="Roboto Condensed" pitchFamily="34" charset="0"/>
                <a:ea typeface="Roboto Condensed" pitchFamily="34" charset="-122"/>
                <a:cs typeface="Roboto Condensed" pitchFamily="34" charset="-120"/>
              </a:rPr>
              <a:t>04</a:t>
            </a:r>
            <a:endParaRPr lang="en-US" sz="1000" dirty="0"/>
          </a:p>
        </p:txBody>
      </p:sp>
      <p:sp>
        <p:nvSpPr>
          <p:cNvPr id="7" name="Shape 4"/>
          <p:cNvSpPr/>
          <p:nvPr/>
        </p:nvSpPr>
        <p:spPr>
          <a:xfrm>
            <a:off x="594360" y="932688"/>
            <a:ext cx="11018520" cy="0"/>
          </a:xfrm>
          <a:prstGeom prst="line">
            <a:avLst/>
          </a:prstGeom>
          <a:noFill/>
          <a:ln w="12700">
            <a:solidFill>
              <a:srgbClr val="D6D6D6"/>
            </a:solidFill>
            <a:prstDash val="solid"/>
          </a:ln>
        </p:spPr>
        <p:txBody>
          <a:bodyPr/>
          <a:p/>
        </p:txBody>
      </p:sp>
      <p:sp>
        <p:nvSpPr>
          <p:cNvPr id="8" name="Shape 5"/>
          <p:cNvSpPr/>
          <p:nvPr/>
        </p:nvSpPr>
        <p:spPr>
          <a:xfrm>
            <a:off x="777240" y="1325880"/>
            <a:ext cx="4526280" cy="4434840"/>
          </a:xfrm>
          <a:prstGeom prst="roundRect">
            <a:avLst>
              <a:gd name="adj" fmla="val 1649"/>
            </a:avLst>
          </a:prstGeom>
          <a:solidFill>
            <a:srgbClr val="FFFFFF"/>
          </a:solidFill>
          <a:ln w="12700">
            <a:solidFill>
              <a:srgbClr val="D6D6D6"/>
            </a:solidFill>
            <a:prstDash val="solid"/>
          </a:ln>
          <a:effectLst>
            <a:outerShdw sx="100000" sy="100000" kx="0" ky="0" algn="bl" rotWithShape="0" blurRad="12700" dist="3810" dir="2700000">
              <a:srgbClr val="000000">
                <a:alpha val="8000"/>
              </a:srgbClr>
            </a:outerShdw>
          </a:effectLst>
        </p:spPr>
        <p:txBody>
          <a:bodyPr/>
          <a:p/>
        </p:txBody>
      </p:sp>
      <p:sp>
        <p:nvSpPr>
          <p:cNvPr id="9" name="Shape 6"/>
          <p:cNvSpPr/>
          <p:nvPr/>
        </p:nvSpPr>
        <p:spPr>
          <a:xfrm>
            <a:off x="795528" y="1344168"/>
            <a:ext cx="73152" cy="4398264"/>
          </a:xfrm>
          <a:prstGeom prst="rect">
            <a:avLst/>
          </a:prstGeom>
          <a:solidFill>
            <a:srgbClr val="FFFFFF"/>
          </a:solidFill>
          <a:ln w="12700">
            <a:solidFill>
              <a:srgbClr val="D6D6D6"/>
            </a:solidFill>
            <a:prstDash val="solid"/>
          </a:ln>
        </p:spPr>
        <p:txBody>
          <a:bodyPr/>
          <a:p/>
        </p:txBody>
      </p:sp>
      <p:sp>
        <p:nvSpPr>
          <p:cNvPr id="10" name="Text 7"/>
          <p:cNvSpPr/>
          <p:nvPr/>
        </p:nvSpPr>
        <p:spPr>
          <a:xfrm>
            <a:off x="941832" y="1472184"/>
            <a:ext cx="4270248" cy="310896"/>
          </a:xfrm>
          <a:prstGeom prst="rect">
            <a:avLst/>
          </a:prstGeom>
          <a:solidFill>
            <a:srgbClr val="FFFFFF"/>
          </a:solidFill>
          <a:ln w="12700">
            <a:solidFill>
              <a:srgbClr val="D6D6D6"/>
            </a:solidFill>
          </a:ln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0F0F0F"/>
                </a:solidFill>
                <a:latin typeface="Roboto Condensed" pitchFamily="34" charset="0"/>
                <a:ea typeface="Roboto Condensed" pitchFamily="34" charset="-122"/>
                <a:cs typeface="Roboto Condensed" pitchFamily="34" charset="-120"/>
              </a:rPr>
              <a:t>Клиентские вопросы</a:t>
            </a:r>
            <a:endParaRPr lang="en-US" sz="1800" dirty="0"/>
          </a:p>
        </p:txBody>
      </p:sp>
      <p:sp>
        <p:nvSpPr>
          <p:cNvPr id="11" name="Text 8"/>
          <p:cNvSpPr/>
          <p:nvPr/>
        </p:nvSpPr>
        <p:spPr>
          <a:xfrm>
            <a:off x="941832" y="1837944"/>
            <a:ext cx="4270248" cy="3776472"/>
          </a:xfrm>
          <a:prstGeom prst="rect">
            <a:avLst/>
          </a:prstGeom>
          <a:solidFill>
            <a:srgbClr val="FFFFFF"/>
          </a:solidFill>
          <a:ln w="12700">
            <a:solidFill>
              <a:srgbClr val="D6D6D6"/>
            </a:solidFill>
          </a:ln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endParaRPr lang="en-US" sz="1100" dirty="0"/>
          </a:p>
        </p:txBody>
      </p:sp>
      <p:sp>
        <p:nvSpPr>
          <p:cNvPr id="12" name="Text 9"/>
          <p:cNvSpPr/>
          <p:nvPr/>
        </p:nvSpPr>
        <p:spPr>
          <a:xfrm>
            <a:off x="1097280" y="1938528"/>
            <a:ext cx="3840480" cy="3566160"/>
          </a:xfrm>
          <a:prstGeom prst="rect">
            <a:avLst/>
          </a:prstGeom>
          <a:solidFill>
            <a:srgbClr val="FFFFFF"/>
          </a:solidFill>
          <a:ln w="12700">
            <a:solidFill>
              <a:srgbClr val="D6D6D6"/>
            </a:solidFill>
          </a:ln>
        </p:spPr>
        <p:txBody>
          <a:bodyPr wrap="square" rtlCol="0" anchor="t"/>
          <a:lstStyle/>
          <a:p>
            <a:pPr marL="152400" indent="-152400">
              <a:buSzPct val="100000"/>
              <a:buChar char="•"/>
            </a:pPr>
            <a:r>
              <a:rPr lang="en-US" sz="1800" dirty="0">
                <a:solidFill>
                  <a:srgbClr val="545454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Не понимаю, где компания реально зарабатывает.</a:t>
            </a:r>
            <a:pPr indent="0" marL="0">
              <a:buNone/>
            </a:pPr>
            <a:r>
              <a:rPr lang="en-US" sz="1500" dirty="0">
                <a:solidFill>
                  <a:srgbClr val="0F0F0F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
</a:t>
            </a:r>
            <a:endParaRPr lang="en-US" sz="1500" dirty="0"/>
          </a:p>
          <a:p>
            <a:pPr marL="152400" indent="-152400">
              <a:buSzPct val="100000"/>
              <a:buChar char="•"/>
            </a:pPr>
            <a:r>
              <a:rPr lang="en-US" sz="1800" dirty="0">
                <a:solidFill>
                  <a:srgbClr val="545454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Прибыль есть, а денег постоянно не хватает.</a:t>
            </a:r>
            <a:pPr indent="0" marL="0">
              <a:buNone/>
            </a:pPr>
            <a:r>
              <a:rPr lang="en-US" sz="1500" dirty="0">
                <a:solidFill>
                  <a:srgbClr val="0F0F0F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
</a:t>
            </a:r>
            <a:endParaRPr lang="en-US" sz="1500" dirty="0"/>
          </a:p>
          <a:p>
            <a:pPr marL="152400" indent="-152400">
              <a:buSzPct val="100000"/>
              <a:buChar char="•"/>
            </a:pPr>
            <a:r>
              <a:rPr lang="en-US" sz="1800" dirty="0">
                <a:solidFill>
                  <a:srgbClr val="545454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Нет отчетности для собственника и CEO.</a:t>
            </a:r>
            <a:pPr indent="0" marL="0">
              <a:buNone/>
            </a:pPr>
            <a:r>
              <a:rPr lang="en-US" sz="1500" dirty="0">
                <a:solidFill>
                  <a:srgbClr val="0F0F0F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
</a:t>
            </a:r>
            <a:endParaRPr lang="en-US" sz="1500" dirty="0"/>
          </a:p>
          <a:p>
            <a:pPr marL="152400" indent="-152400">
              <a:buSzPct val="100000"/>
              <a:buChar char="•"/>
            </a:pPr>
            <a:r>
              <a:rPr lang="en-US" sz="1800" dirty="0">
                <a:solidFill>
                  <a:srgbClr val="545454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Неясна доходность направлений, клиентов или проектов.</a:t>
            </a:r>
            <a:pPr indent="0" marL="0">
              <a:buNone/>
            </a:pPr>
            <a:r>
              <a:rPr lang="en-US" sz="1500" dirty="0">
                <a:solidFill>
                  <a:srgbClr val="0F0F0F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
</a:t>
            </a:r>
            <a:endParaRPr lang="en-US" sz="1500" dirty="0"/>
          </a:p>
          <a:p>
            <a:pPr marL="152400" indent="-152400">
              <a:buSzPct val="100000"/>
              <a:buChar char="•"/>
            </a:pPr>
            <a:r>
              <a:rPr lang="en-US" sz="1800" dirty="0">
                <a:solidFill>
                  <a:srgbClr val="545454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Нет системы планирования, бюджета и контроля.</a:t>
            </a:r>
            <a:pPr indent="0" marL="0">
              <a:buNone/>
            </a:pPr>
            <a:r>
              <a:rPr lang="en-US" sz="1500" dirty="0">
                <a:solidFill>
                  <a:srgbClr val="0F0F0F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
</a:t>
            </a:r>
            <a:endParaRPr lang="en-US" sz="1500" dirty="0"/>
          </a:p>
          <a:p>
            <a:pPr marL="152400" indent="-152400">
              <a:buSzPct val="100000"/>
              <a:buChar char="•"/>
            </a:pPr>
            <a:r>
              <a:rPr lang="en-US" sz="1800" dirty="0">
                <a:solidFill>
                  <a:srgbClr val="545454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Нужна подготовка к кредиту, росту или сделке.</a:t>
            </a:r>
            <a:endParaRPr lang="en-US" sz="1500" dirty="0"/>
          </a:p>
        </p:txBody>
      </p:sp>
      <p:sp>
        <p:nvSpPr>
          <p:cNvPr id="13" name="Shape 10"/>
          <p:cNvSpPr/>
          <p:nvPr/>
        </p:nvSpPr>
        <p:spPr>
          <a:xfrm>
            <a:off x="5623560" y="2971800"/>
            <a:ext cx="713232" cy="438912"/>
          </a:xfrm>
          <a:prstGeom prst="chevron">
            <a:avLst/>
          </a:prstGeom>
          <a:solidFill>
            <a:srgbClr val="D6D6D6"/>
          </a:solidFill>
          <a:ln w="12700">
            <a:solidFill>
              <a:srgbClr val="D6D6D6"/>
            </a:solidFill>
            <a:prstDash val="solid"/>
          </a:ln>
        </p:spPr>
        <p:txBody>
          <a:bodyPr/>
          <a:p/>
        </p:txBody>
      </p:sp>
      <p:sp>
        <p:nvSpPr>
          <p:cNvPr id="14" name="Shape 11"/>
          <p:cNvSpPr/>
          <p:nvPr/>
        </p:nvSpPr>
        <p:spPr>
          <a:xfrm>
            <a:off x="6693408" y="1325880"/>
            <a:ext cx="4663440" cy="4434840"/>
          </a:xfrm>
          <a:prstGeom prst="roundRect">
            <a:avLst>
              <a:gd name="adj" fmla="val 1649"/>
            </a:avLst>
          </a:prstGeom>
          <a:solidFill>
            <a:srgbClr val="FFFFFF"/>
          </a:solidFill>
          <a:ln w="12700">
            <a:solidFill>
              <a:srgbClr val="D6D6D6"/>
            </a:solidFill>
            <a:prstDash val="solid"/>
          </a:ln>
          <a:effectLst>
            <a:outerShdw sx="100000" sy="100000" kx="0" ky="0" algn="bl" rotWithShape="0" blurRad="12700" dist="3810" dir="2700000">
              <a:srgbClr val="000000">
                <a:alpha val="8000"/>
              </a:srgbClr>
            </a:outerShdw>
          </a:effectLst>
        </p:spPr>
        <p:txBody>
          <a:bodyPr/>
          <a:p/>
        </p:txBody>
      </p:sp>
      <p:sp>
        <p:nvSpPr>
          <p:cNvPr id="15" name="Shape 12"/>
          <p:cNvSpPr/>
          <p:nvPr/>
        </p:nvSpPr>
        <p:spPr>
          <a:xfrm>
            <a:off x="6711696" y="1344168"/>
            <a:ext cx="73152" cy="4398264"/>
          </a:xfrm>
          <a:prstGeom prst="rect">
            <a:avLst/>
          </a:prstGeom>
          <a:solidFill>
            <a:srgbClr val="FFFFFF"/>
          </a:solidFill>
          <a:ln w="12700">
            <a:solidFill>
              <a:srgbClr val="D6D6D6"/>
            </a:solidFill>
            <a:prstDash val="solid"/>
          </a:ln>
        </p:spPr>
        <p:txBody>
          <a:bodyPr/>
          <a:p/>
        </p:txBody>
      </p:sp>
      <p:sp>
        <p:nvSpPr>
          <p:cNvPr id="16" name="Text 13"/>
          <p:cNvSpPr/>
          <p:nvPr/>
        </p:nvSpPr>
        <p:spPr>
          <a:xfrm>
            <a:off x="6858000" y="1472184"/>
            <a:ext cx="4407408" cy="310896"/>
          </a:xfrm>
          <a:prstGeom prst="rect">
            <a:avLst/>
          </a:prstGeom>
          <a:solidFill>
            <a:srgbClr val="FFFFFF"/>
          </a:solidFill>
          <a:ln w="12700">
            <a:solidFill>
              <a:srgbClr val="D6D6D6"/>
            </a:solidFill>
          </a:ln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0F0F0F"/>
                </a:solidFill>
                <a:latin typeface="Roboto Condensed" pitchFamily="34" charset="0"/>
                <a:ea typeface="Roboto Condensed" pitchFamily="34" charset="-122"/>
                <a:cs typeface="Roboto Condensed" pitchFamily="34" charset="-120"/>
              </a:rPr>
              <a:t>Типы решений</a:t>
            </a:r>
            <a:endParaRPr lang="en-US" sz="1800" dirty="0"/>
          </a:p>
        </p:txBody>
      </p:sp>
      <p:sp>
        <p:nvSpPr>
          <p:cNvPr id="17" name="Text 14"/>
          <p:cNvSpPr/>
          <p:nvPr/>
        </p:nvSpPr>
        <p:spPr>
          <a:xfrm>
            <a:off x="6858000" y="1837944"/>
            <a:ext cx="4407408" cy="3776472"/>
          </a:xfrm>
          <a:prstGeom prst="rect">
            <a:avLst/>
          </a:prstGeom>
          <a:solidFill>
            <a:srgbClr val="FFFFFF"/>
          </a:solidFill>
          <a:ln w="12700">
            <a:solidFill>
              <a:srgbClr val="D6D6D6"/>
            </a:solidFill>
          </a:ln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endParaRPr lang="en-US" sz="1100" dirty="0"/>
          </a:p>
        </p:txBody>
      </p:sp>
      <p:sp>
        <p:nvSpPr>
          <p:cNvPr id="18" name="Text 15"/>
          <p:cNvSpPr/>
          <p:nvPr/>
        </p:nvSpPr>
        <p:spPr>
          <a:xfrm>
            <a:off x="7013448" y="1938528"/>
            <a:ext cx="3977640" cy="3566160"/>
          </a:xfrm>
          <a:prstGeom prst="rect">
            <a:avLst/>
          </a:prstGeom>
          <a:solidFill>
            <a:srgbClr val="FFFFFF"/>
          </a:solidFill>
          <a:ln w="12700">
            <a:solidFill>
              <a:srgbClr val="D6D6D6"/>
            </a:solidFill>
          </a:ln>
        </p:spPr>
        <p:txBody>
          <a:bodyPr wrap="square" rtlCol="0" anchor="t"/>
          <a:lstStyle/>
          <a:p>
            <a:pPr marL="152400" indent="-152400">
              <a:buSzPct val="100000"/>
              <a:buChar char="•"/>
            </a:pPr>
            <a:r>
              <a:rPr lang="en-US" sz="1800" dirty="0">
                <a:solidFill>
                  <a:srgbClr val="545454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Диагностика финансовой модели и текущих цифр.</a:t>
            </a:r>
            <a:pPr indent="0" marL="0">
              <a:buNone/>
            </a:pPr>
            <a:r>
              <a:rPr lang="en-US" sz="1500" dirty="0">
                <a:solidFill>
                  <a:srgbClr val="0F0F0F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
</a:t>
            </a:r>
            <a:endParaRPr lang="en-US" sz="1500" dirty="0"/>
          </a:p>
          <a:p>
            <a:pPr marL="152400" indent="-152400">
              <a:buSzPct val="100000"/>
              <a:buChar char="•"/>
            </a:pPr>
            <a:r>
              <a:rPr lang="en-US" sz="1800" dirty="0">
                <a:solidFill>
                  <a:srgbClr val="545454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Методология учета, отчетности и правил закрытия.</a:t>
            </a:r>
            <a:pPr indent="0" marL="0">
              <a:buNone/>
            </a:pPr>
            <a:r>
              <a:rPr lang="en-US" sz="1500" dirty="0">
                <a:solidFill>
                  <a:srgbClr val="0F0F0F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
</a:t>
            </a:r>
            <a:endParaRPr lang="en-US" sz="1500" dirty="0"/>
          </a:p>
          <a:p>
            <a:pPr marL="152400" indent="-152400">
              <a:buSzPct val="100000"/>
              <a:buChar char="•"/>
            </a:pPr>
            <a:r>
              <a:rPr lang="en-US" sz="1800" dirty="0">
                <a:solidFill>
                  <a:srgbClr val="545454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Постановка P&amp;L, БДДС, баланса и панели собственника.</a:t>
            </a:r>
            <a:pPr indent="0" marL="0">
              <a:buNone/>
            </a:pPr>
            <a:r>
              <a:rPr lang="en-US" sz="1500" dirty="0">
                <a:solidFill>
                  <a:srgbClr val="0F0F0F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
</a:t>
            </a:r>
            <a:endParaRPr lang="en-US" sz="1500" dirty="0"/>
          </a:p>
          <a:p>
            <a:pPr marL="152400" indent="-152400">
              <a:buSzPct val="100000"/>
              <a:buChar char="•"/>
            </a:pPr>
            <a:r>
              <a:rPr lang="en-US" sz="1800" dirty="0">
                <a:solidFill>
                  <a:srgbClr val="545454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Бюджетирование, казначейство и управление оборотным капиталом.</a:t>
            </a:r>
            <a:pPr indent="0" marL="0">
              <a:buNone/>
            </a:pPr>
            <a:r>
              <a:rPr lang="en-US" sz="1500" dirty="0">
                <a:solidFill>
                  <a:srgbClr val="0F0F0F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
</a:t>
            </a:r>
            <a:endParaRPr lang="en-US" sz="1500" dirty="0"/>
          </a:p>
          <a:p>
            <a:pPr marL="152400" indent="-152400">
              <a:buSzPct val="100000"/>
              <a:buChar char="•"/>
            </a:pPr>
            <a:r>
              <a:rPr lang="en-US" sz="1800" dirty="0">
                <a:solidFill>
                  <a:srgbClr val="545454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Регулярное CFO-/controller-сопровождение.</a:t>
            </a:r>
            <a:pPr indent="0" marL="0">
              <a:buNone/>
            </a:pPr>
            <a:r>
              <a:rPr lang="en-US" sz="1500" dirty="0">
                <a:solidFill>
                  <a:srgbClr val="0F0F0F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
</a:t>
            </a:r>
            <a:endParaRPr lang="en-US" sz="1500" dirty="0"/>
          </a:p>
          <a:p>
            <a:pPr marL="152400" indent="-152400">
              <a:buSzPct val="100000"/>
              <a:buChar char="•"/>
            </a:pPr>
            <a:r>
              <a:rPr lang="en-US" sz="1800" dirty="0">
                <a:solidFill>
                  <a:srgbClr val="545454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Подготовка к кредитованию, инвестициям и special situations.</a:t>
            </a:r>
            <a:endParaRPr lang="en-US" sz="1500" dirty="0"/>
          </a:p>
        </p:txBody>
      </p:sp>
      <p:sp>
        <p:nvSpPr>
          <p:cNvPr id="19" name="Oval 18"/>
          <p:cNvSpPr/>
          <p:nvPr/>
        </p:nvSpPr>
        <p:spPr>
          <a:xfrm>
            <a:off x="594360" y="1417320"/>
            <a:ext cx="230428" cy="230428"/>
          </a:xfrm>
          <a:prstGeom prst="ellipse">
            <a:avLst/>
          </a:prstGeom>
          <a:noFill/>
          <a:ln w="22225">
            <a:solidFill>
              <a:srgbClr val="56000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 rot="2700000">
            <a:off x="767181" y="1602943"/>
            <a:ext cx="108813" cy="19202"/>
          </a:xfrm>
          <a:prstGeom prst="rect">
            <a:avLst/>
          </a:prstGeom>
          <a:solidFill>
            <a:srgbClr val="56000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Heart 20"/>
          <p:cNvSpPr/>
          <p:nvPr/>
        </p:nvSpPr>
        <p:spPr>
          <a:xfrm>
            <a:off x="1097280" y="1417320"/>
            <a:ext cx="304038" cy="304038"/>
          </a:xfrm>
          <a:prstGeom prst="heart">
            <a:avLst/>
          </a:prstGeom>
          <a:noFill/>
          <a:ln w="22225">
            <a:solidFill>
              <a:srgbClr val="56000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 rot="2700000">
            <a:off x="1193292" y="1615744"/>
            <a:ext cx="70408" cy="19202"/>
          </a:xfrm>
          <a:prstGeom prst="rect">
            <a:avLst/>
          </a:prstGeom>
          <a:solidFill>
            <a:srgbClr val="56000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 rot="18900000">
            <a:off x="1231696" y="1602943"/>
            <a:ext cx="108813" cy="19202"/>
          </a:xfrm>
          <a:prstGeom prst="rect">
            <a:avLst/>
          </a:prstGeom>
          <a:solidFill>
            <a:srgbClr val="56000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Oval 23"/>
          <p:cNvSpPr/>
          <p:nvPr/>
        </p:nvSpPr>
        <p:spPr>
          <a:xfrm>
            <a:off x="1600200" y="1417320"/>
            <a:ext cx="320040" cy="320040"/>
          </a:xfrm>
          <a:prstGeom prst="ellipse">
            <a:avLst/>
          </a:prstGeom>
          <a:noFill/>
          <a:ln w="22225">
            <a:solidFill>
              <a:srgbClr val="56000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1600200" y="1455724"/>
            <a:ext cx="320040" cy="24323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b="1" sz="2000">
                <a:solidFill>
                  <a:srgbClr val="560004"/>
                </a:solidFill>
              </a:rPr>
              <a:t>₽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164592"/>
          </a:xfrm>
          <a:prstGeom prst="rect">
            <a:avLst/>
          </a:prstGeom>
          <a:solidFill>
            <a:srgbClr val="FFFFFF"/>
          </a:solidFill>
          <a:ln w="12700">
            <a:solidFill>
              <a:srgbClr val="D6D6D6"/>
            </a:solidFill>
            <a:prstDash val="solid"/>
          </a:ln>
        </p:spPr>
        <p:txBody>
          <a:bodyPr/>
          <a:p/>
        </p:txBody>
      </p:sp>
      <p:sp>
        <p:nvSpPr>
          <p:cNvPr id="3" name="Text 1"/>
          <p:cNvSpPr/>
          <p:nvPr/>
        </p:nvSpPr>
        <p:spPr>
          <a:xfrm>
            <a:off x="594360" y="310896"/>
            <a:ext cx="8046720" cy="384048"/>
          </a:xfrm>
          <a:prstGeom prst="rect">
            <a:avLst/>
          </a:prstGeom>
          <a:solidFill>
            <a:srgbClr val="FFFFFF"/>
          </a:solidFill>
          <a:ln w="12700">
            <a:solidFill>
              <a:srgbClr val="D6D6D6"/>
            </a:solidFill>
          </a:ln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0F0F0F"/>
                </a:solidFill>
                <a:latin typeface="Roboto Condensed" pitchFamily="34" charset="0"/>
                <a:ea typeface="Roboto Condensed" pitchFamily="34" charset="-122"/>
                <a:cs typeface="Roboto Condensed" pitchFamily="34" charset="-120"/>
              </a:rPr>
              <a:t>АРХИТЕКТУРА ПРОДУКТОВОЙ ЛИНЕЙКИ</a:t>
            </a:r>
            <a:endParaRPr lang="en-US" sz="2600" dirty="0"/>
          </a:p>
        </p:txBody>
      </p:sp>
      <p:sp>
        <p:nvSpPr>
          <p:cNvPr id="4" name="Text 2"/>
          <p:cNvSpPr/>
          <p:nvPr/>
        </p:nvSpPr>
        <p:spPr>
          <a:xfrm>
            <a:off x="594360" y="722376"/>
            <a:ext cx="7589520" cy="201168"/>
          </a:xfrm>
          <a:prstGeom prst="rect">
            <a:avLst/>
          </a:prstGeom>
          <a:solidFill>
            <a:srgbClr val="FFFFFF"/>
          </a:solidFill>
          <a:ln w="12700">
            <a:solidFill>
              <a:srgbClr val="D6D6D6"/>
            </a:solidFill>
          </a:ln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545454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шесть укрупненных блоков практики</a:t>
            </a:r>
            <a:endParaRPr lang="en-US" sz="950" dirty="0"/>
          </a:p>
        </p:txBody>
      </p:sp>
      <p:pic>
        <p:nvPicPr>
          <p:cNvPr id="5" name="Image 0" descr="/mnt/data/work/logo_crop_trans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343388" y="256032"/>
            <a:ext cx="938784" cy="502920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11475720" y="6473952"/>
            <a:ext cx="320040" cy="164592"/>
          </a:xfrm>
          <a:prstGeom prst="rect">
            <a:avLst/>
          </a:prstGeom>
          <a:solidFill>
            <a:srgbClr val="FFFFFF"/>
          </a:solidFill>
          <a:ln w="12700">
            <a:solidFill>
              <a:srgbClr val="D6D6D6"/>
            </a:solidFill>
          </a:ln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dirty="0" b="1">
                <a:solidFill>
                  <a:srgbClr val="84383E"/>
                </a:solidFill>
                <a:latin typeface="Roboto Condensed" pitchFamily="34" charset="0"/>
                <a:ea typeface="Roboto Condensed" pitchFamily="34" charset="-122"/>
                <a:cs typeface="Roboto Condensed" pitchFamily="34" charset="-120"/>
              </a:rPr>
              <a:t>05</a:t>
            </a:r>
            <a:endParaRPr lang="en-US" sz="1000" dirty="0"/>
          </a:p>
        </p:txBody>
      </p:sp>
      <p:sp>
        <p:nvSpPr>
          <p:cNvPr id="7" name="Shape 4"/>
          <p:cNvSpPr/>
          <p:nvPr/>
        </p:nvSpPr>
        <p:spPr>
          <a:xfrm>
            <a:off x="594360" y="932688"/>
            <a:ext cx="11018520" cy="0"/>
          </a:xfrm>
          <a:prstGeom prst="line">
            <a:avLst/>
          </a:prstGeom>
          <a:noFill/>
          <a:ln w="12700">
            <a:solidFill>
              <a:srgbClr val="D6D6D6"/>
            </a:solidFill>
            <a:prstDash val="solid"/>
          </a:ln>
        </p:spPr>
        <p:txBody>
          <a:bodyPr/>
          <a:p/>
        </p:txBody>
      </p:sp>
      <p:sp>
        <p:nvSpPr>
          <p:cNvPr id="8" name="Shape 5"/>
          <p:cNvSpPr/>
          <p:nvPr/>
        </p:nvSpPr>
        <p:spPr>
          <a:xfrm>
            <a:off x="731520" y="1371600"/>
            <a:ext cx="3108960" cy="1645920"/>
          </a:xfrm>
          <a:prstGeom prst="roundRect">
            <a:avLst>
              <a:gd name="adj" fmla="val 4444"/>
            </a:avLst>
          </a:prstGeom>
          <a:solidFill>
            <a:srgbClr val="FFFFFF"/>
          </a:solidFill>
          <a:ln w="12700">
            <a:solidFill>
              <a:srgbClr val="D6D6D6"/>
            </a:solidFill>
            <a:prstDash val="solid"/>
          </a:ln>
          <a:effectLst>
            <a:outerShdw sx="100000" sy="100000" kx="0" ky="0" algn="bl" rotWithShape="0" blurRad="12700" dist="3810" dir="2700000">
              <a:srgbClr val="000000">
                <a:alpha val="8000"/>
              </a:srgbClr>
            </a:outerShdw>
          </a:effectLst>
        </p:spPr>
        <p:txBody>
          <a:bodyPr/>
          <a:p/>
        </p:txBody>
      </p:sp>
      <p:sp>
        <p:nvSpPr>
          <p:cNvPr id="9" name="Shape 6"/>
          <p:cNvSpPr/>
          <p:nvPr/>
        </p:nvSpPr>
        <p:spPr>
          <a:xfrm>
            <a:off x="749808" y="1389888"/>
            <a:ext cx="73152" cy="1609344"/>
          </a:xfrm>
          <a:prstGeom prst="rect">
            <a:avLst/>
          </a:prstGeom>
          <a:solidFill>
            <a:srgbClr val="FFFFFF"/>
          </a:solidFill>
          <a:ln w="12700">
            <a:solidFill>
              <a:srgbClr val="D6D6D6"/>
            </a:solidFill>
            <a:prstDash val="solid"/>
          </a:ln>
        </p:spPr>
        <p:txBody>
          <a:bodyPr/>
          <a:p/>
        </p:txBody>
      </p:sp>
      <p:sp>
        <p:nvSpPr>
          <p:cNvPr id="10" name="Text 7"/>
          <p:cNvSpPr/>
          <p:nvPr/>
        </p:nvSpPr>
        <p:spPr>
          <a:xfrm>
            <a:off x="896112" y="1517904"/>
            <a:ext cx="2852928" cy="310896"/>
          </a:xfrm>
          <a:prstGeom prst="rect">
            <a:avLst/>
          </a:prstGeom>
          <a:solidFill>
            <a:srgbClr val="FFFFFF"/>
          </a:solidFill>
          <a:ln w="12700">
            <a:solidFill>
              <a:srgbClr val="D6D6D6"/>
            </a:solidFill>
          </a:ln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0F0F0F"/>
                </a:solidFill>
                <a:latin typeface="Roboto Condensed" pitchFamily="34" charset="0"/>
                <a:ea typeface="Roboto Condensed" pitchFamily="34" charset="-122"/>
                <a:cs typeface="Roboto Condensed" pitchFamily="34" charset="-120"/>
              </a:rPr>
              <a:t>1. Диагностика</a:t>
            </a:r>
            <a:endParaRPr lang="en-US" sz="1800" dirty="0"/>
          </a:p>
        </p:txBody>
      </p:sp>
      <p:sp>
        <p:nvSpPr>
          <p:cNvPr id="11" name="Text 8"/>
          <p:cNvSpPr/>
          <p:nvPr/>
        </p:nvSpPr>
        <p:spPr>
          <a:xfrm>
            <a:off x="896112" y="1883664"/>
            <a:ext cx="2852928" cy="987552"/>
          </a:xfrm>
          <a:prstGeom prst="rect">
            <a:avLst/>
          </a:prstGeom>
          <a:solidFill>
            <a:srgbClr val="FFFFFF"/>
          </a:solidFill>
          <a:ln w="12700">
            <a:solidFill>
              <a:srgbClr val="D6D6D6"/>
            </a:solidFill>
          </a:ln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800" dirty="0">
                <a:solidFill>
                  <a:srgbClr val="545454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быстрый вход, выявление боли, дорожная карта</a:t>
            </a:r>
            <a:endParaRPr lang="en-US" sz="1100" dirty="0"/>
          </a:p>
        </p:txBody>
      </p:sp>
      <p:sp>
        <p:nvSpPr>
          <p:cNvPr id="12" name="Shape 9"/>
          <p:cNvSpPr/>
          <p:nvPr/>
        </p:nvSpPr>
        <p:spPr>
          <a:xfrm>
            <a:off x="4069080" y="1371600"/>
            <a:ext cx="3108960" cy="1645920"/>
          </a:xfrm>
          <a:prstGeom prst="roundRect">
            <a:avLst>
              <a:gd name="adj" fmla="val 4444"/>
            </a:avLst>
          </a:prstGeom>
          <a:solidFill>
            <a:srgbClr val="FFFFFF"/>
          </a:solidFill>
          <a:ln w="12700">
            <a:solidFill>
              <a:srgbClr val="D6D6D6"/>
            </a:solidFill>
            <a:prstDash val="solid"/>
          </a:ln>
          <a:effectLst>
            <a:outerShdw sx="100000" sy="100000" kx="0" ky="0" algn="bl" rotWithShape="0" blurRad="12700" dist="3810" dir="2700000">
              <a:srgbClr val="000000">
                <a:alpha val="8000"/>
              </a:srgbClr>
            </a:outerShdw>
          </a:effectLst>
        </p:spPr>
        <p:txBody>
          <a:bodyPr/>
          <a:p/>
        </p:txBody>
      </p:sp>
      <p:sp>
        <p:nvSpPr>
          <p:cNvPr id="13" name="Shape 10"/>
          <p:cNvSpPr/>
          <p:nvPr/>
        </p:nvSpPr>
        <p:spPr>
          <a:xfrm>
            <a:off x="4087368" y="1389888"/>
            <a:ext cx="73152" cy="1609344"/>
          </a:xfrm>
          <a:prstGeom prst="rect">
            <a:avLst/>
          </a:prstGeom>
          <a:solidFill>
            <a:srgbClr val="FFFFFF"/>
          </a:solidFill>
          <a:ln w="12700">
            <a:solidFill>
              <a:srgbClr val="D6D6D6"/>
            </a:solidFill>
            <a:prstDash val="solid"/>
          </a:ln>
        </p:spPr>
        <p:txBody>
          <a:bodyPr/>
          <a:p/>
        </p:txBody>
      </p:sp>
      <p:sp>
        <p:nvSpPr>
          <p:cNvPr id="14" name="Text 11"/>
          <p:cNvSpPr/>
          <p:nvPr/>
        </p:nvSpPr>
        <p:spPr>
          <a:xfrm>
            <a:off x="4233672" y="1517904"/>
            <a:ext cx="2852928" cy="310896"/>
          </a:xfrm>
          <a:prstGeom prst="rect">
            <a:avLst/>
          </a:prstGeom>
          <a:solidFill>
            <a:srgbClr val="FFFFFF"/>
          </a:solidFill>
          <a:ln w="12700">
            <a:solidFill>
              <a:srgbClr val="D6D6D6"/>
            </a:solidFill>
          </a:ln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0F0F0F"/>
                </a:solidFill>
                <a:latin typeface="Roboto Condensed" pitchFamily="34" charset="0"/>
                <a:ea typeface="Roboto Condensed" pitchFamily="34" charset="-122"/>
                <a:cs typeface="Roboto Condensed" pitchFamily="34" charset="-120"/>
              </a:rPr>
              <a:t>2. Методология</a:t>
            </a:r>
            <a:endParaRPr lang="en-US" sz="1800" dirty="0"/>
          </a:p>
        </p:txBody>
      </p:sp>
      <p:sp>
        <p:nvSpPr>
          <p:cNvPr id="15" name="Text 12"/>
          <p:cNvSpPr/>
          <p:nvPr/>
        </p:nvSpPr>
        <p:spPr>
          <a:xfrm>
            <a:off x="4233672" y="1883664"/>
            <a:ext cx="2852928" cy="987552"/>
          </a:xfrm>
          <a:prstGeom prst="rect">
            <a:avLst/>
          </a:prstGeom>
          <a:solidFill>
            <a:srgbClr val="FFFFFF"/>
          </a:solidFill>
          <a:ln w="12700">
            <a:solidFill>
              <a:srgbClr val="D6D6D6"/>
            </a:solidFill>
          </a:ln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800" dirty="0">
                <a:solidFill>
                  <a:srgbClr val="545454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правила учета, KPI, регламенты, мосты между контурами</a:t>
            </a:r>
            <a:endParaRPr lang="en-US" sz="1100" dirty="0"/>
          </a:p>
        </p:txBody>
      </p:sp>
      <p:sp>
        <p:nvSpPr>
          <p:cNvPr id="16" name="Shape 13"/>
          <p:cNvSpPr/>
          <p:nvPr/>
        </p:nvSpPr>
        <p:spPr>
          <a:xfrm>
            <a:off x="7406640" y="1371600"/>
            <a:ext cx="3108960" cy="1645920"/>
          </a:xfrm>
          <a:prstGeom prst="roundRect">
            <a:avLst>
              <a:gd name="adj" fmla="val 4444"/>
            </a:avLst>
          </a:prstGeom>
          <a:solidFill>
            <a:srgbClr val="FFFFFF"/>
          </a:solidFill>
          <a:ln w="12700">
            <a:solidFill>
              <a:srgbClr val="D6D6D6"/>
            </a:solidFill>
            <a:prstDash val="solid"/>
          </a:ln>
          <a:effectLst>
            <a:outerShdw sx="100000" sy="100000" kx="0" ky="0" algn="bl" rotWithShape="0" blurRad="12700" dist="3810" dir="2700000">
              <a:srgbClr val="000000">
                <a:alpha val="8000"/>
              </a:srgbClr>
            </a:outerShdw>
          </a:effectLst>
        </p:spPr>
        <p:txBody>
          <a:bodyPr/>
          <a:p/>
        </p:txBody>
      </p:sp>
      <p:sp>
        <p:nvSpPr>
          <p:cNvPr id="17" name="Shape 14"/>
          <p:cNvSpPr/>
          <p:nvPr/>
        </p:nvSpPr>
        <p:spPr>
          <a:xfrm>
            <a:off x="7424928" y="1389888"/>
            <a:ext cx="73152" cy="1609344"/>
          </a:xfrm>
          <a:prstGeom prst="rect">
            <a:avLst/>
          </a:prstGeom>
          <a:solidFill>
            <a:srgbClr val="FFFFFF"/>
          </a:solidFill>
          <a:ln w="12700">
            <a:solidFill>
              <a:srgbClr val="D6D6D6"/>
            </a:solidFill>
            <a:prstDash val="solid"/>
          </a:ln>
        </p:spPr>
        <p:txBody>
          <a:bodyPr/>
          <a:p/>
        </p:txBody>
      </p:sp>
      <p:sp>
        <p:nvSpPr>
          <p:cNvPr id="18" name="Text 15"/>
          <p:cNvSpPr/>
          <p:nvPr/>
        </p:nvSpPr>
        <p:spPr>
          <a:xfrm>
            <a:off x="7571232" y="1517904"/>
            <a:ext cx="2852928" cy="310896"/>
          </a:xfrm>
          <a:prstGeom prst="rect">
            <a:avLst/>
          </a:prstGeom>
          <a:solidFill>
            <a:srgbClr val="FFFFFF"/>
          </a:solidFill>
          <a:ln w="12700">
            <a:solidFill>
              <a:srgbClr val="D6D6D6"/>
            </a:solidFill>
          </a:ln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0F0F0F"/>
                </a:solidFill>
                <a:latin typeface="Roboto Condensed" pitchFamily="34" charset="0"/>
                <a:ea typeface="Roboto Condensed" pitchFamily="34" charset="-122"/>
                <a:cs typeface="Roboto Condensed" pitchFamily="34" charset="-120"/>
              </a:rPr>
              <a:t>3. Постановка и внедрение</a:t>
            </a:r>
            <a:endParaRPr lang="en-US" sz="1800" dirty="0"/>
          </a:p>
        </p:txBody>
      </p:sp>
      <p:sp>
        <p:nvSpPr>
          <p:cNvPr id="19" name="Text 16"/>
          <p:cNvSpPr/>
          <p:nvPr/>
        </p:nvSpPr>
        <p:spPr>
          <a:xfrm>
            <a:off x="7571232" y="1883664"/>
            <a:ext cx="2852928" cy="987552"/>
          </a:xfrm>
          <a:prstGeom prst="rect">
            <a:avLst/>
          </a:prstGeom>
          <a:solidFill>
            <a:srgbClr val="FFFFFF"/>
          </a:solidFill>
          <a:ln w="12700">
            <a:solidFill>
              <a:srgbClr val="D6D6D6"/>
            </a:solidFill>
          </a:ln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800" dirty="0">
                <a:solidFill>
                  <a:srgbClr val="545454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отчетность, бюджетирование, казначейство, автоматизация</a:t>
            </a:r>
            <a:endParaRPr lang="en-US" sz="1100" dirty="0"/>
          </a:p>
        </p:txBody>
      </p:sp>
      <p:sp>
        <p:nvSpPr>
          <p:cNvPr id="20" name="Shape 17"/>
          <p:cNvSpPr/>
          <p:nvPr/>
        </p:nvSpPr>
        <p:spPr>
          <a:xfrm>
            <a:off x="731520" y="3657600"/>
            <a:ext cx="3108960" cy="1645920"/>
          </a:xfrm>
          <a:prstGeom prst="roundRect">
            <a:avLst>
              <a:gd name="adj" fmla="val 4444"/>
            </a:avLst>
          </a:prstGeom>
          <a:solidFill>
            <a:srgbClr val="FFFFFF"/>
          </a:solidFill>
          <a:ln w="12700">
            <a:solidFill>
              <a:srgbClr val="D6D6D6"/>
            </a:solidFill>
            <a:prstDash val="solid"/>
          </a:ln>
          <a:effectLst>
            <a:outerShdw sx="100000" sy="100000" kx="0" ky="0" algn="bl" rotWithShape="0" blurRad="12700" dist="3810" dir="2700000">
              <a:srgbClr val="000000">
                <a:alpha val="8000"/>
              </a:srgbClr>
            </a:outerShdw>
          </a:effectLst>
        </p:spPr>
        <p:txBody>
          <a:bodyPr/>
          <a:p/>
        </p:txBody>
      </p:sp>
      <p:sp>
        <p:nvSpPr>
          <p:cNvPr id="21" name="Shape 18"/>
          <p:cNvSpPr/>
          <p:nvPr/>
        </p:nvSpPr>
        <p:spPr>
          <a:xfrm>
            <a:off x="749808" y="3675888"/>
            <a:ext cx="73152" cy="1609344"/>
          </a:xfrm>
          <a:prstGeom prst="rect">
            <a:avLst/>
          </a:prstGeom>
          <a:solidFill>
            <a:srgbClr val="FFFFFF"/>
          </a:solidFill>
          <a:ln w="12700">
            <a:solidFill>
              <a:srgbClr val="D6D6D6"/>
            </a:solidFill>
            <a:prstDash val="solid"/>
          </a:ln>
        </p:spPr>
        <p:txBody>
          <a:bodyPr/>
          <a:p/>
        </p:txBody>
      </p:sp>
      <p:sp>
        <p:nvSpPr>
          <p:cNvPr id="22" name="Text 19"/>
          <p:cNvSpPr/>
          <p:nvPr/>
        </p:nvSpPr>
        <p:spPr>
          <a:xfrm>
            <a:off x="896112" y="3803904"/>
            <a:ext cx="2852928" cy="310896"/>
          </a:xfrm>
          <a:prstGeom prst="rect">
            <a:avLst/>
          </a:prstGeom>
          <a:solidFill>
            <a:srgbClr val="FFFFFF"/>
          </a:solidFill>
          <a:ln w="12700">
            <a:solidFill>
              <a:srgbClr val="D6D6D6"/>
            </a:solidFill>
          </a:ln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0F0F0F"/>
                </a:solidFill>
                <a:latin typeface="Roboto Condensed" pitchFamily="34" charset="0"/>
                <a:ea typeface="Roboto Condensed" pitchFamily="34" charset="-122"/>
                <a:cs typeface="Roboto Condensed" pitchFamily="34" charset="-120"/>
              </a:rPr>
              <a:t>4. Контроль и сопровождение</a:t>
            </a:r>
            <a:endParaRPr lang="en-US" sz="1800" dirty="0"/>
          </a:p>
        </p:txBody>
      </p:sp>
      <p:sp>
        <p:nvSpPr>
          <p:cNvPr id="23" name="Text 20"/>
          <p:cNvSpPr/>
          <p:nvPr/>
        </p:nvSpPr>
        <p:spPr>
          <a:xfrm>
            <a:off x="896112" y="4169664"/>
            <a:ext cx="2852928" cy="987552"/>
          </a:xfrm>
          <a:prstGeom prst="rect">
            <a:avLst/>
          </a:prstGeom>
          <a:solidFill>
            <a:srgbClr val="FFFFFF"/>
          </a:solidFill>
          <a:ln w="12700">
            <a:solidFill>
              <a:srgbClr val="D6D6D6"/>
            </a:solidFill>
          </a:ln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800" dirty="0">
                <a:solidFill>
                  <a:srgbClr val="545454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внешний CFO, контролер, обзорный и комитетный формат</a:t>
            </a:r>
            <a:endParaRPr lang="en-US" sz="1100" dirty="0"/>
          </a:p>
        </p:txBody>
      </p:sp>
      <p:sp>
        <p:nvSpPr>
          <p:cNvPr id="24" name="Shape 21"/>
          <p:cNvSpPr/>
          <p:nvPr/>
        </p:nvSpPr>
        <p:spPr>
          <a:xfrm>
            <a:off x="4069080" y="3657600"/>
            <a:ext cx="3108960" cy="1645920"/>
          </a:xfrm>
          <a:prstGeom prst="roundRect">
            <a:avLst>
              <a:gd name="adj" fmla="val 4444"/>
            </a:avLst>
          </a:prstGeom>
          <a:solidFill>
            <a:srgbClr val="FFFFFF"/>
          </a:solidFill>
          <a:ln w="12700">
            <a:solidFill>
              <a:srgbClr val="D6D6D6"/>
            </a:solidFill>
            <a:prstDash val="solid"/>
          </a:ln>
          <a:effectLst>
            <a:outerShdw sx="100000" sy="100000" kx="0" ky="0" algn="bl" rotWithShape="0" blurRad="12700" dist="3810" dir="2700000">
              <a:srgbClr val="000000">
                <a:alpha val="8000"/>
              </a:srgbClr>
            </a:outerShdw>
          </a:effectLst>
        </p:spPr>
        <p:txBody>
          <a:bodyPr/>
          <a:p/>
        </p:txBody>
      </p:sp>
      <p:sp>
        <p:nvSpPr>
          <p:cNvPr id="25" name="Shape 22"/>
          <p:cNvSpPr/>
          <p:nvPr/>
        </p:nvSpPr>
        <p:spPr>
          <a:xfrm>
            <a:off x="4087368" y="3675888"/>
            <a:ext cx="73152" cy="1609344"/>
          </a:xfrm>
          <a:prstGeom prst="rect">
            <a:avLst/>
          </a:prstGeom>
          <a:solidFill>
            <a:srgbClr val="FFFFFF"/>
          </a:solidFill>
          <a:ln w="12700">
            <a:solidFill>
              <a:srgbClr val="D6D6D6"/>
            </a:solidFill>
            <a:prstDash val="solid"/>
          </a:ln>
        </p:spPr>
        <p:txBody>
          <a:bodyPr/>
          <a:p/>
        </p:txBody>
      </p:sp>
      <p:sp>
        <p:nvSpPr>
          <p:cNvPr id="26" name="Text 23"/>
          <p:cNvSpPr/>
          <p:nvPr/>
        </p:nvSpPr>
        <p:spPr>
          <a:xfrm>
            <a:off x="4233672" y="3803904"/>
            <a:ext cx="2852928" cy="310896"/>
          </a:xfrm>
          <a:prstGeom prst="rect">
            <a:avLst/>
          </a:prstGeom>
          <a:solidFill>
            <a:srgbClr val="FFFFFF"/>
          </a:solidFill>
          <a:ln w="12700">
            <a:solidFill>
              <a:srgbClr val="D6D6D6"/>
            </a:solidFill>
          </a:ln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0F0F0F"/>
                </a:solidFill>
                <a:latin typeface="Roboto Condensed" pitchFamily="34" charset="0"/>
                <a:ea typeface="Roboto Condensed" pitchFamily="34" charset="-122"/>
                <a:cs typeface="Roboto Condensed" pitchFamily="34" charset="-120"/>
              </a:rPr>
              <a:t>5. Прибыльность и решения</a:t>
            </a:r>
            <a:endParaRPr lang="en-US" sz="1800" dirty="0"/>
          </a:p>
        </p:txBody>
      </p:sp>
      <p:sp>
        <p:nvSpPr>
          <p:cNvPr id="27" name="Text 24"/>
          <p:cNvSpPr/>
          <p:nvPr/>
        </p:nvSpPr>
        <p:spPr>
          <a:xfrm>
            <a:off x="4233672" y="4169664"/>
            <a:ext cx="2852928" cy="987552"/>
          </a:xfrm>
          <a:prstGeom prst="rect">
            <a:avLst/>
          </a:prstGeom>
          <a:solidFill>
            <a:srgbClr val="FFFFFF"/>
          </a:solidFill>
          <a:ln w="12700">
            <a:solidFill>
              <a:srgbClr val="D6D6D6"/>
            </a:solidFill>
          </a:ln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800" dirty="0">
                <a:solidFill>
                  <a:srgbClr val="545454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маржа, unit-экономика, модель бизнеса и масштабирования</a:t>
            </a:r>
            <a:endParaRPr lang="en-US" sz="1100" dirty="0"/>
          </a:p>
        </p:txBody>
      </p:sp>
      <p:sp>
        <p:nvSpPr>
          <p:cNvPr id="28" name="Shape 25"/>
          <p:cNvSpPr/>
          <p:nvPr/>
        </p:nvSpPr>
        <p:spPr>
          <a:xfrm>
            <a:off x="7406640" y="3657600"/>
            <a:ext cx="3108960" cy="1645920"/>
          </a:xfrm>
          <a:prstGeom prst="roundRect">
            <a:avLst>
              <a:gd name="adj" fmla="val 4444"/>
            </a:avLst>
          </a:prstGeom>
          <a:solidFill>
            <a:srgbClr val="FFFFFF"/>
          </a:solidFill>
          <a:ln w="12700">
            <a:solidFill>
              <a:srgbClr val="D6D6D6"/>
            </a:solidFill>
            <a:prstDash val="solid"/>
          </a:ln>
          <a:effectLst>
            <a:outerShdw sx="100000" sy="100000" kx="0" ky="0" algn="bl" rotWithShape="0" blurRad="12700" dist="3810" dir="2700000">
              <a:srgbClr val="000000">
                <a:alpha val="8000"/>
              </a:srgbClr>
            </a:outerShdw>
          </a:effectLst>
        </p:spPr>
        <p:txBody>
          <a:bodyPr/>
          <a:p/>
        </p:txBody>
      </p:sp>
      <p:sp>
        <p:nvSpPr>
          <p:cNvPr id="29" name="Shape 26"/>
          <p:cNvSpPr/>
          <p:nvPr/>
        </p:nvSpPr>
        <p:spPr>
          <a:xfrm>
            <a:off x="7424928" y="3675888"/>
            <a:ext cx="73152" cy="1609344"/>
          </a:xfrm>
          <a:prstGeom prst="rect">
            <a:avLst/>
          </a:prstGeom>
          <a:solidFill>
            <a:srgbClr val="FFFFFF"/>
          </a:solidFill>
          <a:ln w="12700">
            <a:solidFill>
              <a:srgbClr val="D6D6D6"/>
            </a:solidFill>
            <a:prstDash val="solid"/>
          </a:ln>
        </p:spPr>
        <p:txBody>
          <a:bodyPr/>
          <a:p/>
        </p:txBody>
      </p:sp>
      <p:sp>
        <p:nvSpPr>
          <p:cNvPr id="30" name="Text 27"/>
          <p:cNvSpPr/>
          <p:nvPr/>
        </p:nvSpPr>
        <p:spPr>
          <a:xfrm>
            <a:off x="7571232" y="3803904"/>
            <a:ext cx="2852928" cy="310896"/>
          </a:xfrm>
          <a:prstGeom prst="rect">
            <a:avLst/>
          </a:prstGeom>
          <a:solidFill>
            <a:srgbClr val="FFFFFF"/>
          </a:solidFill>
          <a:ln w="12700">
            <a:solidFill>
              <a:srgbClr val="D6D6D6"/>
            </a:solidFill>
          </a:ln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0F0F0F"/>
                </a:solidFill>
                <a:latin typeface="Roboto Condensed" pitchFamily="34" charset="0"/>
                <a:ea typeface="Roboto Condensed" pitchFamily="34" charset="-122"/>
                <a:cs typeface="Roboto Condensed" pitchFamily="34" charset="-120"/>
              </a:rPr>
              <a:t>6. Группа / финансирование</a:t>
            </a:r>
            <a:endParaRPr lang="en-US" sz="1800" dirty="0"/>
          </a:p>
        </p:txBody>
      </p:sp>
      <p:sp>
        <p:nvSpPr>
          <p:cNvPr id="31" name="Text 28"/>
          <p:cNvSpPr/>
          <p:nvPr/>
        </p:nvSpPr>
        <p:spPr>
          <a:xfrm>
            <a:off x="7571232" y="4169664"/>
            <a:ext cx="2852928" cy="987552"/>
          </a:xfrm>
          <a:prstGeom prst="rect">
            <a:avLst/>
          </a:prstGeom>
          <a:solidFill>
            <a:srgbClr val="FFFFFF"/>
          </a:solidFill>
          <a:ln w="12700">
            <a:solidFill>
              <a:srgbClr val="D6D6D6"/>
            </a:solidFill>
          </a:ln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800" dirty="0">
                <a:solidFill>
                  <a:srgbClr val="545454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кредиты, due diligence, реструктуризация, временный CFO</a:t>
            </a:r>
            <a:endParaRPr lang="en-US" sz="11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164592"/>
          </a:xfrm>
          <a:prstGeom prst="rect">
            <a:avLst/>
          </a:prstGeom>
          <a:solidFill>
            <a:srgbClr val="FFFFFF"/>
          </a:solidFill>
          <a:ln w="12700">
            <a:solidFill>
              <a:srgbClr val="D6D6D6"/>
            </a:solidFill>
            <a:prstDash val="solid"/>
          </a:ln>
        </p:spPr>
        <p:txBody>
          <a:bodyPr/>
          <a:p/>
        </p:txBody>
      </p:sp>
      <p:sp>
        <p:nvSpPr>
          <p:cNvPr id="3" name="Text 1"/>
          <p:cNvSpPr/>
          <p:nvPr/>
        </p:nvSpPr>
        <p:spPr>
          <a:xfrm>
            <a:off x="594360" y="310896"/>
            <a:ext cx="8046720" cy="384048"/>
          </a:xfrm>
          <a:prstGeom prst="rect">
            <a:avLst/>
          </a:prstGeom>
          <a:solidFill>
            <a:srgbClr val="FFFFFF"/>
          </a:solidFill>
          <a:ln w="12700">
            <a:solidFill>
              <a:srgbClr val="D6D6D6"/>
            </a:solidFill>
          </a:ln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0F0F0F"/>
                </a:solidFill>
                <a:latin typeface="Roboto Condensed" pitchFamily="34" charset="0"/>
                <a:ea typeface="Roboto Condensed" pitchFamily="34" charset="-122"/>
                <a:cs typeface="Roboto Condensed" pitchFamily="34" charset="-120"/>
              </a:rPr>
              <a:t>ОТ ВЫЯВЛЕНИЯ ПРОБЛЕМЫ К ФИКСАЦИИ ПРАВИЛ</a:t>
            </a:r>
            <a:endParaRPr lang="en-US" sz="2600" dirty="0"/>
          </a:p>
        </p:txBody>
      </p:sp>
      <p:sp>
        <p:nvSpPr>
          <p:cNvPr id="4" name="Text 2"/>
          <p:cNvSpPr/>
          <p:nvPr/>
        </p:nvSpPr>
        <p:spPr>
          <a:xfrm>
            <a:off x="594360" y="722376"/>
            <a:ext cx="7589520" cy="201168"/>
          </a:xfrm>
          <a:prstGeom prst="rect">
            <a:avLst/>
          </a:prstGeom>
          <a:solidFill>
            <a:srgbClr val="FFFFFF"/>
          </a:solidFill>
          <a:ln w="12700">
            <a:solidFill>
              <a:srgbClr val="D6D6D6"/>
            </a:solidFill>
          </a:ln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545454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входной контур практики</a:t>
            </a:r>
            <a:endParaRPr lang="en-US" sz="950" dirty="0"/>
          </a:p>
        </p:txBody>
      </p:sp>
      <p:pic>
        <p:nvPicPr>
          <p:cNvPr id="5" name="Image 0" descr="/mnt/data/work/logo_crop_trans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343388" y="256032"/>
            <a:ext cx="938784" cy="502920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11475720" y="6473952"/>
            <a:ext cx="320040" cy="164592"/>
          </a:xfrm>
          <a:prstGeom prst="rect">
            <a:avLst/>
          </a:prstGeom>
          <a:solidFill>
            <a:srgbClr val="FFFFFF"/>
          </a:solidFill>
          <a:ln w="12700">
            <a:solidFill>
              <a:srgbClr val="D6D6D6"/>
            </a:solidFill>
          </a:ln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dirty="0" b="1">
                <a:solidFill>
                  <a:srgbClr val="84383E"/>
                </a:solidFill>
                <a:latin typeface="Roboto Condensed" pitchFamily="34" charset="0"/>
                <a:ea typeface="Roboto Condensed" pitchFamily="34" charset="-122"/>
                <a:cs typeface="Roboto Condensed" pitchFamily="34" charset="-120"/>
              </a:rPr>
              <a:t>06</a:t>
            </a:r>
            <a:endParaRPr lang="en-US" sz="1000" dirty="0"/>
          </a:p>
        </p:txBody>
      </p:sp>
      <p:sp>
        <p:nvSpPr>
          <p:cNvPr id="7" name="Shape 4"/>
          <p:cNvSpPr/>
          <p:nvPr/>
        </p:nvSpPr>
        <p:spPr>
          <a:xfrm>
            <a:off x="594360" y="932688"/>
            <a:ext cx="11018520" cy="0"/>
          </a:xfrm>
          <a:prstGeom prst="line">
            <a:avLst/>
          </a:prstGeom>
          <a:noFill/>
          <a:ln w="12700">
            <a:solidFill>
              <a:srgbClr val="D6D6D6"/>
            </a:solidFill>
            <a:prstDash val="solid"/>
          </a:ln>
        </p:spPr>
        <p:txBody>
          <a:bodyPr/>
          <a:p/>
        </p:txBody>
      </p:sp>
      <p:sp>
        <p:nvSpPr>
          <p:cNvPr id="8" name="Shape 5"/>
          <p:cNvSpPr/>
          <p:nvPr/>
        </p:nvSpPr>
        <p:spPr>
          <a:xfrm>
            <a:off x="777240" y="1325880"/>
            <a:ext cx="5166360" cy="4526280"/>
          </a:xfrm>
          <a:prstGeom prst="roundRect">
            <a:avLst>
              <a:gd name="adj" fmla="val 1616"/>
            </a:avLst>
          </a:prstGeom>
          <a:solidFill>
            <a:srgbClr val="FFFFFF"/>
          </a:solidFill>
          <a:ln w="12700">
            <a:solidFill>
              <a:srgbClr val="D6D6D6"/>
            </a:solidFill>
            <a:prstDash val="solid"/>
          </a:ln>
          <a:effectLst>
            <a:outerShdw sx="100000" sy="100000" kx="0" ky="0" algn="bl" rotWithShape="0" blurRad="12700" dist="3810" dir="2700000">
              <a:srgbClr val="000000">
                <a:alpha val="8000"/>
              </a:srgbClr>
            </a:outerShdw>
          </a:effectLst>
        </p:spPr>
        <p:txBody>
          <a:bodyPr/>
          <a:p/>
        </p:txBody>
      </p:sp>
      <p:sp>
        <p:nvSpPr>
          <p:cNvPr id="9" name="Shape 6"/>
          <p:cNvSpPr/>
          <p:nvPr/>
        </p:nvSpPr>
        <p:spPr>
          <a:xfrm>
            <a:off x="795528" y="1344168"/>
            <a:ext cx="73152" cy="4489704"/>
          </a:xfrm>
          <a:prstGeom prst="rect">
            <a:avLst/>
          </a:prstGeom>
          <a:solidFill>
            <a:srgbClr val="FFFFFF"/>
          </a:solidFill>
          <a:ln w="12700">
            <a:solidFill>
              <a:srgbClr val="D6D6D6"/>
            </a:solidFill>
            <a:prstDash val="solid"/>
          </a:ln>
        </p:spPr>
        <p:txBody>
          <a:bodyPr/>
          <a:p/>
        </p:txBody>
      </p:sp>
      <p:sp>
        <p:nvSpPr>
          <p:cNvPr id="10" name="Text 7"/>
          <p:cNvSpPr/>
          <p:nvPr/>
        </p:nvSpPr>
        <p:spPr>
          <a:xfrm>
            <a:off x="941832" y="1472184"/>
            <a:ext cx="4910328" cy="310896"/>
          </a:xfrm>
          <a:prstGeom prst="rect">
            <a:avLst/>
          </a:prstGeom>
          <a:solidFill>
            <a:srgbClr val="FFFFFF"/>
          </a:solidFill>
          <a:ln w="12700">
            <a:solidFill>
              <a:srgbClr val="D6D6D6"/>
            </a:solidFill>
          </a:ln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0F0F0F"/>
                </a:solidFill>
                <a:latin typeface="Roboto Condensed" pitchFamily="34" charset="0"/>
                <a:ea typeface="Roboto Condensed" pitchFamily="34" charset="-122"/>
                <a:cs typeface="Roboto Condensed" pitchFamily="34" charset="-120"/>
              </a:rPr>
              <a:t>Диагностика</a:t>
            </a:r>
            <a:endParaRPr lang="en-US" sz="1800" dirty="0"/>
          </a:p>
        </p:txBody>
      </p:sp>
      <p:sp>
        <p:nvSpPr>
          <p:cNvPr id="11" name="Text 8"/>
          <p:cNvSpPr/>
          <p:nvPr/>
        </p:nvSpPr>
        <p:spPr>
          <a:xfrm>
            <a:off x="941832" y="1837944"/>
            <a:ext cx="4910328" cy="3867912"/>
          </a:xfrm>
          <a:prstGeom prst="rect">
            <a:avLst/>
          </a:prstGeom>
          <a:solidFill>
            <a:srgbClr val="FFFFFF"/>
          </a:solidFill>
          <a:ln w="12700">
            <a:solidFill>
              <a:srgbClr val="D6D6D6"/>
            </a:solidFill>
          </a:ln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endParaRPr lang="en-US" sz="1100" dirty="0"/>
          </a:p>
        </p:txBody>
      </p:sp>
      <p:sp>
        <p:nvSpPr>
          <p:cNvPr id="12" name="Text 9"/>
          <p:cNvSpPr/>
          <p:nvPr/>
        </p:nvSpPr>
        <p:spPr>
          <a:xfrm>
            <a:off x="1097280" y="1901952"/>
            <a:ext cx="4526280" cy="3383280"/>
          </a:xfrm>
          <a:prstGeom prst="rect">
            <a:avLst/>
          </a:prstGeom>
          <a:solidFill>
            <a:srgbClr val="FFFFFF"/>
          </a:solidFill>
          <a:ln w="12700">
            <a:solidFill>
              <a:srgbClr val="D6D6D6"/>
            </a:solidFill>
          </a:ln>
        </p:spPr>
        <p:txBody>
          <a:bodyPr wrap="square" rtlCol="0" anchor="t"/>
          <a:lstStyle/>
          <a:p>
            <a:pPr marL="152400" indent="-152400">
              <a:buSzPct val="100000"/>
              <a:buChar char="•"/>
            </a:pPr>
            <a:r>
              <a:rPr lang="en-US" sz="1800" dirty="0">
                <a:solidFill>
                  <a:srgbClr val="545454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Финансовая диагностика бизнеса</a:t>
            </a:r>
            <a:pPr indent="0" marL="0">
              <a:buNone/>
            </a:pPr>
            <a:r>
              <a:rPr lang="en-US" sz="1600" dirty="0">
                <a:solidFill>
                  <a:srgbClr val="0F0F0F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
</a:t>
            </a:r>
            <a:endParaRPr lang="en-US" sz="1600" dirty="0"/>
          </a:p>
          <a:p>
            <a:pPr marL="152400" indent="-152400">
              <a:buSzPct val="100000"/>
              <a:buChar char="•"/>
            </a:pPr>
            <a:r>
              <a:rPr lang="en-US" sz="1800" dirty="0">
                <a:solidFill>
                  <a:srgbClr val="545454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Диагностика управленческого учета</a:t>
            </a:r>
            <a:pPr indent="0" marL="0">
              <a:buNone/>
            </a:pPr>
            <a:r>
              <a:rPr lang="en-US" sz="1600" dirty="0">
                <a:solidFill>
                  <a:srgbClr val="0F0F0F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
</a:t>
            </a:r>
            <a:endParaRPr lang="en-US" sz="1600" dirty="0"/>
          </a:p>
          <a:p>
            <a:pPr marL="152400" indent="-152400">
              <a:buSzPct val="100000"/>
              <a:buChar char="•"/>
            </a:pPr>
            <a:r>
              <a:rPr lang="en-US" sz="1800" dirty="0">
                <a:solidFill>
                  <a:srgbClr val="545454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Диагностика денежных потоков</a:t>
            </a:r>
            <a:pPr indent="0" marL="0">
              <a:buNone/>
            </a:pPr>
            <a:r>
              <a:rPr lang="en-US" sz="1600" dirty="0">
                <a:solidFill>
                  <a:srgbClr val="0F0F0F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
</a:t>
            </a:r>
            <a:endParaRPr lang="en-US" sz="1600" dirty="0"/>
          </a:p>
          <a:p>
            <a:pPr marL="152400" indent="-152400">
              <a:buSzPct val="100000"/>
              <a:buChar char="•"/>
            </a:pPr>
            <a:r>
              <a:rPr lang="en-US" sz="1800" dirty="0">
                <a:solidFill>
                  <a:srgbClr val="545454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Диагностика прибыльности</a:t>
            </a:r>
            <a:pPr indent="0" marL="0">
              <a:buNone/>
            </a:pPr>
            <a:r>
              <a:rPr lang="en-US" sz="1600" dirty="0">
                <a:solidFill>
                  <a:srgbClr val="0F0F0F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
</a:t>
            </a:r>
            <a:endParaRPr lang="en-US" sz="1600" dirty="0"/>
          </a:p>
          <a:p>
            <a:pPr marL="152400" indent="-152400">
              <a:buSzPct val="100000"/>
              <a:buChar char="•"/>
            </a:pPr>
            <a:r>
              <a:rPr lang="en-US" sz="1800" dirty="0">
                <a:solidFill>
                  <a:srgbClr val="545454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Диагностика расхождений между учетными контурами</a:t>
            </a:r>
            <a:endParaRPr lang="en-US" sz="1600" dirty="0"/>
          </a:p>
        </p:txBody>
      </p:sp>
      <p:sp>
        <p:nvSpPr>
          <p:cNvPr id="13" name="Shape 10"/>
          <p:cNvSpPr/>
          <p:nvPr/>
        </p:nvSpPr>
        <p:spPr>
          <a:xfrm>
            <a:off x="6245352" y="1325880"/>
            <a:ext cx="5166360" cy="4526280"/>
          </a:xfrm>
          <a:prstGeom prst="roundRect">
            <a:avLst>
              <a:gd name="adj" fmla="val 1616"/>
            </a:avLst>
          </a:prstGeom>
          <a:solidFill>
            <a:srgbClr val="FFFFFF"/>
          </a:solidFill>
          <a:ln w="12700">
            <a:solidFill>
              <a:srgbClr val="D6D6D6"/>
            </a:solidFill>
            <a:prstDash val="solid"/>
          </a:ln>
          <a:effectLst>
            <a:outerShdw sx="100000" sy="100000" kx="0" ky="0" algn="bl" rotWithShape="0" blurRad="12700" dist="3810" dir="2700000">
              <a:srgbClr val="000000">
                <a:alpha val="8000"/>
              </a:srgbClr>
            </a:outerShdw>
          </a:effectLst>
        </p:spPr>
        <p:txBody>
          <a:bodyPr/>
          <a:p/>
        </p:txBody>
      </p:sp>
      <p:sp>
        <p:nvSpPr>
          <p:cNvPr id="14" name="Shape 11"/>
          <p:cNvSpPr/>
          <p:nvPr/>
        </p:nvSpPr>
        <p:spPr>
          <a:xfrm>
            <a:off x="6263640" y="1344168"/>
            <a:ext cx="73152" cy="4489704"/>
          </a:xfrm>
          <a:prstGeom prst="rect">
            <a:avLst/>
          </a:prstGeom>
          <a:solidFill>
            <a:srgbClr val="FFFFFF"/>
          </a:solidFill>
          <a:ln w="12700">
            <a:solidFill>
              <a:srgbClr val="D6D6D6"/>
            </a:solidFill>
            <a:prstDash val="solid"/>
          </a:ln>
        </p:spPr>
        <p:txBody>
          <a:bodyPr/>
          <a:p/>
        </p:txBody>
      </p:sp>
      <p:sp>
        <p:nvSpPr>
          <p:cNvPr id="15" name="Text 12"/>
          <p:cNvSpPr/>
          <p:nvPr/>
        </p:nvSpPr>
        <p:spPr>
          <a:xfrm>
            <a:off x="6409944" y="1472184"/>
            <a:ext cx="4910328" cy="310896"/>
          </a:xfrm>
          <a:prstGeom prst="rect">
            <a:avLst/>
          </a:prstGeom>
          <a:solidFill>
            <a:srgbClr val="FFFFFF"/>
          </a:solidFill>
          <a:ln w="12700">
            <a:solidFill>
              <a:srgbClr val="D6D6D6"/>
            </a:solidFill>
          </a:ln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0F0F0F"/>
                </a:solidFill>
                <a:latin typeface="Roboto Condensed" pitchFamily="34" charset="0"/>
                <a:ea typeface="Roboto Condensed" pitchFamily="34" charset="-122"/>
                <a:cs typeface="Roboto Condensed" pitchFamily="34" charset="-120"/>
              </a:rPr>
              <a:t>Методология</a:t>
            </a:r>
            <a:endParaRPr lang="en-US" sz="1800" dirty="0"/>
          </a:p>
        </p:txBody>
      </p:sp>
      <p:sp>
        <p:nvSpPr>
          <p:cNvPr id="16" name="Text 13"/>
          <p:cNvSpPr/>
          <p:nvPr/>
        </p:nvSpPr>
        <p:spPr>
          <a:xfrm>
            <a:off x="6409944" y="1837944"/>
            <a:ext cx="4910328" cy="3867912"/>
          </a:xfrm>
          <a:prstGeom prst="rect">
            <a:avLst/>
          </a:prstGeom>
          <a:solidFill>
            <a:srgbClr val="FFFFFF"/>
          </a:solidFill>
          <a:ln w="12700">
            <a:solidFill>
              <a:srgbClr val="D6D6D6"/>
            </a:solidFill>
          </a:ln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endParaRPr lang="en-US" sz="1100" dirty="0"/>
          </a:p>
        </p:txBody>
      </p:sp>
      <p:sp>
        <p:nvSpPr>
          <p:cNvPr id="17" name="Text 14"/>
          <p:cNvSpPr/>
          <p:nvPr/>
        </p:nvSpPr>
        <p:spPr>
          <a:xfrm>
            <a:off x="6565392" y="1901952"/>
            <a:ext cx="4526280" cy="3383280"/>
          </a:xfrm>
          <a:prstGeom prst="rect">
            <a:avLst/>
          </a:prstGeom>
          <a:solidFill>
            <a:srgbClr val="FFFFFF"/>
          </a:solidFill>
          <a:ln w="12700">
            <a:solidFill>
              <a:srgbClr val="D6D6D6"/>
            </a:solidFill>
          </a:ln>
        </p:spPr>
        <p:txBody>
          <a:bodyPr wrap="square" rtlCol="0" anchor="t"/>
          <a:lstStyle/>
          <a:p>
            <a:pPr marL="152400" indent="-152400">
              <a:buSzPct val="100000"/>
              <a:buChar char="•"/>
            </a:pPr>
            <a:r>
              <a:rPr lang="en-US" sz="1800" dirty="0">
                <a:solidFill>
                  <a:srgbClr val="545454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Методология управленческого учета</a:t>
            </a:r>
            <a:pPr indent="0" marL="0">
              <a:buNone/>
            </a:pPr>
            <a:r>
              <a:rPr lang="en-US" sz="1600" dirty="0">
                <a:solidFill>
                  <a:srgbClr val="0F0F0F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
</a:t>
            </a:r>
            <a:endParaRPr lang="en-US" sz="1600" dirty="0"/>
          </a:p>
          <a:p>
            <a:pPr marL="152400" indent="-152400">
              <a:buSzPct val="100000"/>
              <a:buChar char="•"/>
            </a:pPr>
            <a:r>
              <a:rPr lang="en-US" sz="1800" dirty="0">
                <a:solidFill>
                  <a:srgbClr val="545454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Учетная политика управленческого учета</a:t>
            </a:r>
            <a:pPr indent="0" marL="0">
              <a:buNone/>
            </a:pPr>
            <a:r>
              <a:rPr lang="en-US" sz="1600" dirty="0">
                <a:solidFill>
                  <a:srgbClr val="0F0F0F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
</a:t>
            </a:r>
            <a:endParaRPr lang="en-US" sz="1600" dirty="0"/>
          </a:p>
          <a:p>
            <a:pPr marL="152400" indent="-152400">
              <a:buSzPct val="100000"/>
              <a:buChar char="•"/>
            </a:pPr>
            <a:r>
              <a:rPr lang="en-US" sz="1800" dirty="0">
                <a:solidFill>
                  <a:srgbClr val="545454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Регламент закрытия месяца</a:t>
            </a:r>
            <a:pPr indent="0" marL="0">
              <a:buNone/>
            </a:pPr>
            <a:r>
              <a:rPr lang="en-US" sz="1600" dirty="0">
                <a:solidFill>
                  <a:srgbClr val="0F0F0F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
</a:t>
            </a:r>
            <a:endParaRPr lang="en-US" sz="1600" dirty="0"/>
          </a:p>
          <a:p>
            <a:pPr marL="152400" indent="-152400">
              <a:buSzPct val="100000"/>
              <a:buChar char="•"/>
            </a:pPr>
            <a:r>
              <a:rPr lang="en-US" sz="1800" dirty="0">
                <a:solidFill>
                  <a:srgbClr val="545454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Мост между РСБУ, налоговым и управленческим учетом</a:t>
            </a:r>
            <a:pPr indent="0" marL="0">
              <a:buNone/>
            </a:pPr>
            <a:r>
              <a:rPr lang="en-US" sz="1600" dirty="0">
                <a:solidFill>
                  <a:srgbClr val="0F0F0F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
</a:t>
            </a:r>
            <a:endParaRPr lang="en-US" sz="1600" dirty="0"/>
          </a:p>
          <a:p>
            <a:pPr marL="152400" indent="-152400">
              <a:buSzPct val="100000"/>
              <a:buChar char="•"/>
            </a:pPr>
            <a:r>
              <a:rPr lang="en-US" sz="1800" dirty="0">
                <a:solidFill>
                  <a:srgbClr val="545454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Методология KPI и отчетности</a:t>
            </a:r>
            <a:endParaRPr lang="en-US" sz="1600" dirty="0"/>
          </a:p>
        </p:txBody>
      </p:sp>
      <p:sp>
        <p:nvSpPr>
          <p:cNvPr id="18" name="Text 15"/>
          <p:cNvSpPr/>
          <p:nvPr/>
        </p:nvSpPr>
        <p:spPr>
          <a:xfrm>
            <a:off x="914400" y="5989320"/>
            <a:ext cx="10332720" cy="256032"/>
          </a:xfrm>
          <a:prstGeom prst="rect">
            <a:avLst/>
          </a:prstGeom>
          <a:solidFill>
            <a:srgbClr val="FFFFFF"/>
          </a:solidFill>
          <a:ln w="12700">
            <a:solidFill>
              <a:srgbClr val="D6D6D6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545454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Сначала компания понимает, что не так. Затем фиксирует единые правила, по которым будут считаться цифры.</a:t>
            </a:r>
            <a:endParaRPr lang="en-US" sz="1450" dirty="0"/>
          </a:p>
        </p:txBody>
      </p:sp>
      <p:sp>
        <p:nvSpPr>
          <p:cNvPr id="19" name="Oval 18"/>
          <p:cNvSpPr/>
          <p:nvPr/>
        </p:nvSpPr>
        <p:spPr>
          <a:xfrm>
            <a:off x="594360" y="1417320"/>
            <a:ext cx="230428" cy="230428"/>
          </a:xfrm>
          <a:prstGeom prst="ellipse">
            <a:avLst/>
          </a:prstGeom>
          <a:noFill/>
          <a:ln w="22225">
            <a:solidFill>
              <a:srgbClr val="84383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 rot="2700000">
            <a:off x="767181" y="1602943"/>
            <a:ext cx="108813" cy="19202"/>
          </a:xfrm>
          <a:prstGeom prst="rect">
            <a:avLst/>
          </a:prstGeom>
          <a:solidFill>
            <a:srgbClr val="8438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Heart 20"/>
          <p:cNvSpPr/>
          <p:nvPr/>
        </p:nvSpPr>
        <p:spPr>
          <a:xfrm>
            <a:off x="1097280" y="1417320"/>
            <a:ext cx="304038" cy="304038"/>
          </a:xfrm>
          <a:prstGeom prst="heart">
            <a:avLst/>
          </a:prstGeom>
          <a:noFill/>
          <a:ln w="22225">
            <a:solidFill>
              <a:srgbClr val="84383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 rot="2700000">
            <a:off x="1193292" y="1615744"/>
            <a:ext cx="70408" cy="19202"/>
          </a:xfrm>
          <a:prstGeom prst="rect">
            <a:avLst/>
          </a:prstGeom>
          <a:solidFill>
            <a:srgbClr val="8438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 rot="18900000">
            <a:off x="1231696" y="1602943"/>
            <a:ext cx="108813" cy="19202"/>
          </a:xfrm>
          <a:prstGeom prst="rect">
            <a:avLst/>
          </a:prstGeom>
          <a:solidFill>
            <a:srgbClr val="8438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164592"/>
          </a:xfrm>
          <a:prstGeom prst="rect">
            <a:avLst/>
          </a:prstGeom>
          <a:solidFill>
            <a:srgbClr val="FFFFFF"/>
          </a:solidFill>
          <a:ln w="12700">
            <a:solidFill>
              <a:srgbClr val="D6D6D6"/>
            </a:solidFill>
            <a:prstDash val="solid"/>
          </a:ln>
        </p:spPr>
        <p:txBody>
          <a:bodyPr/>
          <a:p/>
        </p:txBody>
      </p:sp>
      <p:sp>
        <p:nvSpPr>
          <p:cNvPr id="3" name="Text 1"/>
          <p:cNvSpPr/>
          <p:nvPr/>
        </p:nvSpPr>
        <p:spPr>
          <a:xfrm>
            <a:off x="594360" y="310896"/>
            <a:ext cx="8046720" cy="384048"/>
          </a:xfrm>
          <a:prstGeom prst="rect">
            <a:avLst/>
          </a:prstGeom>
          <a:solidFill>
            <a:srgbClr val="FFFFFF"/>
          </a:solidFill>
          <a:ln w="12700">
            <a:solidFill>
              <a:srgbClr val="D6D6D6"/>
            </a:solidFill>
          </a:ln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0F0F0F"/>
                </a:solidFill>
                <a:latin typeface="Roboto Condensed" pitchFamily="34" charset="0"/>
                <a:ea typeface="Roboto Condensed" pitchFamily="34" charset="-122"/>
                <a:cs typeface="Roboto Condensed" pitchFamily="34" charset="-120"/>
              </a:rPr>
              <a:t>ОТ СИСТЕМЫ ОТЧЕТНОСТИ К РЕГУЛЯРНОМУ СОПРОВОЖДЕНИЮ</a:t>
            </a:r>
            <a:endParaRPr lang="en-US" sz="2600" dirty="0"/>
          </a:p>
        </p:txBody>
      </p:sp>
      <p:sp>
        <p:nvSpPr>
          <p:cNvPr id="4" name="Text 2"/>
          <p:cNvSpPr/>
          <p:nvPr/>
        </p:nvSpPr>
        <p:spPr>
          <a:xfrm>
            <a:off x="594360" y="722376"/>
            <a:ext cx="7589520" cy="201168"/>
          </a:xfrm>
          <a:prstGeom prst="rect">
            <a:avLst/>
          </a:prstGeom>
          <a:solidFill>
            <a:srgbClr val="FFFFFF"/>
          </a:solidFill>
          <a:ln w="12700">
            <a:solidFill>
              <a:srgbClr val="D6D6D6"/>
            </a:solidFill>
          </a:ln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545454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ядро проектной и recurring-выручки</a:t>
            </a:r>
            <a:endParaRPr lang="en-US" sz="950" dirty="0"/>
          </a:p>
        </p:txBody>
      </p:sp>
      <p:pic>
        <p:nvPicPr>
          <p:cNvPr id="5" name="Image 0" descr="/mnt/data/work/logo_crop_trans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343388" y="256032"/>
            <a:ext cx="938784" cy="502920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11475720" y="6473952"/>
            <a:ext cx="320040" cy="164592"/>
          </a:xfrm>
          <a:prstGeom prst="rect">
            <a:avLst/>
          </a:prstGeom>
          <a:solidFill>
            <a:srgbClr val="FFFFFF"/>
          </a:solidFill>
          <a:ln w="12700">
            <a:solidFill>
              <a:srgbClr val="D6D6D6"/>
            </a:solidFill>
          </a:ln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dirty="0" b="1">
                <a:solidFill>
                  <a:srgbClr val="84383E"/>
                </a:solidFill>
                <a:latin typeface="Roboto Condensed" pitchFamily="34" charset="0"/>
                <a:ea typeface="Roboto Condensed" pitchFamily="34" charset="-122"/>
                <a:cs typeface="Roboto Condensed" pitchFamily="34" charset="-120"/>
              </a:rPr>
              <a:t>07</a:t>
            </a:r>
            <a:endParaRPr lang="en-US" sz="1000" dirty="0"/>
          </a:p>
        </p:txBody>
      </p:sp>
      <p:sp>
        <p:nvSpPr>
          <p:cNvPr id="7" name="Shape 4"/>
          <p:cNvSpPr/>
          <p:nvPr/>
        </p:nvSpPr>
        <p:spPr>
          <a:xfrm>
            <a:off x="594360" y="932688"/>
            <a:ext cx="11018520" cy="0"/>
          </a:xfrm>
          <a:prstGeom prst="line">
            <a:avLst/>
          </a:prstGeom>
          <a:noFill/>
          <a:ln w="12700">
            <a:solidFill>
              <a:srgbClr val="D6D6D6"/>
            </a:solidFill>
            <a:prstDash val="solid"/>
          </a:ln>
        </p:spPr>
        <p:txBody>
          <a:bodyPr/>
          <a:p/>
        </p:txBody>
      </p:sp>
      <p:sp>
        <p:nvSpPr>
          <p:cNvPr id="8" name="Shape 5"/>
          <p:cNvSpPr/>
          <p:nvPr/>
        </p:nvSpPr>
        <p:spPr>
          <a:xfrm>
            <a:off x="713232" y="1389888"/>
            <a:ext cx="5394960" cy="4434840"/>
          </a:xfrm>
          <a:prstGeom prst="roundRect">
            <a:avLst>
              <a:gd name="adj" fmla="val 1649"/>
            </a:avLst>
          </a:prstGeom>
          <a:solidFill>
            <a:srgbClr val="FFFFFF"/>
          </a:solidFill>
          <a:ln w="12700">
            <a:solidFill>
              <a:srgbClr val="D6D6D6"/>
            </a:solidFill>
            <a:prstDash val="solid"/>
          </a:ln>
          <a:effectLst>
            <a:outerShdw sx="100000" sy="100000" kx="0" ky="0" algn="bl" rotWithShape="0" blurRad="12700" dist="3810" dir="2700000">
              <a:srgbClr val="000000">
                <a:alpha val="8000"/>
              </a:srgbClr>
            </a:outerShdw>
          </a:effectLst>
        </p:spPr>
        <p:txBody>
          <a:bodyPr/>
          <a:p/>
        </p:txBody>
      </p:sp>
      <p:sp>
        <p:nvSpPr>
          <p:cNvPr id="9" name="Shape 6"/>
          <p:cNvSpPr/>
          <p:nvPr/>
        </p:nvSpPr>
        <p:spPr>
          <a:xfrm>
            <a:off x="731520" y="1408176"/>
            <a:ext cx="73152" cy="4398264"/>
          </a:xfrm>
          <a:prstGeom prst="rect">
            <a:avLst/>
          </a:prstGeom>
          <a:solidFill>
            <a:srgbClr val="FFFFFF"/>
          </a:solidFill>
          <a:ln w="12700">
            <a:solidFill>
              <a:srgbClr val="D6D6D6"/>
            </a:solidFill>
            <a:prstDash val="solid"/>
          </a:ln>
        </p:spPr>
        <p:txBody>
          <a:bodyPr/>
          <a:p/>
        </p:txBody>
      </p:sp>
      <p:sp>
        <p:nvSpPr>
          <p:cNvPr id="10" name="Text 7"/>
          <p:cNvSpPr/>
          <p:nvPr/>
        </p:nvSpPr>
        <p:spPr>
          <a:xfrm>
            <a:off x="877824" y="1536192"/>
            <a:ext cx="5138928" cy="310896"/>
          </a:xfrm>
          <a:prstGeom prst="rect">
            <a:avLst/>
          </a:prstGeom>
          <a:solidFill>
            <a:srgbClr val="FFFFFF"/>
          </a:solidFill>
          <a:ln w="12700">
            <a:solidFill>
              <a:srgbClr val="D6D6D6"/>
            </a:solidFill>
          </a:ln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0F0F0F"/>
                </a:solidFill>
                <a:latin typeface="Roboto Condensed" pitchFamily="34" charset="0"/>
                <a:ea typeface="Roboto Condensed" pitchFamily="34" charset="-122"/>
                <a:cs typeface="Roboto Condensed" pitchFamily="34" charset="-120"/>
              </a:rPr>
              <a:t>Постановка и внедрение</a:t>
            </a:r>
            <a:endParaRPr lang="en-US" sz="1800" dirty="0"/>
          </a:p>
        </p:txBody>
      </p:sp>
      <p:sp>
        <p:nvSpPr>
          <p:cNvPr id="11" name="Text 8"/>
          <p:cNvSpPr/>
          <p:nvPr/>
        </p:nvSpPr>
        <p:spPr>
          <a:xfrm>
            <a:off x="877824" y="1901952"/>
            <a:ext cx="5138928" cy="3776472"/>
          </a:xfrm>
          <a:prstGeom prst="rect">
            <a:avLst/>
          </a:prstGeom>
          <a:solidFill>
            <a:srgbClr val="FFFFFF"/>
          </a:solidFill>
          <a:ln w="12700">
            <a:solidFill>
              <a:srgbClr val="D6D6D6"/>
            </a:solidFill>
          </a:ln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endParaRPr lang="en-US" sz="1100" dirty="0"/>
          </a:p>
        </p:txBody>
      </p:sp>
      <p:sp>
        <p:nvSpPr>
          <p:cNvPr id="12" name="Text 9"/>
          <p:cNvSpPr/>
          <p:nvPr/>
        </p:nvSpPr>
        <p:spPr>
          <a:xfrm>
            <a:off x="1060704" y="1901952"/>
            <a:ext cx="4645152" cy="3291840"/>
          </a:xfrm>
          <a:prstGeom prst="rect">
            <a:avLst/>
          </a:prstGeom>
          <a:solidFill>
            <a:srgbClr val="FFFFFF"/>
          </a:solidFill>
          <a:ln w="12700">
            <a:solidFill>
              <a:srgbClr val="D6D6D6"/>
            </a:solidFill>
          </a:ln>
        </p:spPr>
        <p:txBody>
          <a:bodyPr wrap="square" rtlCol="0" anchor="t"/>
          <a:lstStyle/>
          <a:p>
            <a:pPr marL="152400" indent="-152400">
              <a:buSzPct val="100000"/>
              <a:buChar char="•"/>
            </a:pPr>
            <a:r>
              <a:rPr lang="en-US" sz="1800" dirty="0">
                <a:solidFill>
                  <a:srgbClr val="545454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Управленческий учет</a:t>
            </a:r>
            <a:pPr indent="0" marL="0">
              <a:buNone/>
            </a:pPr>
            <a:r>
              <a:rPr lang="en-US" sz="1600" dirty="0">
                <a:solidFill>
                  <a:srgbClr val="0F0F0F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
</a:t>
            </a:r>
            <a:endParaRPr lang="en-US" sz="1600" dirty="0"/>
          </a:p>
          <a:p>
            <a:pPr marL="152400" indent="-152400">
              <a:buSzPct val="100000"/>
              <a:buChar char="•"/>
            </a:pPr>
            <a:r>
              <a:rPr lang="en-US" sz="1800" dirty="0">
                <a:solidFill>
                  <a:srgbClr val="545454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P&amp;L / БДДС / баланс</a:t>
            </a:r>
            <a:pPr indent="0" marL="0">
              <a:buNone/>
            </a:pPr>
            <a:r>
              <a:rPr lang="en-US" sz="1600" dirty="0">
                <a:solidFill>
                  <a:srgbClr val="0F0F0F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
</a:t>
            </a:r>
            <a:endParaRPr lang="en-US" sz="1600" dirty="0"/>
          </a:p>
          <a:p>
            <a:pPr marL="152400" indent="-152400">
              <a:buSzPct val="100000"/>
              <a:buChar char="•"/>
            </a:pPr>
            <a:r>
              <a:rPr lang="en-US" sz="1800" dirty="0">
                <a:solidFill>
                  <a:srgbClr val="545454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Панель собственника</a:t>
            </a:r>
            <a:pPr indent="0" marL="0">
              <a:buNone/>
            </a:pPr>
            <a:r>
              <a:rPr lang="en-US" sz="1600" dirty="0">
                <a:solidFill>
                  <a:srgbClr val="0F0F0F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
</a:t>
            </a:r>
            <a:endParaRPr lang="en-US" sz="1600" dirty="0"/>
          </a:p>
          <a:p>
            <a:pPr marL="152400" indent="-152400">
              <a:buSzPct val="100000"/>
              <a:buChar char="•"/>
            </a:pPr>
            <a:r>
              <a:rPr lang="en-US" sz="1800" dirty="0">
                <a:solidFill>
                  <a:srgbClr val="545454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Бюджетирование и казначейство</a:t>
            </a:r>
            <a:pPr indent="0" marL="0">
              <a:buNone/>
            </a:pPr>
            <a:r>
              <a:rPr lang="en-US" sz="1600" dirty="0">
                <a:solidFill>
                  <a:srgbClr val="0F0F0F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
</a:t>
            </a:r>
            <a:endParaRPr lang="en-US" sz="1600" dirty="0"/>
          </a:p>
          <a:p>
            <a:pPr marL="152400" indent="-152400">
              <a:buSzPct val="100000"/>
              <a:buChar char="•"/>
            </a:pPr>
            <a:r>
              <a:rPr lang="en-US" sz="1800" dirty="0">
                <a:solidFill>
                  <a:srgbClr val="545454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Консолидация</a:t>
            </a:r>
            <a:pPr indent="0" marL="0">
              <a:buNone/>
            </a:pPr>
            <a:r>
              <a:rPr lang="en-US" sz="1600" dirty="0">
                <a:solidFill>
                  <a:srgbClr val="0F0F0F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
</a:t>
            </a:r>
            <a:endParaRPr lang="en-US" sz="1600" dirty="0"/>
          </a:p>
          <a:p>
            <a:pPr marL="152400" indent="-152400">
              <a:buSzPct val="100000"/>
              <a:buChar char="•"/>
            </a:pPr>
            <a:r>
              <a:rPr lang="en-US" sz="1800" dirty="0">
                <a:solidFill>
                  <a:srgbClr val="545454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Автоматизация отчетности</a:t>
            </a:r>
            <a:endParaRPr lang="en-US" sz="1600" dirty="0"/>
          </a:p>
        </p:txBody>
      </p:sp>
      <p:sp>
        <p:nvSpPr>
          <p:cNvPr id="13" name="Shape 10"/>
          <p:cNvSpPr/>
          <p:nvPr/>
        </p:nvSpPr>
        <p:spPr>
          <a:xfrm>
            <a:off x="6254496" y="3026664"/>
            <a:ext cx="201168" cy="201168"/>
          </a:xfrm>
          <a:prstGeom prst="chevron">
            <a:avLst/>
          </a:prstGeom>
          <a:solidFill>
            <a:srgbClr val="D6D6D6"/>
          </a:solidFill>
          <a:ln w="12700">
            <a:solidFill>
              <a:srgbClr val="D6D6D6"/>
            </a:solidFill>
            <a:prstDash val="solid"/>
          </a:ln>
        </p:spPr>
        <p:txBody>
          <a:bodyPr/>
          <a:p/>
        </p:txBody>
      </p:sp>
      <p:sp>
        <p:nvSpPr>
          <p:cNvPr id="14" name="Shape 11"/>
          <p:cNvSpPr/>
          <p:nvPr/>
        </p:nvSpPr>
        <p:spPr>
          <a:xfrm>
            <a:off x="6656832" y="1389888"/>
            <a:ext cx="4828032" cy="4434840"/>
          </a:xfrm>
          <a:prstGeom prst="roundRect">
            <a:avLst>
              <a:gd name="adj" fmla="val 1649"/>
            </a:avLst>
          </a:prstGeom>
          <a:solidFill>
            <a:srgbClr val="FFFFFF"/>
          </a:solidFill>
          <a:ln w="12700">
            <a:solidFill>
              <a:srgbClr val="D6D6D6"/>
            </a:solidFill>
            <a:prstDash val="solid"/>
          </a:ln>
          <a:effectLst>
            <a:outerShdw sx="100000" sy="100000" kx="0" ky="0" algn="bl" rotWithShape="0" blurRad="12700" dist="3810" dir="2700000">
              <a:srgbClr val="000000">
                <a:alpha val="8000"/>
              </a:srgbClr>
            </a:outerShdw>
          </a:effectLst>
        </p:spPr>
        <p:txBody>
          <a:bodyPr/>
          <a:p/>
        </p:txBody>
      </p:sp>
      <p:sp>
        <p:nvSpPr>
          <p:cNvPr id="15" name="Shape 12"/>
          <p:cNvSpPr/>
          <p:nvPr/>
        </p:nvSpPr>
        <p:spPr>
          <a:xfrm>
            <a:off x="6675120" y="1408176"/>
            <a:ext cx="73152" cy="4398264"/>
          </a:xfrm>
          <a:prstGeom prst="rect">
            <a:avLst/>
          </a:prstGeom>
          <a:solidFill>
            <a:srgbClr val="FFFFFF"/>
          </a:solidFill>
          <a:ln w="12700">
            <a:solidFill>
              <a:srgbClr val="D6D6D6"/>
            </a:solidFill>
            <a:prstDash val="solid"/>
          </a:ln>
        </p:spPr>
        <p:txBody>
          <a:bodyPr/>
          <a:p/>
        </p:txBody>
      </p:sp>
      <p:sp>
        <p:nvSpPr>
          <p:cNvPr id="16" name="Text 13"/>
          <p:cNvSpPr/>
          <p:nvPr/>
        </p:nvSpPr>
        <p:spPr>
          <a:xfrm>
            <a:off x="6821424" y="1536192"/>
            <a:ext cx="4572000" cy="310896"/>
          </a:xfrm>
          <a:prstGeom prst="rect">
            <a:avLst/>
          </a:prstGeom>
          <a:solidFill>
            <a:srgbClr val="FFFFFF"/>
          </a:solidFill>
          <a:ln w="12700">
            <a:solidFill>
              <a:srgbClr val="D6D6D6"/>
            </a:solidFill>
          </a:ln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0F0F0F"/>
                </a:solidFill>
                <a:latin typeface="Roboto Condensed" pitchFamily="34" charset="0"/>
                <a:ea typeface="Roboto Condensed" pitchFamily="34" charset="-122"/>
                <a:cs typeface="Roboto Condensed" pitchFamily="34" charset="-120"/>
              </a:rPr>
              <a:t>Контроль и сопровождение</a:t>
            </a:r>
            <a:endParaRPr lang="en-US" sz="1800" dirty="0"/>
          </a:p>
        </p:txBody>
      </p:sp>
      <p:sp>
        <p:nvSpPr>
          <p:cNvPr id="17" name="Text 14"/>
          <p:cNvSpPr/>
          <p:nvPr/>
        </p:nvSpPr>
        <p:spPr>
          <a:xfrm>
            <a:off x="6821424" y="1901952"/>
            <a:ext cx="4572000" cy="3776472"/>
          </a:xfrm>
          <a:prstGeom prst="rect">
            <a:avLst/>
          </a:prstGeom>
          <a:solidFill>
            <a:srgbClr val="FFFFFF"/>
          </a:solidFill>
          <a:ln w="12700">
            <a:solidFill>
              <a:srgbClr val="D6D6D6"/>
            </a:solidFill>
          </a:ln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endParaRPr lang="en-US" sz="1100" dirty="0"/>
          </a:p>
        </p:txBody>
      </p:sp>
      <p:sp>
        <p:nvSpPr>
          <p:cNvPr id="18" name="Text 15"/>
          <p:cNvSpPr/>
          <p:nvPr/>
        </p:nvSpPr>
        <p:spPr>
          <a:xfrm>
            <a:off x="6976872" y="1901952"/>
            <a:ext cx="4187952" cy="3291840"/>
          </a:xfrm>
          <a:prstGeom prst="rect">
            <a:avLst/>
          </a:prstGeom>
          <a:solidFill>
            <a:srgbClr val="FFFFFF"/>
          </a:solidFill>
          <a:ln w="12700">
            <a:solidFill>
              <a:srgbClr val="D6D6D6"/>
            </a:solidFill>
          </a:ln>
        </p:spPr>
        <p:txBody>
          <a:bodyPr wrap="square" rtlCol="0" anchor="t"/>
          <a:lstStyle/>
          <a:p>
            <a:pPr marL="152400" indent="-152400">
              <a:buSzPct val="100000"/>
              <a:buChar char="•"/>
            </a:pPr>
            <a:r>
              <a:rPr lang="en-US" sz="1800" dirty="0">
                <a:solidFill>
                  <a:srgbClr val="545454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Внешний финансовый директор</a:t>
            </a:r>
            <a:pPr indent="0" marL="0">
              <a:buNone/>
            </a:pPr>
            <a:r>
              <a:rPr lang="en-US" sz="1600" dirty="0">
                <a:solidFill>
                  <a:srgbClr val="0F0F0F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
</a:t>
            </a:r>
            <a:endParaRPr lang="en-US" sz="1600" dirty="0"/>
          </a:p>
          <a:p>
            <a:pPr marL="152400" indent="-152400">
              <a:buSzPct val="100000"/>
              <a:buChar char="•"/>
            </a:pPr>
            <a:r>
              <a:rPr lang="en-US" sz="1800" dirty="0">
                <a:solidFill>
                  <a:srgbClr val="545454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Внешний финансовый контролер</a:t>
            </a:r>
            <a:pPr indent="0" marL="0">
              <a:buNone/>
            </a:pPr>
            <a:r>
              <a:rPr lang="en-US" sz="1600" dirty="0">
                <a:solidFill>
                  <a:srgbClr val="0F0F0F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
</a:t>
            </a:r>
            <a:endParaRPr lang="en-US" sz="1600" dirty="0"/>
          </a:p>
          <a:p>
            <a:pPr marL="152400" indent="-152400">
              <a:buSzPct val="100000"/>
              <a:buChar char="•"/>
            </a:pPr>
            <a:r>
              <a:rPr lang="en-US" sz="1800" dirty="0">
                <a:solidFill>
                  <a:srgbClr val="545454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Ежемесячный финансовый обзор</a:t>
            </a:r>
            <a:pPr indent="0" marL="0">
              <a:buNone/>
            </a:pPr>
            <a:r>
              <a:rPr lang="en-US" sz="1600" dirty="0">
                <a:solidFill>
                  <a:srgbClr val="0F0F0F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
</a:t>
            </a:r>
            <a:endParaRPr lang="en-US" sz="1600" dirty="0"/>
          </a:p>
          <a:p>
            <a:pPr marL="152400" indent="-152400">
              <a:buSzPct val="100000"/>
              <a:buChar char="•"/>
            </a:pPr>
            <a:r>
              <a:rPr lang="en-US" sz="1800" dirty="0">
                <a:solidFill>
                  <a:srgbClr val="545454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Cash-flow review</a:t>
            </a:r>
            <a:pPr indent="0" marL="0">
              <a:buNone/>
            </a:pPr>
            <a:r>
              <a:rPr lang="en-US" sz="1600" dirty="0">
                <a:solidFill>
                  <a:srgbClr val="0F0F0F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
</a:t>
            </a:r>
            <a:endParaRPr lang="en-US" sz="1600" dirty="0"/>
          </a:p>
          <a:p>
            <a:pPr marL="152400" indent="-152400">
              <a:buSzPct val="100000"/>
              <a:buChar char="•"/>
            </a:pPr>
            <a:r>
              <a:rPr lang="en-US" sz="1800" dirty="0">
                <a:solidFill>
                  <a:srgbClr val="545454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Profitability review</a:t>
            </a:r>
            <a:pPr indent="0" marL="0">
              <a:buNone/>
            </a:pPr>
            <a:r>
              <a:rPr lang="en-US" sz="1600" dirty="0">
                <a:solidFill>
                  <a:srgbClr val="0F0F0F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
</a:t>
            </a:r>
            <a:endParaRPr lang="en-US" sz="1600" dirty="0"/>
          </a:p>
          <a:p>
            <a:pPr marL="152400" indent="-152400">
              <a:buSzPct val="100000"/>
              <a:buChar char="•"/>
            </a:pPr>
            <a:r>
              <a:rPr lang="en-US" sz="1800" dirty="0">
                <a:solidFill>
                  <a:srgbClr val="545454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Бюджетный комитет на аутсорсе</a:t>
            </a:r>
            <a:endParaRPr lang="en-US" sz="1600" dirty="0"/>
          </a:p>
        </p:txBody>
      </p:sp>
      <p:sp>
        <p:nvSpPr>
          <p:cNvPr id="19" name="Text 16"/>
          <p:cNvSpPr/>
          <p:nvPr/>
        </p:nvSpPr>
        <p:spPr>
          <a:xfrm>
            <a:off x="3017520" y="5989320"/>
            <a:ext cx="6217920" cy="256032"/>
          </a:xfrm>
          <a:prstGeom prst="rect">
            <a:avLst/>
          </a:prstGeom>
          <a:solidFill>
            <a:srgbClr val="FFFFFF"/>
          </a:solidFill>
          <a:ln w="12700">
            <a:solidFill>
              <a:srgbClr val="D6D6D6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545454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Логика продажи: проект → результат → регулярное сопровождение</a:t>
            </a:r>
            <a:endParaRPr lang="en-US" sz="1450" dirty="0"/>
          </a:p>
        </p:txBody>
      </p:sp>
      <p:sp>
        <p:nvSpPr>
          <p:cNvPr id="20" name="Oval 19"/>
          <p:cNvSpPr/>
          <p:nvPr/>
        </p:nvSpPr>
        <p:spPr>
          <a:xfrm>
            <a:off x="594360" y="1417320"/>
            <a:ext cx="230428" cy="230428"/>
          </a:xfrm>
          <a:prstGeom prst="ellipse">
            <a:avLst/>
          </a:prstGeom>
          <a:noFill/>
          <a:ln w="22225">
            <a:solidFill>
              <a:srgbClr val="84383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 rot="2700000">
            <a:off x="767181" y="1602943"/>
            <a:ext cx="108813" cy="19202"/>
          </a:xfrm>
          <a:prstGeom prst="rect">
            <a:avLst/>
          </a:prstGeom>
          <a:solidFill>
            <a:srgbClr val="8438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Heart 21"/>
          <p:cNvSpPr/>
          <p:nvPr/>
        </p:nvSpPr>
        <p:spPr>
          <a:xfrm>
            <a:off x="1097280" y="1417320"/>
            <a:ext cx="304038" cy="304038"/>
          </a:xfrm>
          <a:prstGeom prst="heart">
            <a:avLst/>
          </a:prstGeom>
          <a:noFill/>
          <a:ln w="22225">
            <a:solidFill>
              <a:srgbClr val="84383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 rot="2700000">
            <a:off x="1193292" y="1615744"/>
            <a:ext cx="70408" cy="19202"/>
          </a:xfrm>
          <a:prstGeom prst="rect">
            <a:avLst/>
          </a:prstGeom>
          <a:solidFill>
            <a:srgbClr val="8438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ectangle 23"/>
          <p:cNvSpPr/>
          <p:nvPr/>
        </p:nvSpPr>
        <p:spPr>
          <a:xfrm rot="18900000">
            <a:off x="1231696" y="1602943"/>
            <a:ext cx="108813" cy="19202"/>
          </a:xfrm>
          <a:prstGeom prst="rect">
            <a:avLst/>
          </a:prstGeom>
          <a:solidFill>
            <a:srgbClr val="8438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164592"/>
          </a:xfrm>
          <a:prstGeom prst="rect">
            <a:avLst/>
          </a:prstGeom>
          <a:solidFill>
            <a:srgbClr val="FFFFFF"/>
          </a:solidFill>
          <a:ln w="12700">
            <a:solidFill>
              <a:srgbClr val="D6D6D6"/>
            </a:solidFill>
            <a:prstDash val="solid"/>
          </a:ln>
        </p:spPr>
        <p:txBody>
          <a:bodyPr/>
          <a:p/>
        </p:txBody>
      </p:sp>
      <p:sp>
        <p:nvSpPr>
          <p:cNvPr id="3" name="Text 1"/>
          <p:cNvSpPr/>
          <p:nvPr/>
        </p:nvSpPr>
        <p:spPr>
          <a:xfrm>
            <a:off x="594360" y="310896"/>
            <a:ext cx="8046720" cy="384048"/>
          </a:xfrm>
          <a:prstGeom prst="rect">
            <a:avLst/>
          </a:prstGeom>
          <a:solidFill>
            <a:srgbClr val="FFFFFF"/>
          </a:solidFill>
          <a:ln w="12700">
            <a:solidFill>
              <a:srgbClr val="D6D6D6"/>
            </a:solidFill>
          </a:ln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0F0F0F"/>
                </a:solidFill>
                <a:latin typeface="Roboto Condensed" pitchFamily="34" charset="0"/>
                <a:ea typeface="Roboto Condensed" pitchFamily="34" charset="-122"/>
                <a:cs typeface="Roboto Condensed" pitchFamily="34" charset="-120"/>
              </a:rPr>
              <a:t>ПРОДУКТЫ С ВЫСОКИМ ЧЕКОМ И СТРАТЕГИЧЕСКОЙ ЦЕННОСТЬЮ</a:t>
            </a:r>
            <a:endParaRPr lang="en-US" sz="2600" dirty="0"/>
          </a:p>
        </p:txBody>
      </p:sp>
      <p:sp>
        <p:nvSpPr>
          <p:cNvPr id="4" name="Text 2"/>
          <p:cNvSpPr/>
          <p:nvPr/>
        </p:nvSpPr>
        <p:spPr>
          <a:xfrm>
            <a:off x="594360" y="722376"/>
            <a:ext cx="7589520" cy="201168"/>
          </a:xfrm>
          <a:prstGeom prst="rect">
            <a:avLst/>
          </a:prstGeom>
          <a:solidFill>
            <a:srgbClr val="FFFFFF"/>
          </a:solidFill>
          <a:ln w="12700">
            <a:solidFill>
              <a:srgbClr val="D6D6D6"/>
            </a:solidFill>
          </a:ln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545454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премиальный слой практики</a:t>
            </a:r>
            <a:endParaRPr lang="en-US" sz="950" dirty="0"/>
          </a:p>
        </p:txBody>
      </p:sp>
      <p:pic>
        <p:nvPicPr>
          <p:cNvPr id="5" name="Image 0" descr="/mnt/data/work/logo_crop_trans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343388" y="256032"/>
            <a:ext cx="938784" cy="502920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11475720" y="6473952"/>
            <a:ext cx="320040" cy="164592"/>
          </a:xfrm>
          <a:prstGeom prst="rect">
            <a:avLst/>
          </a:prstGeom>
          <a:solidFill>
            <a:srgbClr val="FFFFFF"/>
          </a:solidFill>
          <a:ln w="12700">
            <a:solidFill>
              <a:srgbClr val="D6D6D6"/>
            </a:solidFill>
          </a:ln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dirty="0" b="1">
                <a:solidFill>
                  <a:srgbClr val="84383E"/>
                </a:solidFill>
                <a:latin typeface="Roboto Condensed" pitchFamily="34" charset="0"/>
                <a:ea typeface="Roboto Condensed" pitchFamily="34" charset="-122"/>
                <a:cs typeface="Roboto Condensed" pitchFamily="34" charset="-120"/>
              </a:rPr>
              <a:t>08</a:t>
            </a:r>
            <a:endParaRPr lang="en-US" sz="1000" dirty="0"/>
          </a:p>
        </p:txBody>
      </p:sp>
      <p:sp>
        <p:nvSpPr>
          <p:cNvPr id="7" name="Shape 4"/>
          <p:cNvSpPr/>
          <p:nvPr/>
        </p:nvSpPr>
        <p:spPr>
          <a:xfrm>
            <a:off x="594360" y="932688"/>
            <a:ext cx="11018520" cy="0"/>
          </a:xfrm>
          <a:prstGeom prst="line">
            <a:avLst/>
          </a:prstGeom>
          <a:noFill/>
          <a:ln w="12700">
            <a:solidFill>
              <a:srgbClr val="D6D6D6"/>
            </a:solidFill>
            <a:prstDash val="solid"/>
          </a:ln>
        </p:spPr>
        <p:txBody>
          <a:bodyPr/>
          <a:p/>
        </p:txBody>
      </p:sp>
      <p:sp>
        <p:nvSpPr>
          <p:cNvPr id="8" name="Shape 5"/>
          <p:cNvSpPr/>
          <p:nvPr/>
        </p:nvSpPr>
        <p:spPr>
          <a:xfrm>
            <a:off x="822960" y="1417320"/>
            <a:ext cx="2697480" cy="1234440"/>
          </a:xfrm>
          <a:prstGeom prst="roundRect">
            <a:avLst>
              <a:gd name="adj" fmla="val 5926"/>
            </a:avLst>
          </a:prstGeom>
          <a:solidFill>
            <a:srgbClr val="FFFFFF"/>
          </a:solidFill>
          <a:ln w="12700">
            <a:solidFill>
              <a:srgbClr val="D6D6D6"/>
            </a:solidFill>
            <a:prstDash val="solid"/>
          </a:ln>
          <a:effectLst>
            <a:outerShdw sx="100000" sy="100000" kx="0" ky="0" algn="bl" rotWithShape="0" blurRad="12700" dist="3810" dir="2700000">
              <a:srgbClr val="000000">
                <a:alpha val="8000"/>
              </a:srgbClr>
            </a:outerShdw>
          </a:effectLst>
        </p:spPr>
        <p:txBody>
          <a:bodyPr/>
          <a:p/>
        </p:txBody>
      </p:sp>
      <p:sp>
        <p:nvSpPr>
          <p:cNvPr id="9" name="Shape 6"/>
          <p:cNvSpPr/>
          <p:nvPr/>
        </p:nvSpPr>
        <p:spPr>
          <a:xfrm>
            <a:off x="841248" y="1435608"/>
            <a:ext cx="73152" cy="1197864"/>
          </a:xfrm>
          <a:prstGeom prst="rect">
            <a:avLst/>
          </a:prstGeom>
          <a:solidFill>
            <a:srgbClr val="FFFFFF"/>
          </a:solidFill>
          <a:ln w="12700">
            <a:solidFill>
              <a:srgbClr val="D6D6D6"/>
            </a:solidFill>
            <a:prstDash val="solid"/>
          </a:ln>
        </p:spPr>
        <p:txBody>
          <a:bodyPr/>
          <a:p/>
        </p:txBody>
      </p:sp>
      <p:sp>
        <p:nvSpPr>
          <p:cNvPr id="10" name="Text 7"/>
          <p:cNvSpPr/>
          <p:nvPr/>
        </p:nvSpPr>
        <p:spPr>
          <a:xfrm>
            <a:off x="987552" y="1563624"/>
            <a:ext cx="2441448" cy="310896"/>
          </a:xfrm>
          <a:prstGeom prst="rect">
            <a:avLst/>
          </a:prstGeom>
          <a:solidFill>
            <a:srgbClr val="FFFFFF"/>
          </a:solidFill>
          <a:ln w="12700">
            <a:solidFill>
              <a:srgbClr val="D6D6D6"/>
            </a:solidFill>
          </a:ln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0F0F0F"/>
                </a:solidFill>
                <a:latin typeface="Roboto Condensed" pitchFamily="34" charset="0"/>
                <a:ea typeface="Roboto Condensed" pitchFamily="34" charset="-122"/>
                <a:cs typeface="Roboto Condensed" pitchFamily="34" charset="-120"/>
              </a:rPr>
              <a:t>Модель прибыльности</a:t>
            </a:r>
            <a:endParaRPr lang="en-US" sz="1800" dirty="0"/>
          </a:p>
        </p:txBody>
      </p:sp>
      <p:sp>
        <p:nvSpPr>
          <p:cNvPr id="11" name="Text 8"/>
          <p:cNvSpPr/>
          <p:nvPr/>
        </p:nvSpPr>
        <p:spPr>
          <a:xfrm>
            <a:off x="987552" y="1929384"/>
            <a:ext cx="2441448" cy="576072"/>
          </a:xfrm>
          <a:prstGeom prst="rect">
            <a:avLst/>
          </a:prstGeom>
          <a:solidFill>
            <a:srgbClr val="FFFFFF"/>
          </a:solidFill>
          <a:ln w="12700">
            <a:solidFill>
              <a:srgbClr val="D6D6D6"/>
            </a:solidFill>
          </a:ln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800" dirty="0">
                <a:solidFill>
                  <a:srgbClr val="545454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по направлениям, клиентам, SKU, проектам</a:t>
            </a:r>
            <a:endParaRPr lang="en-US" sz="1100" dirty="0"/>
          </a:p>
        </p:txBody>
      </p:sp>
      <p:sp>
        <p:nvSpPr>
          <p:cNvPr id="12" name="Shape 9"/>
          <p:cNvSpPr/>
          <p:nvPr/>
        </p:nvSpPr>
        <p:spPr>
          <a:xfrm>
            <a:off x="3977640" y="1417320"/>
            <a:ext cx="2697480" cy="1234440"/>
          </a:xfrm>
          <a:prstGeom prst="roundRect">
            <a:avLst>
              <a:gd name="adj" fmla="val 5926"/>
            </a:avLst>
          </a:prstGeom>
          <a:solidFill>
            <a:srgbClr val="FFFFFF"/>
          </a:solidFill>
          <a:ln w="12700">
            <a:solidFill>
              <a:srgbClr val="D6D6D6"/>
            </a:solidFill>
            <a:prstDash val="solid"/>
          </a:ln>
          <a:effectLst>
            <a:outerShdw sx="100000" sy="100000" kx="0" ky="0" algn="bl" rotWithShape="0" blurRad="12700" dist="3810" dir="2700000">
              <a:srgbClr val="000000">
                <a:alpha val="8000"/>
              </a:srgbClr>
            </a:outerShdw>
          </a:effectLst>
        </p:spPr>
        <p:txBody>
          <a:bodyPr/>
          <a:p/>
        </p:txBody>
      </p:sp>
      <p:sp>
        <p:nvSpPr>
          <p:cNvPr id="13" name="Shape 10"/>
          <p:cNvSpPr/>
          <p:nvPr/>
        </p:nvSpPr>
        <p:spPr>
          <a:xfrm>
            <a:off x="3995928" y="1435608"/>
            <a:ext cx="73152" cy="1197864"/>
          </a:xfrm>
          <a:prstGeom prst="rect">
            <a:avLst/>
          </a:prstGeom>
          <a:solidFill>
            <a:srgbClr val="FFFFFF"/>
          </a:solidFill>
          <a:ln w="12700">
            <a:solidFill>
              <a:srgbClr val="D6D6D6"/>
            </a:solidFill>
            <a:prstDash val="solid"/>
          </a:ln>
        </p:spPr>
        <p:txBody>
          <a:bodyPr/>
          <a:p/>
        </p:txBody>
      </p:sp>
      <p:sp>
        <p:nvSpPr>
          <p:cNvPr id="14" name="Text 11"/>
          <p:cNvSpPr/>
          <p:nvPr/>
        </p:nvSpPr>
        <p:spPr>
          <a:xfrm>
            <a:off x="4142232" y="1563624"/>
            <a:ext cx="2441448" cy="310896"/>
          </a:xfrm>
          <a:prstGeom prst="rect">
            <a:avLst/>
          </a:prstGeom>
          <a:solidFill>
            <a:srgbClr val="FFFFFF"/>
          </a:solidFill>
          <a:ln w="12700">
            <a:solidFill>
              <a:srgbClr val="D6D6D6"/>
            </a:solidFill>
          </a:ln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0F0F0F"/>
                </a:solidFill>
                <a:latin typeface="Roboto Condensed" pitchFamily="34" charset="0"/>
                <a:ea typeface="Roboto Condensed" pitchFamily="34" charset="-122"/>
                <a:cs typeface="Roboto Condensed" pitchFamily="34" charset="-120"/>
              </a:rPr>
              <a:t>Unit-экономика</a:t>
            </a:r>
            <a:endParaRPr lang="en-US" sz="1800" dirty="0"/>
          </a:p>
        </p:txBody>
      </p:sp>
      <p:sp>
        <p:nvSpPr>
          <p:cNvPr id="15" name="Text 12"/>
          <p:cNvSpPr/>
          <p:nvPr/>
        </p:nvSpPr>
        <p:spPr>
          <a:xfrm>
            <a:off x="4142232" y="1929384"/>
            <a:ext cx="2441448" cy="576072"/>
          </a:xfrm>
          <a:prstGeom prst="rect">
            <a:avLst/>
          </a:prstGeom>
          <a:solidFill>
            <a:srgbClr val="FFFFFF"/>
          </a:solidFill>
          <a:ln w="12700">
            <a:solidFill>
              <a:srgbClr val="D6D6D6"/>
            </a:solidFill>
          </a:ln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800" dirty="0">
                <a:solidFill>
                  <a:srgbClr val="545454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доходность единицы продукта, сделки, заказа</a:t>
            </a:r>
            <a:endParaRPr lang="en-US" sz="1100" dirty="0"/>
          </a:p>
        </p:txBody>
      </p:sp>
      <p:sp>
        <p:nvSpPr>
          <p:cNvPr id="16" name="Shape 13"/>
          <p:cNvSpPr/>
          <p:nvPr/>
        </p:nvSpPr>
        <p:spPr>
          <a:xfrm>
            <a:off x="7132320" y="1417320"/>
            <a:ext cx="2697480" cy="1234440"/>
          </a:xfrm>
          <a:prstGeom prst="roundRect">
            <a:avLst>
              <a:gd name="adj" fmla="val 5926"/>
            </a:avLst>
          </a:prstGeom>
          <a:solidFill>
            <a:srgbClr val="FFFFFF"/>
          </a:solidFill>
          <a:ln w="12700">
            <a:solidFill>
              <a:srgbClr val="D6D6D6"/>
            </a:solidFill>
            <a:prstDash val="solid"/>
          </a:ln>
          <a:effectLst>
            <a:outerShdw sx="100000" sy="100000" kx="0" ky="0" algn="bl" rotWithShape="0" blurRad="12700" dist="3810" dir="2700000">
              <a:srgbClr val="000000">
                <a:alpha val="8000"/>
              </a:srgbClr>
            </a:outerShdw>
          </a:effectLst>
        </p:spPr>
        <p:txBody>
          <a:bodyPr/>
          <a:p/>
        </p:txBody>
      </p:sp>
      <p:sp>
        <p:nvSpPr>
          <p:cNvPr id="17" name="Shape 14"/>
          <p:cNvSpPr/>
          <p:nvPr/>
        </p:nvSpPr>
        <p:spPr>
          <a:xfrm>
            <a:off x="7150608" y="1435608"/>
            <a:ext cx="73152" cy="1197864"/>
          </a:xfrm>
          <a:prstGeom prst="rect">
            <a:avLst/>
          </a:prstGeom>
          <a:solidFill>
            <a:srgbClr val="FFFFFF"/>
          </a:solidFill>
          <a:ln w="12700">
            <a:solidFill>
              <a:srgbClr val="D6D6D6"/>
            </a:solidFill>
            <a:prstDash val="solid"/>
          </a:ln>
        </p:spPr>
        <p:txBody>
          <a:bodyPr/>
          <a:p/>
        </p:txBody>
      </p:sp>
      <p:sp>
        <p:nvSpPr>
          <p:cNvPr id="18" name="Text 15"/>
          <p:cNvSpPr/>
          <p:nvPr/>
        </p:nvSpPr>
        <p:spPr>
          <a:xfrm>
            <a:off x="7296912" y="1563624"/>
            <a:ext cx="2441448" cy="310896"/>
          </a:xfrm>
          <a:prstGeom prst="rect">
            <a:avLst/>
          </a:prstGeom>
          <a:solidFill>
            <a:srgbClr val="FFFFFF"/>
          </a:solidFill>
          <a:ln w="12700">
            <a:solidFill>
              <a:srgbClr val="D6D6D6"/>
            </a:solidFill>
          </a:ln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0F0F0F"/>
                </a:solidFill>
                <a:latin typeface="Roboto Condensed" pitchFamily="34" charset="0"/>
                <a:ea typeface="Roboto Condensed" pitchFamily="34" charset="-122"/>
                <a:cs typeface="Roboto Condensed" pitchFamily="34" charset="-120"/>
              </a:rPr>
              <a:t>Финансовая модель</a:t>
            </a:r>
            <a:endParaRPr lang="en-US" sz="1800" dirty="0"/>
          </a:p>
        </p:txBody>
      </p:sp>
      <p:sp>
        <p:nvSpPr>
          <p:cNvPr id="19" name="Text 16"/>
          <p:cNvSpPr/>
          <p:nvPr/>
        </p:nvSpPr>
        <p:spPr>
          <a:xfrm>
            <a:off x="7296912" y="1929384"/>
            <a:ext cx="2441448" cy="576072"/>
          </a:xfrm>
          <a:prstGeom prst="rect">
            <a:avLst/>
          </a:prstGeom>
          <a:solidFill>
            <a:srgbClr val="FFFFFF"/>
          </a:solidFill>
          <a:ln w="12700">
            <a:solidFill>
              <a:srgbClr val="D6D6D6"/>
            </a:solidFill>
          </a:ln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800" dirty="0">
                <a:solidFill>
                  <a:srgbClr val="545454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сценарии прибыли, денег и роста</a:t>
            </a:r>
            <a:endParaRPr lang="en-US" sz="1100" dirty="0"/>
          </a:p>
        </p:txBody>
      </p:sp>
      <p:sp>
        <p:nvSpPr>
          <p:cNvPr id="20" name="Shape 17"/>
          <p:cNvSpPr/>
          <p:nvPr/>
        </p:nvSpPr>
        <p:spPr>
          <a:xfrm>
            <a:off x="822960" y="3063240"/>
            <a:ext cx="2697480" cy="1234440"/>
          </a:xfrm>
          <a:prstGeom prst="roundRect">
            <a:avLst>
              <a:gd name="adj" fmla="val 5926"/>
            </a:avLst>
          </a:prstGeom>
          <a:solidFill>
            <a:srgbClr val="FFFFFF"/>
          </a:solidFill>
          <a:ln w="12700">
            <a:solidFill>
              <a:srgbClr val="D6D6D6"/>
            </a:solidFill>
            <a:prstDash val="solid"/>
          </a:ln>
          <a:effectLst>
            <a:outerShdw sx="100000" sy="100000" kx="0" ky="0" algn="bl" rotWithShape="0" blurRad="12700" dist="3810" dir="2700000">
              <a:srgbClr val="000000">
                <a:alpha val="8000"/>
              </a:srgbClr>
            </a:outerShdw>
          </a:effectLst>
        </p:spPr>
        <p:txBody>
          <a:bodyPr/>
          <a:p/>
        </p:txBody>
      </p:sp>
      <p:sp>
        <p:nvSpPr>
          <p:cNvPr id="21" name="Shape 18"/>
          <p:cNvSpPr/>
          <p:nvPr/>
        </p:nvSpPr>
        <p:spPr>
          <a:xfrm>
            <a:off x="841248" y="3081528"/>
            <a:ext cx="73152" cy="1197864"/>
          </a:xfrm>
          <a:prstGeom prst="rect">
            <a:avLst/>
          </a:prstGeom>
          <a:solidFill>
            <a:srgbClr val="FFFFFF"/>
          </a:solidFill>
          <a:ln w="12700">
            <a:solidFill>
              <a:srgbClr val="D6D6D6"/>
            </a:solidFill>
            <a:prstDash val="solid"/>
          </a:ln>
        </p:spPr>
        <p:txBody>
          <a:bodyPr/>
          <a:p/>
        </p:txBody>
      </p:sp>
      <p:sp>
        <p:nvSpPr>
          <p:cNvPr id="22" name="Text 19"/>
          <p:cNvSpPr/>
          <p:nvPr/>
        </p:nvSpPr>
        <p:spPr>
          <a:xfrm>
            <a:off x="987552" y="3209544"/>
            <a:ext cx="2441448" cy="310896"/>
          </a:xfrm>
          <a:prstGeom prst="rect">
            <a:avLst/>
          </a:prstGeom>
          <a:solidFill>
            <a:srgbClr val="FFFFFF"/>
          </a:solidFill>
          <a:ln w="12700">
            <a:solidFill>
              <a:srgbClr val="D6D6D6"/>
            </a:solidFill>
          </a:ln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0F0F0F"/>
                </a:solidFill>
                <a:latin typeface="Roboto Condensed" pitchFamily="34" charset="0"/>
                <a:ea typeface="Roboto Condensed" pitchFamily="34" charset="-122"/>
                <a:cs typeface="Roboto Condensed" pitchFamily="34" charset="-120"/>
              </a:rPr>
              <a:t>Модель масштабирования</a:t>
            </a:r>
            <a:endParaRPr lang="en-US" sz="1800" dirty="0"/>
          </a:p>
        </p:txBody>
      </p:sp>
      <p:sp>
        <p:nvSpPr>
          <p:cNvPr id="23" name="Text 20"/>
          <p:cNvSpPr/>
          <p:nvPr/>
        </p:nvSpPr>
        <p:spPr>
          <a:xfrm>
            <a:off x="987552" y="3575304"/>
            <a:ext cx="2441448" cy="576072"/>
          </a:xfrm>
          <a:prstGeom prst="rect">
            <a:avLst/>
          </a:prstGeom>
          <a:solidFill>
            <a:srgbClr val="FFFFFF"/>
          </a:solidFill>
          <a:ln w="12700">
            <a:solidFill>
              <a:srgbClr val="D6D6D6"/>
            </a:solidFill>
          </a:ln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800" dirty="0">
                <a:solidFill>
                  <a:srgbClr val="545454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филиалы, каналы, рост штата, CAPEX</a:t>
            </a:r>
            <a:endParaRPr lang="en-US" sz="1100" dirty="0"/>
          </a:p>
        </p:txBody>
      </p:sp>
      <p:sp>
        <p:nvSpPr>
          <p:cNvPr id="24" name="Shape 21"/>
          <p:cNvSpPr/>
          <p:nvPr/>
        </p:nvSpPr>
        <p:spPr>
          <a:xfrm>
            <a:off x="3977640" y="3063240"/>
            <a:ext cx="2697480" cy="1234440"/>
          </a:xfrm>
          <a:prstGeom prst="roundRect">
            <a:avLst>
              <a:gd name="adj" fmla="val 5926"/>
            </a:avLst>
          </a:prstGeom>
          <a:solidFill>
            <a:srgbClr val="FFFFFF"/>
          </a:solidFill>
          <a:ln w="12700">
            <a:solidFill>
              <a:srgbClr val="D6D6D6"/>
            </a:solidFill>
            <a:prstDash val="solid"/>
          </a:ln>
          <a:effectLst>
            <a:outerShdw sx="100000" sy="100000" kx="0" ky="0" algn="bl" rotWithShape="0" blurRad="12700" dist="3810" dir="2700000">
              <a:srgbClr val="000000">
                <a:alpha val="8000"/>
              </a:srgbClr>
            </a:outerShdw>
          </a:effectLst>
        </p:spPr>
        <p:txBody>
          <a:bodyPr/>
          <a:p/>
        </p:txBody>
      </p:sp>
      <p:sp>
        <p:nvSpPr>
          <p:cNvPr id="25" name="Shape 22"/>
          <p:cNvSpPr/>
          <p:nvPr/>
        </p:nvSpPr>
        <p:spPr>
          <a:xfrm>
            <a:off x="3995928" y="3081528"/>
            <a:ext cx="73152" cy="1197864"/>
          </a:xfrm>
          <a:prstGeom prst="rect">
            <a:avLst/>
          </a:prstGeom>
          <a:solidFill>
            <a:srgbClr val="FFFFFF"/>
          </a:solidFill>
          <a:ln w="12700">
            <a:solidFill>
              <a:srgbClr val="D6D6D6"/>
            </a:solidFill>
            <a:prstDash val="solid"/>
          </a:ln>
        </p:spPr>
        <p:txBody>
          <a:bodyPr/>
          <a:p/>
        </p:txBody>
      </p:sp>
      <p:sp>
        <p:nvSpPr>
          <p:cNvPr id="26" name="Text 23"/>
          <p:cNvSpPr/>
          <p:nvPr/>
        </p:nvSpPr>
        <p:spPr>
          <a:xfrm>
            <a:off x="4142232" y="3209544"/>
            <a:ext cx="2441448" cy="310896"/>
          </a:xfrm>
          <a:prstGeom prst="rect">
            <a:avLst/>
          </a:prstGeom>
          <a:solidFill>
            <a:srgbClr val="FFFFFF"/>
          </a:solidFill>
          <a:ln w="12700">
            <a:solidFill>
              <a:srgbClr val="D6D6D6"/>
            </a:solidFill>
          </a:ln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0F0F0F"/>
                </a:solidFill>
                <a:latin typeface="Roboto Condensed" pitchFamily="34" charset="0"/>
                <a:ea typeface="Roboto Condensed" pitchFamily="34" charset="-122"/>
                <a:cs typeface="Roboto Condensed" pitchFamily="34" charset="-120"/>
              </a:rPr>
              <a:t>Подготовка к кредитованию</a:t>
            </a:r>
            <a:endParaRPr lang="en-US" sz="1800" dirty="0"/>
          </a:p>
        </p:txBody>
      </p:sp>
      <p:sp>
        <p:nvSpPr>
          <p:cNvPr id="27" name="Text 24"/>
          <p:cNvSpPr/>
          <p:nvPr/>
        </p:nvSpPr>
        <p:spPr>
          <a:xfrm>
            <a:off x="4142232" y="3575304"/>
            <a:ext cx="2441448" cy="576072"/>
          </a:xfrm>
          <a:prstGeom prst="rect">
            <a:avLst/>
          </a:prstGeom>
          <a:solidFill>
            <a:srgbClr val="FFFFFF"/>
          </a:solidFill>
          <a:ln w="12700">
            <a:solidFill>
              <a:srgbClr val="D6D6D6"/>
            </a:solidFill>
          </a:ln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800" dirty="0">
                <a:solidFill>
                  <a:srgbClr val="545454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банк, ковенанты, пакет материалов</a:t>
            </a:r>
            <a:endParaRPr lang="en-US" sz="1100" dirty="0"/>
          </a:p>
        </p:txBody>
      </p:sp>
      <p:sp>
        <p:nvSpPr>
          <p:cNvPr id="28" name="Shape 25"/>
          <p:cNvSpPr/>
          <p:nvPr/>
        </p:nvSpPr>
        <p:spPr>
          <a:xfrm>
            <a:off x="7132320" y="3063240"/>
            <a:ext cx="2697480" cy="1234440"/>
          </a:xfrm>
          <a:prstGeom prst="roundRect">
            <a:avLst>
              <a:gd name="adj" fmla="val 5926"/>
            </a:avLst>
          </a:prstGeom>
          <a:solidFill>
            <a:srgbClr val="FFFFFF"/>
          </a:solidFill>
          <a:ln w="12700">
            <a:solidFill>
              <a:srgbClr val="D6D6D6"/>
            </a:solidFill>
            <a:prstDash val="solid"/>
          </a:ln>
          <a:effectLst>
            <a:outerShdw sx="100000" sy="100000" kx="0" ky="0" algn="bl" rotWithShape="0" blurRad="12700" dist="3810" dir="2700000">
              <a:srgbClr val="000000">
                <a:alpha val="8000"/>
              </a:srgbClr>
            </a:outerShdw>
          </a:effectLst>
        </p:spPr>
        <p:txBody>
          <a:bodyPr/>
          <a:p/>
        </p:txBody>
      </p:sp>
      <p:sp>
        <p:nvSpPr>
          <p:cNvPr id="29" name="Shape 26"/>
          <p:cNvSpPr/>
          <p:nvPr/>
        </p:nvSpPr>
        <p:spPr>
          <a:xfrm>
            <a:off x="7150608" y="3081528"/>
            <a:ext cx="73152" cy="1197864"/>
          </a:xfrm>
          <a:prstGeom prst="rect">
            <a:avLst/>
          </a:prstGeom>
          <a:solidFill>
            <a:srgbClr val="FFFFFF"/>
          </a:solidFill>
          <a:ln w="12700">
            <a:solidFill>
              <a:srgbClr val="D6D6D6"/>
            </a:solidFill>
            <a:prstDash val="solid"/>
          </a:ln>
        </p:spPr>
        <p:txBody>
          <a:bodyPr/>
          <a:p/>
        </p:txBody>
      </p:sp>
      <p:sp>
        <p:nvSpPr>
          <p:cNvPr id="30" name="Text 27"/>
          <p:cNvSpPr/>
          <p:nvPr/>
        </p:nvSpPr>
        <p:spPr>
          <a:xfrm>
            <a:off x="7296912" y="3209544"/>
            <a:ext cx="2441448" cy="310896"/>
          </a:xfrm>
          <a:prstGeom prst="rect">
            <a:avLst/>
          </a:prstGeom>
          <a:solidFill>
            <a:srgbClr val="FFFFFF"/>
          </a:solidFill>
          <a:ln w="12700">
            <a:solidFill>
              <a:srgbClr val="D6D6D6"/>
            </a:solidFill>
          </a:ln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0F0F0F"/>
                </a:solidFill>
                <a:latin typeface="Roboto Condensed" pitchFamily="34" charset="0"/>
                <a:ea typeface="Roboto Condensed" pitchFamily="34" charset="-122"/>
                <a:cs typeface="Roboto Condensed" pitchFamily="34" charset="-120"/>
              </a:rPr>
              <a:t>Financial due diligence</a:t>
            </a:r>
            <a:endParaRPr lang="en-US" sz="1800" dirty="0"/>
          </a:p>
        </p:txBody>
      </p:sp>
      <p:sp>
        <p:nvSpPr>
          <p:cNvPr id="31" name="Text 28"/>
          <p:cNvSpPr/>
          <p:nvPr/>
        </p:nvSpPr>
        <p:spPr>
          <a:xfrm>
            <a:off x="7296912" y="3575304"/>
            <a:ext cx="2441448" cy="576072"/>
          </a:xfrm>
          <a:prstGeom prst="rect">
            <a:avLst/>
          </a:prstGeom>
          <a:solidFill>
            <a:srgbClr val="FFFFFF"/>
          </a:solidFill>
          <a:ln w="12700">
            <a:solidFill>
              <a:srgbClr val="D6D6D6"/>
            </a:solidFill>
          </a:ln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800" dirty="0">
                <a:solidFill>
                  <a:srgbClr val="545454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покупка, продажа, инвестор</a:t>
            </a:r>
            <a:endParaRPr lang="en-US" sz="1100" dirty="0"/>
          </a:p>
        </p:txBody>
      </p:sp>
      <p:sp>
        <p:nvSpPr>
          <p:cNvPr id="32" name="Shape 29"/>
          <p:cNvSpPr/>
          <p:nvPr/>
        </p:nvSpPr>
        <p:spPr>
          <a:xfrm>
            <a:off x="822960" y="4709160"/>
            <a:ext cx="2697480" cy="1234440"/>
          </a:xfrm>
          <a:prstGeom prst="roundRect">
            <a:avLst>
              <a:gd name="adj" fmla="val 5926"/>
            </a:avLst>
          </a:prstGeom>
          <a:solidFill>
            <a:srgbClr val="FFFFFF"/>
          </a:solidFill>
          <a:ln w="12700">
            <a:solidFill>
              <a:srgbClr val="D6D6D6"/>
            </a:solidFill>
            <a:prstDash val="solid"/>
          </a:ln>
          <a:effectLst>
            <a:outerShdw sx="100000" sy="100000" kx="0" ky="0" algn="bl" rotWithShape="0" blurRad="12700" dist="3810" dir="2700000">
              <a:srgbClr val="000000">
                <a:alpha val="8000"/>
              </a:srgbClr>
            </a:outerShdw>
          </a:effectLst>
        </p:spPr>
        <p:txBody>
          <a:bodyPr/>
          <a:p/>
        </p:txBody>
      </p:sp>
      <p:sp>
        <p:nvSpPr>
          <p:cNvPr id="33" name="Shape 30"/>
          <p:cNvSpPr/>
          <p:nvPr/>
        </p:nvSpPr>
        <p:spPr>
          <a:xfrm>
            <a:off x="841248" y="4727448"/>
            <a:ext cx="73152" cy="1197864"/>
          </a:xfrm>
          <a:prstGeom prst="rect">
            <a:avLst/>
          </a:prstGeom>
          <a:solidFill>
            <a:srgbClr val="FFFFFF"/>
          </a:solidFill>
          <a:ln w="12700">
            <a:solidFill>
              <a:srgbClr val="D6D6D6"/>
            </a:solidFill>
            <a:prstDash val="solid"/>
          </a:ln>
        </p:spPr>
        <p:txBody>
          <a:bodyPr/>
          <a:p/>
        </p:txBody>
      </p:sp>
      <p:sp>
        <p:nvSpPr>
          <p:cNvPr id="34" name="Text 31"/>
          <p:cNvSpPr/>
          <p:nvPr/>
        </p:nvSpPr>
        <p:spPr>
          <a:xfrm>
            <a:off x="987552" y="4855464"/>
            <a:ext cx="2441448" cy="310896"/>
          </a:xfrm>
          <a:prstGeom prst="rect">
            <a:avLst/>
          </a:prstGeom>
          <a:solidFill>
            <a:srgbClr val="FFFFFF"/>
          </a:solidFill>
          <a:ln w="12700">
            <a:solidFill>
              <a:srgbClr val="D6D6D6"/>
            </a:solidFill>
          </a:ln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0F0F0F"/>
                </a:solidFill>
                <a:latin typeface="Roboto Condensed" pitchFamily="34" charset="0"/>
                <a:ea typeface="Roboto Condensed" pitchFamily="34" charset="-122"/>
                <a:cs typeface="Roboto Condensed" pitchFamily="34" charset="-120"/>
              </a:rPr>
              <a:t>Investment readiness</a:t>
            </a:r>
            <a:endParaRPr lang="en-US" sz="1800" dirty="0"/>
          </a:p>
        </p:txBody>
      </p:sp>
      <p:sp>
        <p:nvSpPr>
          <p:cNvPr id="35" name="Text 32"/>
          <p:cNvSpPr/>
          <p:nvPr/>
        </p:nvSpPr>
        <p:spPr>
          <a:xfrm>
            <a:off x="987552" y="5221224"/>
            <a:ext cx="2441448" cy="576072"/>
          </a:xfrm>
          <a:prstGeom prst="rect">
            <a:avLst/>
          </a:prstGeom>
          <a:solidFill>
            <a:srgbClr val="FFFFFF"/>
          </a:solidFill>
          <a:ln w="12700">
            <a:solidFill>
              <a:srgbClr val="D6D6D6"/>
            </a:solidFill>
          </a:ln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800" dirty="0">
                <a:solidFill>
                  <a:srgbClr val="545454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готовность к инвестору и партнерству</a:t>
            </a:r>
            <a:endParaRPr lang="en-US" sz="1100" dirty="0"/>
          </a:p>
        </p:txBody>
      </p:sp>
      <p:sp>
        <p:nvSpPr>
          <p:cNvPr id="36" name="Shape 33"/>
          <p:cNvSpPr/>
          <p:nvPr/>
        </p:nvSpPr>
        <p:spPr>
          <a:xfrm>
            <a:off x="3977640" y="4709160"/>
            <a:ext cx="2697480" cy="1234440"/>
          </a:xfrm>
          <a:prstGeom prst="roundRect">
            <a:avLst>
              <a:gd name="adj" fmla="val 5926"/>
            </a:avLst>
          </a:prstGeom>
          <a:solidFill>
            <a:srgbClr val="FFFFFF"/>
          </a:solidFill>
          <a:ln w="12700">
            <a:solidFill>
              <a:srgbClr val="D6D6D6"/>
            </a:solidFill>
            <a:prstDash val="solid"/>
          </a:ln>
          <a:effectLst>
            <a:outerShdw sx="100000" sy="100000" kx="0" ky="0" algn="bl" rotWithShape="0" blurRad="12700" dist="3810" dir="2700000">
              <a:srgbClr val="000000">
                <a:alpha val="8000"/>
              </a:srgbClr>
            </a:outerShdw>
          </a:effectLst>
        </p:spPr>
        <p:txBody>
          <a:bodyPr/>
          <a:p/>
        </p:txBody>
      </p:sp>
      <p:sp>
        <p:nvSpPr>
          <p:cNvPr id="37" name="Shape 34"/>
          <p:cNvSpPr/>
          <p:nvPr/>
        </p:nvSpPr>
        <p:spPr>
          <a:xfrm>
            <a:off x="3995928" y="4727448"/>
            <a:ext cx="73152" cy="1197864"/>
          </a:xfrm>
          <a:prstGeom prst="rect">
            <a:avLst/>
          </a:prstGeom>
          <a:solidFill>
            <a:srgbClr val="FFFFFF"/>
          </a:solidFill>
          <a:ln w="12700">
            <a:solidFill>
              <a:srgbClr val="D6D6D6"/>
            </a:solidFill>
            <a:prstDash val="solid"/>
          </a:ln>
        </p:spPr>
        <p:txBody>
          <a:bodyPr/>
          <a:p/>
        </p:txBody>
      </p:sp>
      <p:sp>
        <p:nvSpPr>
          <p:cNvPr id="38" name="Text 35"/>
          <p:cNvSpPr/>
          <p:nvPr/>
        </p:nvSpPr>
        <p:spPr>
          <a:xfrm>
            <a:off x="4142232" y="4855464"/>
            <a:ext cx="2441448" cy="310896"/>
          </a:xfrm>
          <a:prstGeom prst="rect">
            <a:avLst/>
          </a:prstGeom>
          <a:solidFill>
            <a:srgbClr val="FFFFFF"/>
          </a:solidFill>
          <a:ln w="12700">
            <a:solidFill>
              <a:srgbClr val="D6D6D6"/>
            </a:solidFill>
          </a:ln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0F0F0F"/>
                </a:solidFill>
                <a:latin typeface="Roboto Condensed" pitchFamily="34" charset="0"/>
                <a:ea typeface="Roboto Condensed" pitchFamily="34" charset="-122"/>
                <a:cs typeface="Roboto Condensed" pitchFamily="34" charset="-120"/>
              </a:rPr>
              <a:t>Реструктуризация</a:t>
            </a:r>
            <a:endParaRPr lang="en-US" sz="1800" dirty="0"/>
          </a:p>
        </p:txBody>
      </p:sp>
      <p:sp>
        <p:nvSpPr>
          <p:cNvPr id="39" name="Text 36"/>
          <p:cNvSpPr/>
          <p:nvPr/>
        </p:nvSpPr>
        <p:spPr>
          <a:xfrm>
            <a:off x="4142232" y="5221224"/>
            <a:ext cx="2441448" cy="576072"/>
          </a:xfrm>
          <a:prstGeom prst="rect">
            <a:avLst/>
          </a:prstGeom>
          <a:solidFill>
            <a:srgbClr val="FFFFFF"/>
          </a:solidFill>
          <a:ln w="12700">
            <a:solidFill>
              <a:srgbClr val="D6D6D6"/>
            </a:solidFill>
          </a:ln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800" dirty="0">
                <a:solidFill>
                  <a:srgbClr val="545454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антикризисный cash-flow и пересборка модели</a:t>
            </a:r>
            <a:endParaRPr lang="en-US" sz="1100" dirty="0"/>
          </a:p>
        </p:txBody>
      </p:sp>
      <p:sp>
        <p:nvSpPr>
          <p:cNvPr id="40" name="Shape 37"/>
          <p:cNvSpPr/>
          <p:nvPr/>
        </p:nvSpPr>
        <p:spPr>
          <a:xfrm>
            <a:off x="7132320" y="4709160"/>
            <a:ext cx="2697480" cy="1234440"/>
          </a:xfrm>
          <a:prstGeom prst="roundRect">
            <a:avLst>
              <a:gd name="adj" fmla="val 5926"/>
            </a:avLst>
          </a:prstGeom>
          <a:solidFill>
            <a:srgbClr val="FFFFFF"/>
          </a:solidFill>
          <a:ln w="12700">
            <a:solidFill>
              <a:srgbClr val="D6D6D6"/>
            </a:solidFill>
            <a:prstDash val="solid"/>
          </a:ln>
          <a:effectLst>
            <a:outerShdw sx="100000" sy="100000" kx="0" ky="0" algn="bl" rotWithShape="0" blurRad="12700" dist="3810" dir="2700000">
              <a:srgbClr val="000000">
                <a:alpha val="8000"/>
              </a:srgbClr>
            </a:outerShdw>
          </a:effectLst>
        </p:spPr>
        <p:txBody>
          <a:bodyPr/>
          <a:p/>
        </p:txBody>
      </p:sp>
      <p:sp>
        <p:nvSpPr>
          <p:cNvPr id="41" name="Shape 38"/>
          <p:cNvSpPr/>
          <p:nvPr/>
        </p:nvSpPr>
        <p:spPr>
          <a:xfrm>
            <a:off x="7150608" y="4727448"/>
            <a:ext cx="73152" cy="1197864"/>
          </a:xfrm>
          <a:prstGeom prst="rect">
            <a:avLst/>
          </a:prstGeom>
          <a:solidFill>
            <a:srgbClr val="FFFFFF"/>
          </a:solidFill>
          <a:ln w="12700">
            <a:solidFill>
              <a:srgbClr val="D6D6D6"/>
            </a:solidFill>
            <a:prstDash val="solid"/>
          </a:ln>
        </p:spPr>
        <p:txBody>
          <a:bodyPr/>
          <a:p/>
        </p:txBody>
      </p:sp>
      <p:sp>
        <p:nvSpPr>
          <p:cNvPr id="42" name="Text 39"/>
          <p:cNvSpPr/>
          <p:nvPr/>
        </p:nvSpPr>
        <p:spPr>
          <a:xfrm>
            <a:off x="7296912" y="4855464"/>
            <a:ext cx="2441448" cy="310896"/>
          </a:xfrm>
          <a:prstGeom prst="rect">
            <a:avLst/>
          </a:prstGeom>
          <a:solidFill>
            <a:srgbClr val="FFFFFF"/>
          </a:solidFill>
          <a:ln w="12700">
            <a:solidFill>
              <a:srgbClr val="D6D6D6"/>
            </a:solidFill>
          </a:ln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0F0F0F"/>
                </a:solidFill>
                <a:latin typeface="Roboto Condensed" pitchFamily="34" charset="0"/>
                <a:ea typeface="Roboto Condensed" pitchFamily="34" charset="-122"/>
                <a:cs typeface="Roboto Condensed" pitchFamily="34" charset="-120"/>
              </a:rPr>
              <a:t>Временный CFO</a:t>
            </a:r>
            <a:endParaRPr lang="en-US" sz="1800" dirty="0"/>
          </a:p>
        </p:txBody>
      </p:sp>
      <p:sp>
        <p:nvSpPr>
          <p:cNvPr id="43" name="Text 40"/>
          <p:cNvSpPr/>
          <p:nvPr/>
        </p:nvSpPr>
        <p:spPr>
          <a:xfrm>
            <a:off x="7296912" y="5221224"/>
            <a:ext cx="2441448" cy="576072"/>
          </a:xfrm>
          <a:prstGeom prst="rect">
            <a:avLst/>
          </a:prstGeom>
          <a:solidFill>
            <a:srgbClr val="FFFFFF"/>
          </a:solidFill>
          <a:ln w="12700">
            <a:solidFill>
              <a:srgbClr val="D6D6D6"/>
            </a:solidFill>
          </a:ln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800" dirty="0">
                <a:solidFill>
                  <a:srgbClr val="545454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роль на период роста, смены команды или кризиса</a:t>
            </a:r>
            <a:endParaRPr lang="en-US" sz="1100" dirty="0"/>
          </a:p>
        </p:txBody>
      </p:sp>
      <p:sp>
        <p:nvSpPr>
          <p:cNvPr id="44" name="Rectangle 43"/>
          <p:cNvSpPr/>
          <p:nvPr/>
        </p:nvSpPr>
        <p:spPr>
          <a:xfrm>
            <a:off x="594360" y="1689354"/>
            <a:ext cx="320040" cy="12801"/>
          </a:xfrm>
          <a:prstGeom prst="rect">
            <a:avLst/>
          </a:prstGeom>
          <a:solidFill>
            <a:srgbClr val="04044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Rectangle 44"/>
          <p:cNvSpPr/>
          <p:nvPr/>
        </p:nvSpPr>
        <p:spPr>
          <a:xfrm>
            <a:off x="594360" y="1625346"/>
            <a:ext cx="51206" cy="112014"/>
          </a:xfrm>
          <a:prstGeom prst="rect">
            <a:avLst/>
          </a:prstGeom>
          <a:solidFill>
            <a:srgbClr val="04044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" name="Rectangle 45"/>
          <p:cNvSpPr/>
          <p:nvPr/>
        </p:nvSpPr>
        <p:spPr>
          <a:xfrm>
            <a:off x="671169" y="1561338"/>
            <a:ext cx="51206" cy="176022"/>
          </a:xfrm>
          <a:prstGeom prst="rect">
            <a:avLst/>
          </a:prstGeom>
          <a:solidFill>
            <a:srgbClr val="04044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" name="Rectangle 46"/>
          <p:cNvSpPr/>
          <p:nvPr/>
        </p:nvSpPr>
        <p:spPr>
          <a:xfrm>
            <a:off x="747978" y="1497330"/>
            <a:ext cx="51206" cy="240030"/>
          </a:xfrm>
          <a:prstGeom prst="rect">
            <a:avLst/>
          </a:prstGeom>
          <a:solidFill>
            <a:srgbClr val="04044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8" name="Right Arrow 47"/>
          <p:cNvSpPr/>
          <p:nvPr/>
        </p:nvSpPr>
        <p:spPr>
          <a:xfrm>
            <a:off x="770382" y="1449324"/>
            <a:ext cx="134416" cy="89611"/>
          </a:xfrm>
          <a:prstGeom prst="rightArrow">
            <a:avLst/>
          </a:prstGeom>
          <a:noFill/>
          <a:ln w="22225">
            <a:solidFill>
              <a:srgbClr val="04044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9" name="Oval 48"/>
          <p:cNvSpPr/>
          <p:nvPr/>
        </p:nvSpPr>
        <p:spPr>
          <a:xfrm>
            <a:off x="1097280" y="1417320"/>
            <a:ext cx="320040" cy="320040"/>
          </a:xfrm>
          <a:prstGeom prst="ellipse">
            <a:avLst/>
          </a:prstGeom>
          <a:noFill/>
          <a:ln w="22225">
            <a:solidFill>
              <a:srgbClr val="04044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0" name="TextBox 49"/>
          <p:cNvSpPr txBox="1"/>
          <p:nvPr/>
        </p:nvSpPr>
        <p:spPr>
          <a:xfrm>
            <a:off x="1097280" y="1455724"/>
            <a:ext cx="320040" cy="24323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b="1" sz="2000">
                <a:solidFill>
                  <a:srgbClr val="040442"/>
                </a:solidFill>
              </a:rPr>
              <a:t>₽</a:t>
            </a:r>
          </a:p>
        </p:txBody>
      </p:sp>
      <p:sp>
        <p:nvSpPr>
          <p:cNvPr id="51" name="Heart 50"/>
          <p:cNvSpPr/>
          <p:nvPr/>
        </p:nvSpPr>
        <p:spPr>
          <a:xfrm>
            <a:off x="1600200" y="1417320"/>
            <a:ext cx="304038" cy="304038"/>
          </a:xfrm>
          <a:prstGeom prst="heart">
            <a:avLst/>
          </a:prstGeom>
          <a:noFill/>
          <a:ln w="22225">
            <a:solidFill>
              <a:srgbClr val="04044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2" name="Rectangle 51"/>
          <p:cNvSpPr/>
          <p:nvPr/>
        </p:nvSpPr>
        <p:spPr>
          <a:xfrm rot="2700000">
            <a:off x="1696212" y="1615744"/>
            <a:ext cx="70408" cy="19202"/>
          </a:xfrm>
          <a:prstGeom prst="rect">
            <a:avLst/>
          </a:prstGeom>
          <a:solidFill>
            <a:srgbClr val="04044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3" name="Rectangle 52"/>
          <p:cNvSpPr/>
          <p:nvPr/>
        </p:nvSpPr>
        <p:spPr>
          <a:xfrm rot="18900000">
            <a:off x="1734616" y="1602943"/>
            <a:ext cx="108813" cy="19202"/>
          </a:xfrm>
          <a:prstGeom prst="rect">
            <a:avLst/>
          </a:prstGeom>
          <a:solidFill>
            <a:srgbClr val="04044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164592"/>
          </a:xfrm>
          <a:prstGeom prst="rect">
            <a:avLst/>
          </a:prstGeom>
          <a:solidFill>
            <a:srgbClr val="FFFFFF"/>
          </a:solidFill>
          <a:ln w="12700">
            <a:solidFill>
              <a:srgbClr val="D6D6D6"/>
            </a:solidFill>
            <a:prstDash val="solid"/>
          </a:ln>
        </p:spPr>
        <p:txBody>
          <a:bodyPr/>
          <a:p/>
        </p:txBody>
      </p:sp>
      <p:sp>
        <p:nvSpPr>
          <p:cNvPr id="3" name="Text 1"/>
          <p:cNvSpPr/>
          <p:nvPr/>
        </p:nvSpPr>
        <p:spPr>
          <a:xfrm>
            <a:off x="594360" y="310896"/>
            <a:ext cx="8046720" cy="384048"/>
          </a:xfrm>
          <a:prstGeom prst="rect">
            <a:avLst/>
          </a:prstGeom>
          <a:solidFill>
            <a:srgbClr val="FFFFFF"/>
          </a:solidFill>
          <a:ln w="12700">
            <a:solidFill>
              <a:srgbClr val="D6D6D6"/>
            </a:solidFill>
          </a:ln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0F0F0F"/>
                </a:solidFill>
                <a:latin typeface="Roboto Condensed" pitchFamily="34" charset="0"/>
                <a:ea typeface="Roboto Condensed" pitchFamily="34" charset="-122"/>
                <a:cs typeface="Roboto Condensed" pitchFamily="34" charset="-120"/>
              </a:rPr>
              <a:t>КАК ПРОДУКТЫ СОЕДИНЯЮТСЯ В ЕДИНУЮ ВОРОНКУ</a:t>
            </a:r>
            <a:endParaRPr lang="en-US" sz="2600" dirty="0"/>
          </a:p>
        </p:txBody>
      </p:sp>
      <p:sp>
        <p:nvSpPr>
          <p:cNvPr id="4" name="Text 2"/>
          <p:cNvSpPr/>
          <p:nvPr/>
        </p:nvSpPr>
        <p:spPr>
          <a:xfrm>
            <a:off x="594360" y="722376"/>
            <a:ext cx="7589520" cy="201168"/>
          </a:xfrm>
          <a:prstGeom prst="rect">
            <a:avLst/>
          </a:prstGeom>
          <a:solidFill>
            <a:srgbClr val="FFFFFF"/>
          </a:solidFill>
          <a:ln w="12700">
            <a:solidFill>
              <a:srgbClr val="D6D6D6"/>
            </a:solidFill>
          </a:ln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545454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логика развития клиента</a:t>
            </a:r>
            <a:endParaRPr lang="en-US" sz="950" dirty="0"/>
          </a:p>
        </p:txBody>
      </p:sp>
      <p:pic>
        <p:nvPicPr>
          <p:cNvPr id="5" name="Image 0" descr="/mnt/data/work/logo_crop_trans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343388" y="256032"/>
            <a:ext cx="938784" cy="502920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11475720" y="6473952"/>
            <a:ext cx="320040" cy="164592"/>
          </a:xfrm>
          <a:prstGeom prst="rect">
            <a:avLst/>
          </a:prstGeom>
          <a:solidFill>
            <a:srgbClr val="FFFFFF"/>
          </a:solidFill>
          <a:ln w="12700">
            <a:solidFill>
              <a:srgbClr val="D6D6D6"/>
            </a:solidFill>
          </a:ln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dirty="0" b="1">
                <a:solidFill>
                  <a:srgbClr val="84383E"/>
                </a:solidFill>
                <a:latin typeface="Roboto Condensed" pitchFamily="34" charset="0"/>
                <a:ea typeface="Roboto Condensed" pitchFamily="34" charset="-122"/>
                <a:cs typeface="Roboto Condensed" pitchFamily="34" charset="-120"/>
              </a:rPr>
              <a:t>09</a:t>
            </a:r>
            <a:endParaRPr lang="en-US" sz="1000" dirty="0"/>
          </a:p>
        </p:txBody>
      </p:sp>
      <p:sp>
        <p:nvSpPr>
          <p:cNvPr id="7" name="Shape 4"/>
          <p:cNvSpPr/>
          <p:nvPr/>
        </p:nvSpPr>
        <p:spPr>
          <a:xfrm>
            <a:off x="594360" y="932688"/>
            <a:ext cx="11018520" cy="0"/>
          </a:xfrm>
          <a:prstGeom prst="line">
            <a:avLst/>
          </a:prstGeom>
          <a:noFill/>
          <a:ln w="12700">
            <a:solidFill>
              <a:srgbClr val="D6D6D6"/>
            </a:solidFill>
            <a:prstDash val="solid"/>
          </a:ln>
        </p:spPr>
        <p:txBody>
          <a:bodyPr/>
          <a:p/>
        </p:txBody>
      </p:sp>
      <p:sp>
        <p:nvSpPr>
          <p:cNvPr id="8" name="Shape 5"/>
          <p:cNvSpPr/>
          <p:nvPr/>
        </p:nvSpPr>
        <p:spPr>
          <a:xfrm>
            <a:off x="731520" y="2240280"/>
            <a:ext cx="1783080" cy="1143000"/>
          </a:xfrm>
          <a:prstGeom prst="roundRect">
            <a:avLst>
              <a:gd name="adj" fmla="val 4800"/>
            </a:avLst>
          </a:prstGeom>
          <a:solidFill>
            <a:srgbClr val="FFFFFF"/>
          </a:solidFill>
          <a:ln w="12700">
            <a:solidFill>
              <a:srgbClr val="560004"/>
            </a:solidFill>
            <a:prstDash val="solid"/>
          </a:ln>
        </p:spPr>
        <p:txBody>
          <a:bodyPr/>
          <a:p/>
        </p:txBody>
      </p:sp>
      <p:sp>
        <p:nvSpPr>
          <p:cNvPr id="9" name="Text 6"/>
          <p:cNvSpPr/>
          <p:nvPr/>
        </p:nvSpPr>
        <p:spPr>
          <a:xfrm>
            <a:off x="841248" y="2450592"/>
            <a:ext cx="1563624" cy="246888"/>
          </a:xfrm>
          <a:prstGeom prst="rect">
            <a:avLst/>
          </a:prstGeom>
          <a:solidFill>
            <a:srgbClr val="FFFFFF"/>
          </a:solidFill>
          <a:ln w="12700">
            <a:solidFill>
              <a:srgbClr val="D6D6D6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0F0F0F"/>
                </a:solidFill>
                <a:latin typeface="Roboto Condensed" pitchFamily="34" charset="0"/>
                <a:ea typeface="Roboto Condensed" pitchFamily="34" charset="-122"/>
                <a:cs typeface="Roboto Condensed" pitchFamily="34" charset="-120"/>
              </a:rPr>
              <a:t>Диагностика</a:t>
            </a:r>
            <a:endParaRPr lang="en-US" sz="1800" dirty="0"/>
          </a:p>
        </p:txBody>
      </p:sp>
      <p:sp>
        <p:nvSpPr>
          <p:cNvPr id="10" name="Text 7"/>
          <p:cNvSpPr/>
          <p:nvPr/>
        </p:nvSpPr>
        <p:spPr>
          <a:xfrm>
            <a:off x="850392" y="2743200"/>
            <a:ext cx="1545336" cy="411480"/>
          </a:xfrm>
          <a:prstGeom prst="rect">
            <a:avLst/>
          </a:prstGeom>
          <a:solidFill>
            <a:srgbClr val="FFFFFF"/>
          </a:solidFill>
          <a:ln w="12700">
            <a:solidFill>
              <a:srgbClr val="D6D6D6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dirty="0">
                <a:solidFill>
                  <a:srgbClr val="545454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быстрый вход</a:t>
            </a:r>
            <a:endParaRPr lang="en-US" sz="1020" dirty="0"/>
          </a:p>
          <a:p>
            <a:pPr algn="ctr" indent="0" marL="0">
              <a:buNone/>
            </a:pPr>
            <a:r>
              <a:rPr lang="en-US" sz="1800" dirty="0">
                <a:solidFill>
                  <a:srgbClr val="545454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и выявление боли</a:t>
            </a:r>
            <a:endParaRPr lang="en-US" sz="1020" dirty="0"/>
          </a:p>
        </p:txBody>
      </p:sp>
      <p:sp>
        <p:nvSpPr>
          <p:cNvPr id="11" name="Shape 8"/>
          <p:cNvSpPr/>
          <p:nvPr/>
        </p:nvSpPr>
        <p:spPr>
          <a:xfrm>
            <a:off x="2587752" y="2606040"/>
            <a:ext cx="310896" cy="237744"/>
          </a:xfrm>
          <a:prstGeom prst="chevron">
            <a:avLst/>
          </a:prstGeom>
          <a:solidFill>
            <a:srgbClr val="D6D6D6"/>
          </a:solidFill>
          <a:ln w="12700">
            <a:solidFill>
              <a:srgbClr val="D6D6D6"/>
            </a:solidFill>
            <a:prstDash val="solid"/>
          </a:ln>
        </p:spPr>
        <p:txBody>
          <a:bodyPr/>
          <a:p/>
        </p:txBody>
      </p:sp>
      <p:sp>
        <p:nvSpPr>
          <p:cNvPr id="12" name="Shape 9"/>
          <p:cNvSpPr/>
          <p:nvPr/>
        </p:nvSpPr>
        <p:spPr>
          <a:xfrm>
            <a:off x="3017520" y="2240280"/>
            <a:ext cx="1783080" cy="1143000"/>
          </a:xfrm>
          <a:prstGeom prst="roundRect">
            <a:avLst>
              <a:gd name="adj" fmla="val 4800"/>
            </a:avLst>
          </a:prstGeom>
          <a:solidFill>
            <a:srgbClr val="FFFFFF"/>
          </a:solidFill>
          <a:ln w="12700">
            <a:solidFill>
              <a:srgbClr val="84383E"/>
            </a:solidFill>
            <a:prstDash val="solid"/>
          </a:ln>
        </p:spPr>
        <p:txBody>
          <a:bodyPr/>
          <a:p/>
        </p:txBody>
      </p:sp>
      <p:sp>
        <p:nvSpPr>
          <p:cNvPr id="13" name="Text 10"/>
          <p:cNvSpPr/>
          <p:nvPr/>
        </p:nvSpPr>
        <p:spPr>
          <a:xfrm>
            <a:off x="3127248" y="2450592"/>
            <a:ext cx="1563624" cy="246888"/>
          </a:xfrm>
          <a:prstGeom prst="rect">
            <a:avLst/>
          </a:prstGeom>
          <a:solidFill>
            <a:srgbClr val="FFFFFF"/>
          </a:solidFill>
          <a:ln w="12700">
            <a:solidFill>
              <a:srgbClr val="D6D6D6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0F0F0F"/>
                </a:solidFill>
                <a:latin typeface="Roboto Condensed" pitchFamily="34" charset="0"/>
                <a:ea typeface="Roboto Condensed" pitchFamily="34" charset="-122"/>
                <a:cs typeface="Roboto Condensed" pitchFamily="34" charset="-120"/>
              </a:rPr>
              <a:t>Методология</a:t>
            </a:r>
            <a:endParaRPr lang="en-US" sz="1800" dirty="0"/>
          </a:p>
        </p:txBody>
      </p:sp>
      <p:sp>
        <p:nvSpPr>
          <p:cNvPr id="14" name="Text 11"/>
          <p:cNvSpPr/>
          <p:nvPr/>
        </p:nvSpPr>
        <p:spPr>
          <a:xfrm>
            <a:off x="3136392" y="2743200"/>
            <a:ext cx="1545336" cy="411480"/>
          </a:xfrm>
          <a:prstGeom prst="rect">
            <a:avLst/>
          </a:prstGeom>
          <a:solidFill>
            <a:srgbClr val="FFFFFF"/>
          </a:solidFill>
          <a:ln w="12700">
            <a:solidFill>
              <a:srgbClr val="D6D6D6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dirty="0">
                <a:solidFill>
                  <a:srgbClr val="545454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единые правила</a:t>
            </a:r>
            <a:endParaRPr lang="en-US" sz="1020" dirty="0"/>
          </a:p>
          <a:p>
            <a:pPr algn="ctr" indent="0" marL="0">
              <a:buNone/>
            </a:pPr>
            <a:r>
              <a:rPr lang="en-US" sz="1800" dirty="0">
                <a:solidFill>
                  <a:srgbClr val="545454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и архитектура</a:t>
            </a:r>
            <a:endParaRPr lang="en-US" sz="1020" dirty="0"/>
          </a:p>
        </p:txBody>
      </p:sp>
      <p:sp>
        <p:nvSpPr>
          <p:cNvPr id="15" name="Shape 12"/>
          <p:cNvSpPr/>
          <p:nvPr/>
        </p:nvSpPr>
        <p:spPr>
          <a:xfrm>
            <a:off x="4873752" y="2606040"/>
            <a:ext cx="310896" cy="237744"/>
          </a:xfrm>
          <a:prstGeom prst="chevron">
            <a:avLst/>
          </a:prstGeom>
          <a:solidFill>
            <a:srgbClr val="D6D6D6"/>
          </a:solidFill>
          <a:ln w="12700">
            <a:solidFill>
              <a:srgbClr val="D6D6D6"/>
            </a:solidFill>
            <a:prstDash val="solid"/>
          </a:ln>
        </p:spPr>
        <p:txBody>
          <a:bodyPr/>
          <a:p/>
        </p:txBody>
      </p:sp>
      <p:sp>
        <p:nvSpPr>
          <p:cNvPr id="16" name="Shape 13"/>
          <p:cNvSpPr/>
          <p:nvPr/>
        </p:nvSpPr>
        <p:spPr>
          <a:xfrm>
            <a:off x="5303520" y="2240280"/>
            <a:ext cx="1783080" cy="1143000"/>
          </a:xfrm>
          <a:prstGeom prst="roundRect">
            <a:avLst>
              <a:gd name="adj" fmla="val 4800"/>
            </a:avLst>
          </a:prstGeom>
          <a:solidFill>
            <a:srgbClr val="FFFFFF"/>
          </a:solidFill>
          <a:ln w="12700">
            <a:solidFill>
              <a:srgbClr val="040442"/>
            </a:solidFill>
            <a:prstDash val="solid"/>
          </a:ln>
        </p:spPr>
        <p:txBody>
          <a:bodyPr/>
          <a:p/>
        </p:txBody>
      </p:sp>
      <p:sp>
        <p:nvSpPr>
          <p:cNvPr id="17" name="Text 14"/>
          <p:cNvSpPr/>
          <p:nvPr/>
        </p:nvSpPr>
        <p:spPr>
          <a:xfrm>
            <a:off x="5413248" y="2450592"/>
            <a:ext cx="1563624" cy="246888"/>
          </a:xfrm>
          <a:prstGeom prst="rect">
            <a:avLst/>
          </a:prstGeom>
          <a:solidFill>
            <a:srgbClr val="FFFFFF"/>
          </a:solidFill>
          <a:ln w="12700">
            <a:solidFill>
              <a:srgbClr val="D6D6D6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0F0F0F"/>
                </a:solidFill>
                <a:latin typeface="Roboto Condensed" pitchFamily="34" charset="0"/>
                <a:ea typeface="Roboto Condensed" pitchFamily="34" charset="-122"/>
                <a:cs typeface="Roboto Condensed" pitchFamily="34" charset="-120"/>
              </a:rPr>
              <a:t>Внедрение</a:t>
            </a:r>
            <a:endParaRPr lang="en-US" sz="1800" dirty="0"/>
          </a:p>
        </p:txBody>
      </p:sp>
      <p:sp>
        <p:nvSpPr>
          <p:cNvPr id="18" name="Text 15"/>
          <p:cNvSpPr/>
          <p:nvPr/>
        </p:nvSpPr>
        <p:spPr>
          <a:xfrm>
            <a:off x="5422392" y="2743200"/>
            <a:ext cx="1545336" cy="411480"/>
          </a:xfrm>
          <a:prstGeom prst="rect">
            <a:avLst/>
          </a:prstGeom>
          <a:solidFill>
            <a:srgbClr val="FFFFFF"/>
          </a:solidFill>
          <a:ln w="12700">
            <a:solidFill>
              <a:srgbClr val="D6D6D6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dirty="0">
                <a:solidFill>
                  <a:srgbClr val="545454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отчетность, бюджет,</a:t>
            </a:r>
            <a:endParaRPr lang="en-US" sz="1020" dirty="0"/>
          </a:p>
          <a:p>
            <a:pPr algn="ctr" indent="0" marL="0">
              <a:buNone/>
            </a:pPr>
            <a:r>
              <a:rPr lang="en-US" sz="1800" dirty="0">
                <a:solidFill>
                  <a:srgbClr val="545454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казначейство</a:t>
            </a:r>
            <a:endParaRPr lang="en-US" sz="1020" dirty="0"/>
          </a:p>
        </p:txBody>
      </p:sp>
      <p:sp>
        <p:nvSpPr>
          <p:cNvPr id="19" name="Shape 16"/>
          <p:cNvSpPr/>
          <p:nvPr/>
        </p:nvSpPr>
        <p:spPr>
          <a:xfrm>
            <a:off x="7159752" y="2606040"/>
            <a:ext cx="310896" cy="237744"/>
          </a:xfrm>
          <a:prstGeom prst="chevron">
            <a:avLst/>
          </a:prstGeom>
          <a:solidFill>
            <a:srgbClr val="D6D6D6"/>
          </a:solidFill>
          <a:ln w="12700">
            <a:solidFill>
              <a:srgbClr val="D6D6D6"/>
            </a:solidFill>
            <a:prstDash val="solid"/>
          </a:ln>
        </p:spPr>
        <p:txBody>
          <a:bodyPr/>
          <a:p/>
        </p:txBody>
      </p:sp>
      <p:sp>
        <p:nvSpPr>
          <p:cNvPr id="20" name="Shape 17"/>
          <p:cNvSpPr/>
          <p:nvPr/>
        </p:nvSpPr>
        <p:spPr>
          <a:xfrm>
            <a:off x="7589520" y="2240280"/>
            <a:ext cx="1783080" cy="1143000"/>
          </a:xfrm>
          <a:prstGeom prst="roundRect">
            <a:avLst>
              <a:gd name="adj" fmla="val 4800"/>
            </a:avLst>
          </a:prstGeom>
          <a:solidFill>
            <a:srgbClr val="FFFFFF"/>
          </a:solidFill>
          <a:ln w="12700">
            <a:solidFill>
              <a:srgbClr val="560004"/>
            </a:solidFill>
            <a:prstDash val="solid"/>
          </a:ln>
        </p:spPr>
        <p:txBody>
          <a:bodyPr/>
          <a:p/>
        </p:txBody>
      </p:sp>
      <p:sp>
        <p:nvSpPr>
          <p:cNvPr id="21" name="Text 18"/>
          <p:cNvSpPr/>
          <p:nvPr/>
        </p:nvSpPr>
        <p:spPr>
          <a:xfrm>
            <a:off x="7699248" y="2450592"/>
            <a:ext cx="1563624" cy="246888"/>
          </a:xfrm>
          <a:prstGeom prst="rect">
            <a:avLst/>
          </a:prstGeom>
          <a:solidFill>
            <a:srgbClr val="FFFFFF"/>
          </a:solidFill>
          <a:ln w="12700">
            <a:solidFill>
              <a:srgbClr val="D6D6D6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0F0F0F"/>
                </a:solidFill>
                <a:latin typeface="Roboto Condensed" pitchFamily="34" charset="0"/>
                <a:ea typeface="Roboto Condensed" pitchFamily="34" charset="-122"/>
                <a:cs typeface="Roboto Condensed" pitchFamily="34" charset="-120"/>
              </a:rPr>
              <a:t>Сопровождение</a:t>
            </a:r>
            <a:endParaRPr lang="en-US" sz="1800" dirty="0"/>
          </a:p>
        </p:txBody>
      </p:sp>
      <p:sp>
        <p:nvSpPr>
          <p:cNvPr id="22" name="Text 19"/>
          <p:cNvSpPr/>
          <p:nvPr/>
        </p:nvSpPr>
        <p:spPr>
          <a:xfrm>
            <a:off x="7708392" y="2743200"/>
            <a:ext cx="1545336" cy="411480"/>
          </a:xfrm>
          <a:prstGeom prst="rect">
            <a:avLst/>
          </a:prstGeom>
          <a:solidFill>
            <a:srgbClr val="FFFFFF"/>
          </a:solidFill>
          <a:ln w="12700">
            <a:solidFill>
              <a:srgbClr val="D6D6D6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dirty="0">
                <a:solidFill>
                  <a:srgbClr val="545454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CFO / controller</a:t>
            </a:r>
            <a:endParaRPr lang="en-US" sz="1020" dirty="0"/>
          </a:p>
          <a:p>
            <a:pPr algn="ctr" indent="0" marL="0">
              <a:buNone/>
            </a:pPr>
            <a:r>
              <a:rPr lang="en-US" sz="1800" dirty="0">
                <a:solidFill>
                  <a:srgbClr val="545454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и обзоры</a:t>
            </a:r>
            <a:endParaRPr lang="en-US" sz="1020" dirty="0"/>
          </a:p>
        </p:txBody>
      </p:sp>
      <p:sp>
        <p:nvSpPr>
          <p:cNvPr id="23" name="Shape 20"/>
          <p:cNvSpPr/>
          <p:nvPr/>
        </p:nvSpPr>
        <p:spPr>
          <a:xfrm>
            <a:off x="9445752" y="2606040"/>
            <a:ext cx="310896" cy="237744"/>
          </a:xfrm>
          <a:prstGeom prst="chevron">
            <a:avLst/>
          </a:prstGeom>
          <a:solidFill>
            <a:srgbClr val="D6D6D6"/>
          </a:solidFill>
          <a:ln w="12700">
            <a:solidFill>
              <a:srgbClr val="D6D6D6"/>
            </a:solidFill>
            <a:prstDash val="solid"/>
          </a:ln>
        </p:spPr>
        <p:txBody>
          <a:bodyPr/>
          <a:p/>
        </p:txBody>
      </p:sp>
      <p:sp>
        <p:nvSpPr>
          <p:cNvPr id="24" name="Shape 21"/>
          <p:cNvSpPr/>
          <p:nvPr/>
        </p:nvSpPr>
        <p:spPr>
          <a:xfrm>
            <a:off x="9875520" y="2240280"/>
            <a:ext cx="1783080" cy="1143000"/>
          </a:xfrm>
          <a:prstGeom prst="roundRect">
            <a:avLst>
              <a:gd name="adj" fmla="val 4800"/>
            </a:avLst>
          </a:prstGeom>
          <a:solidFill>
            <a:srgbClr val="FFFFFF"/>
          </a:solidFill>
          <a:ln w="12700">
            <a:solidFill>
              <a:srgbClr val="040442"/>
            </a:solidFill>
            <a:prstDash val="solid"/>
          </a:ln>
        </p:spPr>
        <p:txBody>
          <a:bodyPr/>
          <a:p/>
        </p:txBody>
      </p:sp>
      <p:sp>
        <p:nvSpPr>
          <p:cNvPr id="25" name="Text 22"/>
          <p:cNvSpPr/>
          <p:nvPr/>
        </p:nvSpPr>
        <p:spPr>
          <a:xfrm>
            <a:off x="9985248" y="2450592"/>
            <a:ext cx="1563624" cy="246888"/>
          </a:xfrm>
          <a:prstGeom prst="rect">
            <a:avLst/>
          </a:prstGeom>
          <a:solidFill>
            <a:srgbClr val="FFFFFF"/>
          </a:solidFill>
          <a:ln w="12700">
            <a:solidFill>
              <a:srgbClr val="D6D6D6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0F0F0F"/>
                </a:solidFill>
                <a:latin typeface="Roboto Condensed" pitchFamily="34" charset="0"/>
                <a:ea typeface="Roboto Condensed" pitchFamily="34" charset="-122"/>
                <a:cs typeface="Roboto Condensed" pitchFamily="34" charset="-120"/>
              </a:rPr>
              <a:t>Спецпроекты</a:t>
            </a:r>
            <a:endParaRPr lang="en-US" sz="1800" dirty="0"/>
          </a:p>
        </p:txBody>
      </p:sp>
      <p:sp>
        <p:nvSpPr>
          <p:cNvPr id="26" name="Text 23"/>
          <p:cNvSpPr/>
          <p:nvPr/>
        </p:nvSpPr>
        <p:spPr>
          <a:xfrm>
            <a:off x="9994392" y="2743200"/>
            <a:ext cx="1545336" cy="411480"/>
          </a:xfrm>
          <a:prstGeom prst="rect">
            <a:avLst/>
          </a:prstGeom>
          <a:solidFill>
            <a:srgbClr val="FFFFFF"/>
          </a:solidFill>
          <a:ln w="12700">
            <a:solidFill>
              <a:srgbClr val="D6D6D6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dirty="0">
                <a:solidFill>
                  <a:srgbClr val="545454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кредит, M&amp;A,</a:t>
            </a:r>
            <a:endParaRPr lang="en-US" sz="1020" dirty="0"/>
          </a:p>
          <a:p>
            <a:pPr algn="ctr" indent="0" marL="0">
              <a:buNone/>
            </a:pPr>
            <a:r>
              <a:rPr lang="en-US" sz="1800" dirty="0">
                <a:solidFill>
                  <a:srgbClr val="545454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реструктуризация</a:t>
            </a:r>
            <a:endParaRPr lang="en-US" sz="1020" dirty="0"/>
          </a:p>
        </p:txBody>
      </p:sp>
      <p:sp>
        <p:nvSpPr>
          <p:cNvPr id="27" name="Shape 24"/>
          <p:cNvSpPr/>
          <p:nvPr/>
        </p:nvSpPr>
        <p:spPr>
          <a:xfrm>
            <a:off x="1325880" y="4343400"/>
            <a:ext cx="9418320" cy="1188720"/>
          </a:xfrm>
          <a:prstGeom prst="roundRect">
            <a:avLst>
              <a:gd name="adj" fmla="val 6154"/>
            </a:avLst>
          </a:prstGeom>
          <a:solidFill>
            <a:srgbClr val="F1EFEF"/>
          </a:solidFill>
          <a:ln w="12700">
            <a:solidFill>
              <a:srgbClr val="D6D6D6"/>
            </a:solidFill>
            <a:prstDash val="solid"/>
          </a:ln>
          <a:effectLst>
            <a:outerShdw sx="100000" sy="100000" kx="0" ky="0" algn="bl" rotWithShape="0" blurRad="12700" dist="3810" dir="2700000">
              <a:srgbClr val="000000">
                <a:alpha val="8000"/>
              </a:srgbClr>
            </a:outerShdw>
          </a:effectLst>
        </p:spPr>
        <p:txBody>
          <a:bodyPr/>
          <a:p/>
        </p:txBody>
      </p:sp>
      <p:sp>
        <p:nvSpPr>
          <p:cNvPr id="28" name="Shape 25"/>
          <p:cNvSpPr/>
          <p:nvPr/>
        </p:nvSpPr>
        <p:spPr>
          <a:xfrm>
            <a:off x="1344168" y="4361688"/>
            <a:ext cx="73152" cy="1152144"/>
          </a:xfrm>
          <a:prstGeom prst="rect">
            <a:avLst/>
          </a:prstGeom>
          <a:solidFill>
            <a:srgbClr val="FFFFFF"/>
          </a:solidFill>
          <a:ln w="12700">
            <a:solidFill>
              <a:srgbClr val="D6D6D6"/>
            </a:solidFill>
            <a:prstDash val="solid"/>
          </a:ln>
        </p:spPr>
        <p:txBody>
          <a:bodyPr/>
          <a:p/>
        </p:txBody>
      </p:sp>
      <p:sp>
        <p:nvSpPr>
          <p:cNvPr id="29" name="Text 26"/>
          <p:cNvSpPr/>
          <p:nvPr/>
        </p:nvSpPr>
        <p:spPr>
          <a:xfrm>
            <a:off x="1490472" y="4489704"/>
            <a:ext cx="9162288" cy="310896"/>
          </a:xfrm>
          <a:prstGeom prst="rect">
            <a:avLst/>
          </a:prstGeom>
          <a:solidFill>
            <a:srgbClr val="FFFFFF"/>
          </a:solidFill>
          <a:ln w="12700">
            <a:solidFill>
              <a:srgbClr val="D6D6D6"/>
            </a:solidFill>
          </a:ln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0F0F0F"/>
                </a:solidFill>
                <a:latin typeface="Roboto Condensed" pitchFamily="34" charset="0"/>
                <a:ea typeface="Roboto Condensed" pitchFamily="34" charset="-122"/>
                <a:cs typeface="Roboto Condensed" pitchFamily="34" charset="-120"/>
              </a:rPr>
              <a:t>Пример развития клиента</a:t>
            </a:r>
            <a:endParaRPr lang="en-US" sz="1800" dirty="0"/>
          </a:p>
        </p:txBody>
      </p:sp>
      <p:sp>
        <p:nvSpPr>
          <p:cNvPr id="30" name="Text 27"/>
          <p:cNvSpPr/>
          <p:nvPr/>
        </p:nvSpPr>
        <p:spPr>
          <a:xfrm>
            <a:off x="1490472" y="4855464"/>
            <a:ext cx="9162288" cy="530352"/>
          </a:xfrm>
          <a:prstGeom prst="rect">
            <a:avLst/>
          </a:prstGeom>
          <a:solidFill>
            <a:srgbClr val="FFFFFF"/>
          </a:solidFill>
          <a:ln w="12700">
            <a:solidFill>
              <a:srgbClr val="D6D6D6"/>
            </a:solidFill>
          </a:ln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800" dirty="0">
                <a:solidFill>
                  <a:srgbClr val="545454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Финансовая диагностика → методология управленческого учета → трехформенная отчетность → внешний CFO → подготовка к кредитованию</a:t>
            </a:r>
            <a:endParaRPr lang="en-US" sz="11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164592"/>
          </a:xfrm>
          <a:prstGeom prst="rect">
            <a:avLst/>
          </a:prstGeom>
          <a:solidFill>
            <a:srgbClr val="FFFFFF"/>
          </a:solidFill>
          <a:ln w="12700">
            <a:solidFill>
              <a:srgbClr val="D6D6D6"/>
            </a:solidFill>
            <a:prstDash val="solid"/>
          </a:ln>
        </p:spPr>
        <p:txBody>
          <a:bodyPr/>
          <a:p/>
        </p:txBody>
      </p:sp>
      <p:sp>
        <p:nvSpPr>
          <p:cNvPr id="3" name="Text 1"/>
          <p:cNvSpPr/>
          <p:nvPr/>
        </p:nvSpPr>
        <p:spPr>
          <a:xfrm>
            <a:off x="594360" y="310896"/>
            <a:ext cx="8046720" cy="384048"/>
          </a:xfrm>
          <a:prstGeom prst="rect">
            <a:avLst/>
          </a:prstGeom>
          <a:solidFill>
            <a:srgbClr val="FFFFFF"/>
          </a:solidFill>
          <a:ln w="12700">
            <a:solidFill>
              <a:srgbClr val="D6D6D6"/>
            </a:solidFill>
          </a:ln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0F0F0F"/>
                </a:solidFill>
                <a:latin typeface="Roboto Condensed" pitchFamily="34" charset="0"/>
                <a:ea typeface="Roboto Condensed" pitchFamily="34" charset="-122"/>
                <a:cs typeface="Roboto Condensed" pitchFamily="34" charset="-120"/>
              </a:rPr>
              <a:t>КАК ФИНАНСОВАЯ ПРАКТИКА УСИЛИВАЕТ ДРУГИЕ НАПРАВЛЕНИЯ</a:t>
            </a:r>
            <a:endParaRPr lang="en-US" sz="2600" dirty="0"/>
          </a:p>
        </p:txBody>
      </p:sp>
      <p:sp>
        <p:nvSpPr>
          <p:cNvPr id="4" name="Text 2"/>
          <p:cNvSpPr/>
          <p:nvPr/>
        </p:nvSpPr>
        <p:spPr>
          <a:xfrm>
            <a:off x="594360" y="722376"/>
            <a:ext cx="7589520" cy="201168"/>
          </a:xfrm>
          <a:prstGeom prst="rect">
            <a:avLst/>
          </a:prstGeom>
          <a:solidFill>
            <a:srgbClr val="FFFFFF"/>
          </a:solidFill>
          <a:ln w="12700">
            <a:solidFill>
              <a:srgbClr val="D6D6D6"/>
            </a:solidFill>
          </a:ln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545454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союзная, а не конкурирующая логика</a:t>
            </a:r>
            <a:endParaRPr lang="en-US" sz="950" dirty="0"/>
          </a:p>
        </p:txBody>
      </p:sp>
      <p:pic>
        <p:nvPicPr>
          <p:cNvPr id="5" name="Image 0" descr="/mnt/data/work/logo_crop_trans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343388" y="256032"/>
            <a:ext cx="938784" cy="502920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11475720" y="6473952"/>
            <a:ext cx="320040" cy="164592"/>
          </a:xfrm>
          <a:prstGeom prst="rect">
            <a:avLst/>
          </a:prstGeom>
          <a:solidFill>
            <a:srgbClr val="FFFFFF"/>
          </a:solidFill>
          <a:ln w="12700">
            <a:solidFill>
              <a:srgbClr val="D6D6D6"/>
            </a:solidFill>
          </a:ln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dirty="0" b="1">
                <a:solidFill>
                  <a:srgbClr val="84383E"/>
                </a:solidFill>
                <a:latin typeface="Roboto Condensed" pitchFamily="34" charset="0"/>
                <a:ea typeface="Roboto Condensed" pitchFamily="34" charset="-122"/>
                <a:cs typeface="Roboto Condensed" pitchFamily="34" charset="-120"/>
              </a:rPr>
              <a:t>10</a:t>
            </a:r>
            <a:endParaRPr lang="en-US" sz="1000" dirty="0"/>
          </a:p>
        </p:txBody>
      </p:sp>
      <p:sp>
        <p:nvSpPr>
          <p:cNvPr id="7" name="Shape 4"/>
          <p:cNvSpPr/>
          <p:nvPr/>
        </p:nvSpPr>
        <p:spPr>
          <a:xfrm>
            <a:off x="594360" y="932688"/>
            <a:ext cx="11018520" cy="0"/>
          </a:xfrm>
          <a:prstGeom prst="line">
            <a:avLst/>
          </a:prstGeom>
          <a:noFill/>
          <a:ln w="12700">
            <a:solidFill>
              <a:srgbClr val="D6D6D6"/>
            </a:solidFill>
            <a:prstDash val="solid"/>
          </a:ln>
        </p:spPr>
        <p:txBody>
          <a:bodyPr/>
          <a:p/>
        </p:txBody>
      </p:sp>
      <p:sp>
        <p:nvSpPr>
          <p:cNvPr id="8" name="Shape 5"/>
          <p:cNvSpPr/>
          <p:nvPr/>
        </p:nvSpPr>
        <p:spPr>
          <a:xfrm>
            <a:off x="777240" y="1508760"/>
            <a:ext cx="3429000" cy="4206240"/>
          </a:xfrm>
          <a:prstGeom prst="roundRect">
            <a:avLst>
              <a:gd name="adj" fmla="val 2133"/>
            </a:avLst>
          </a:prstGeom>
          <a:solidFill>
            <a:srgbClr val="FFFFFF"/>
          </a:solidFill>
          <a:ln w="12700">
            <a:solidFill>
              <a:srgbClr val="D6D6D6"/>
            </a:solidFill>
            <a:prstDash val="solid"/>
          </a:ln>
          <a:effectLst>
            <a:outerShdw sx="100000" sy="100000" kx="0" ky="0" algn="bl" rotWithShape="0" blurRad="12700" dist="3810" dir="2700000">
              <a:srgbClr val="000000">
                <a:alpha val="8000"/>
              </a:srgbClr>
            </a:outerShdw>
          </a:effectLst>
        </p:spPr>
        <p:txBody>
          <a:bodyPr/>
          <a:p/>
        </p:txBody>
      </p:sp>
      <p:sp>
        <p:nvSpPr>
          <p:cNvPr id="9" name="Shape 6"/>
          <p:cNvSpPr/>
          <p:nvPr/>
        </p:nvSpPr>
        <p:spPr>
          <a:xfrm>
            <a:off x="795528" y="1527048"/>
            <a:ext cx="73152" cy="4169664"/>
          </a:xfrm>
          <a:prstGeom prst="rect">
            <a:avLst/>
          </a:prstGeom>
          <a:solidFill>
            <a:srgbClr val="FFFFFF"/>
          </a:solidFill>
          <a:ln w="12700">
            <a:solidFill>
              <a:srgbClr val="D6D6D6"/>
            </a:solidFill>
            <a:prstDash val="solid"/>
          </a:ln>
        </p:spPr>
        <p:txBody>
          <a:bodyPr/>
          <a:p/>
        </p:txBody>
      </p:sp>
      <p:sp>
        <p:nvSpPr>
          <p:cNvPr id="10" name="Text 7"/>
          <p:cNvSpPr/>
          <p:nvPr/>
        </p:nvSpPr>
        <p:spPr>
          <a:xfrm>
            <a:off x="941832" y="1655064"/>
            <a:ext cx="3172968" cy="310896"/>
          </a:xfrm>
          <a:prstGeom prst="rect">
            <a:avLst/>
          </a:prstGeom>
          <a:solidFill>
            <a:srgbClr val="FFFFFF"/>
          </a:solidFill>
          <a:ln w="12700">
            <a:solidFill>
              <a:srgbClr val="D6D6D6"/>
            </a:solidFill>
          </a:ln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0F0F0F"/>
                </a:solidFill>
                <a:latin typeface="Roboto Condensed" pitchFamily="34" charset="0"/>
                <a:ea typeface="Roboto Condensed" pitchFamily="34" charset="-122"/>
                <a:cs typeface="Roboto Condensed" pitchFamily="34" charset="-120"/>
              </a:rPr>
              <a:t>Налоговый блок</a:t>
            </a:r>
            <a:endParaRPr lang="en-US" sz="1800" dirty="0"/>
          </a:p>
        </p:txBody>
      </p:sp>
      <p:sp>
        <p:nvSpPr>
          <p:cNvPr id="11" name="Text 8"/>
          <p:cNvSpPr/>
          <p:nvPr/>
        </p:nvSpPr>
        <p:spPr>
          <a:xfrm>
            <a:off x="941832" y="2020824"/>
            <a:ext cx="3172968" cy="3547872"/>
          </a:xfrm>
          <a:prstGeom prst="rect">
            <a:avLst/>
          </a:prstGeom>
          <a:solidFill>
            <a:srgbClr val="FFFFFF"/>
          </a:solidFill>
          <a:ln w="12700">
            <a:solidFill>
              <a:srgbClr val="D6D6D6"/>
            </a:solidFill>
          </a:ln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endParaRPr lang="en-US" sz="1100" dirty="0"/>
          </a:p>
        </p:txBody>
      </p:sp>
      <p:sp>
        <p:nvSpPr>
          <p:cNvPr id="12" name="Text 9"/>
          <p:cNvSpPr/>
          <p:nvPr/>
        </p:nvSpPr>
        <p:spPr>
          <a:xfrm>
            <a:off x="1069848" y="2148840"/>
            <a:ext cx="2816352" cy="2926080"/>
          </a:xfrm>
          <a:prstGeom prst="rect">
            <a:avLst/>
          </a:prstGeom>
          <a:solidFill>
            <a:srgbClr val="FFFFFF"/>
          </a:solidFill>
          <a:ln w="12700">
            <a:solidFill>
              <a:srgbClr val="D6D6D6"/>
            </a:solidFill>
          </a:ln>
        </p:spPr>
        <p:txBody>
          <a:bodyPr wrap="square" rtlCol="0" anchor="t"/>
          <a:lstStyle/>
          <a:p>
            <a:pPr marL="152400" indent="-152400">
              <a:buSzPct val="100000"/>
              <a:buChar char="•"/>
            </a:pPr>
            <a:r>
              <a:rPr lang="en-US" sz="1800" dirty="0">
                <a:solidFill>
                  <a:srgbClr val="545454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новые поводы для входа в бизнес-решения</a:t>
            </a:r>
            <a:pPr indent="0" marL="0">
              <a:buNone/>
            </a:pPr>
            <a:r>
              <a:rPr lang="en-US" sz="1500" dirty="0">
                <a:solidFill>
                  <a:srgbClr val="0F0F0F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
</a:t>
            </a:r>
            <a:endParaRPr lang="en-US" sz="1500" dirty="0"/>
          </a:p>
          <a:p>
            <a:pPr marL="152400" indent="-152400">
              <a:buSzPct val="100000"/>
              <a:buChar char="•"/>
            </a:pPr>
            <a:r>
              <a:rPr lang="en-US" sz="1800" dirty="0">
                <a:solidFill>
                  <a:srgbClr val="545454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связка налогов с экономикой и cash flow</a:t>
            </a:r>
            <a:pPr indent="0" marL="0">
              <a:buNone/>
            </a:pPr>
            <a:r>
              <a:rPr lang="en-US" sz="1500" dirty="0">
                <a:solidFill>
                  <a:srgbClr val="0F0F0F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
</a:t>
            </a:r>
            <a:endParaRPr lang="en-US" sz="1500" dirty="0"/>
          </a:p>
          <a:p>
            <a:pPr marL="152400" indent="-152400">
              <a:buSzPct val="100000"/>
              <a:buChar char="•"/>
            </a:pPr>
            <a:r>
              <a:rPr lang="en-US" sz="1800" dirty="0">
                <a:solidFill>
                  <a:srgbClr val="545454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более широкий advisory-диалог</a:t>
            </a:r>
            <a:endParaRPr lang="en-US" sz="1500" dirty="0"/>
          </a:p>
        </p:txBody>
      </p:sp>
      <p:sp>
        <p:nvSpPr>
          <p:cNvPr id="13" name="Shape 10"/>
          <p:cNvSpPr/>
          <p:nvPr/>
        </p:nvSpPr>
        <p:spPr>
          <a:xfrm>
            <a:off x="4572000" y="1508760"/>
            <a:ext cx="3429000" cy="4206240"/>
          </a:xfrm>
          <a:prstGeom prst="roundRect">
            <a:avLst>
              <a:gd name="adj" fmla="val 2133"/>
            </a:avLst>
          </a:prstGeom>
          <a:solidFill>
            <a:srgbClr val="FFFFFF"/>
          </a:solidFill>
          <a:ln w="12700">
            <a:solidFill>
              <a:srgbClr val="D6D6D6"/>
            </a:solidFill>
            <a:prstDash val="solid"/>
          </a:ln>
          <a:effectLst>
            <a:outerShdw sx="100000" sy="100000" kx="0" ky="0" algn="bl" rotWithShape="0" blurRad="12700" dist="3810" dir="2700000">
              <a:srgbClr val="000000">
                <a:alpha val="8000"/>
              </a:srgbClr>
            </a:outerShdw>
          </a:effectLst>
        </p:spPr>
        <p:txBody>
          <a:bodyPr/>
          <a:p/>
        </p:txBody>
      </p:sp>
      <p:sp>
        <p:nvSpPr>
          <p:cNvPr id="14" name="Shape 11"/>
          <p:cNvSpPr/>
          <p:nvPr/>
        </p:nvSpPr>
        <p:spPr>
          <a:xfrm>
            <a:off x="4590288" y="1527048"/>
            <a:ext cx="73152" cy="4169664"/>
          </a:xfrm>
          <a:prstGeom prst="rect">
            <a:avLst/>
          </a:prstGeom>
          <a:solidFill>
            <a:srgbClr val="FFFFFF"/>
          </a:solidFill>
          <a:ln w="12700">
            <a:solidFill>
              <a:srgbClr val="D6D6D6"/>
            </a:solidFill>
            <a:prstDash val="solid"/>
          </a:ln>
        </p:spPr>
        <p:txBody>
          <a:bodyPr/>
          <a:p/>
        </p:txBody>
      </p:sp>
      <p:sp>
        <p:nvSpPr>
          <p:cNvPr id="15" name="Text 12"/>
          <p:cNvSpPr/>
          <p:nvPr/>
        </p:nvSpPr>
        <p:spPr>
          <a:xfrm>
            <a:off x="4736592" y="1655064"/>
            <a:ext cx="3172968" cy="310896"/>
          </a:xfrm>
          <a:prstGeom prst="rect">
            <a:avLst/>
          </a:prstGeom>
          <a:solidFill>
            <a:srgbClr val="FFFFFF"/>
          </a:solidFill>
          <a:ln w="12700">
            <a:solidFill>
              <a:srgbClr val="D6D6D6"/>
            </a:solidFill>
          </a:ln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0F0F0F"/>
                </a:solidFill>
                <a:latin typeface="Roboto Condensed" pitchFamily="34" charset="0"/>
                <a:ea typeface="Roboto Condensed" pitchFamily="34" charset="-122"/>
                <a:cs typeface="Roboto Condensed" pitchFamily="34" charset="-120"/>
              </a:rPr>
              <a:t>Бухгалтерский блок</a:t>
            </a:r>
            <a:endParaRPr lang="en-US" sz="1800" dirty="0"/>
          </a:p>
        </p:txBody>
      </p:sp>
      <p:sp>
        <p:nvSpPr>
          <p:cNvPr id="16" name="Text 13"/>
          <p:cNvSpPr/>
          <p:nvPr/>
        </p:nvSpPr>
        <p:spPr>
          <a:xfrm>
            <a:off x="4736592" y="2020824"/>
            <a:ext cx="3172968" cy="3547872"/>
          </a:xfrm>
          <a:prstGeom prst="rect">
            <a:avLst/>
          </a:prstGeom>
          <a:solidFill>
            <a:srgbClr val="FFFFFF"/>
          </a:solidFill>
          <a:ln w="12700">
            <a:solidFill>
              <a:srgbClr val="D6D6D6"/>
            </a:solidFill>
          </a:ln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endParaRPr lang="en-US" sz="1100" dirty="0"/>
          </a:p>
        </p:txBody>
      </p:sp>
      <p:sp>
        <p:nvSpPr>
          <p:cNvPr id="17" name="Text 14"/>
          <p:cNvSpPr/>
          <p:nvPr/>
        </p:nvSpPr>
        <p:spPr>
          <a:xfrm>
            <a:off x="4864608" y="2148840"/>
            <a:ext cx="2816352" cy="2926080"/>
          </a:xfrm>
          <a:prstGeom prst="rect">
            <a:avLst/>
          </a:prstGeom>
          <a:solidFill>
            <a:srgbClr val="FFFFFF"/>
          </a:solidFill>
          <a:ln w="12700">
            <a:solidFill>
              <a:srgbClr val="D6D6D6"/>
            </a:solidFill>
          </a:ln>
        </p:spPr>
        <p:txBody>
          <a:bodyPr wrap="square" rtlCol="0" anchor="t"/>
          <a:lstStyle/>
          <a:p>
            <a:pPr marL="152400" indent="-152400">
              <a:buSzPct val="100000"/>
              <a:buChar char="•"/>
            </a:pPr>
            <a:r>
              <a:rPr lang="en-US" sz="1800" dirty="0">
                <a:solidFill>
                  <a:srgbClr val="545454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апсейл от учета к отчетности и контролю</a:t>
            </a:r>
            <a:pPr indent="0" marL="0">
              <a:buNone/>
            </a:pPr>
            <a:r>
              <a:rPr lang="en-US" sz="1500" dirty="0">
                <a:solidFill>
                  <a:srgbClr val="0F0F0F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
</a:t>
            </a:r>
            <a:endParaRPr lang="en-US" sz="1500" dirty="0"/>
          </a:p>
          <a:p>
            <a:pPr marL="152400" indent="-152400">
              <a:buSzPct val="100000"/>
              <a:buChar char="•"/>
            </a:pPr>
            <a:r>
              <a:rPr lang="en-US" sz="1800" dirty="0">
                <a:solidFill>
                  <a:srgbClr val="545454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рост ценности сопровождения</a:t>
            </a:r>
            <a:pPr indent="0" marL="0">
              <a:buNone/>
            </a:pPr>
            <a:r>
              <a:rPr lang="en-US" sz="1500" dirty="0">
                <a:solidFill>
                  <a:srgbClr val="0F0F0F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
</a:t>
            </a:r>
            <a:endParaRPr lang="en-US" sz="1500" dirty="0"/>
          </a:p>
          <a:p>
            <a:pPr marL="152400" indent="-152400">
              <a:buSzPct val="100000"/>
              <a:buChar char="•"/>
            </a:pPr>
            <a:r>
              <a:rPr lang="en-US" sz="1800" dirty="0">
                <a:solidFill>
                  <a:srgbClr val="545454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панель собственника как next step</a:t>
            </a:r>
            <a:endParaRPr lang="en-US" sz="1500" dirty="0"/>
          </a:p>
        </p:txBody>
      </p:sp>
      <p:sp>
        <p:nvSpPr>
          <p:cNvPr id="18" name="Shape 15"/>
          <p:cNvSpPr/>
          <p:nvPr/>
        </p:nvSpPr>
        <p:spPr>
          <a:xfrm>
            <a:off x="8366760" y="1508760"/>
            <a:ext cx="3429000" cy="4206240"/>
          </a:xfrm>
          <a:prstGeom prst="roundRect">
            <a:avLst>
              <a:gd name="adj" fmla="val 2133"/>
            </a:avLst>
          </a:prstGeom>
          <a:solidFill>
            <a:srgbClr val="FFFFFF"/>
          </a:solidFill>
          <a:ln w="12700">
            <a:solidFill>
              <a:srgbClr val="D6D6D6"/>
            </a:solidFill>
            <a:prstDash val="solid"/>
          </a:ln>
          <a:effectLst>
            <a:outerShdw sx="100000" sy="100000" kx="0" ky="0" algn="bl" rotWithShape="0" blurRad="12700" dist="3810" dir="2700000">
              <a:srgbClr val="000000">
                <a:alpha val="8000"/>
              </a:srgbClr>
            </a:outerShdw>
          </a:effectLst>
        </p:spPr>
        <p:txBody>
          <a:bodyPr/>
          <a:p/>
        </p:txBody>
      </p:sp>
      <p:sp>
        <p:nvSpPr>
          <p:cNvPr id="19" name="Shape 16"/>
          <p:cNvSpPr/>
          <p:nvPr/>
        </p:nvSpPr>
        <p:spPr>
          <a:xfrm>
            <a:off x="8385048" y="1527048"/>
            <a:ext cx="73152" cy="4169664"/>
          </a:xfrm>
          <a:prstGeom prst="rect">
            <a:avLst/>
          </a:prstGeom>
          <a:solidFill>
            <a:srgbClr val="FFFFFF"/>
          </a:solidFill>
          <a:ln w="12700">
            <a:solidFill>
              <a:srgbClr val="D6D6D6"/>
            </a:solidFill>
            <a:prstDash val="solid"/>
          </a:ln>
        </p:spPr>
        <p:txBody>
          <a:bodyPr/>
          <a:p/>
        </p:txBody>
      </p:sp>
      <p:sp>
        <p:nvSpPr>
          <p:cNvPr id="20" name="Text 17"/>
          <p:cNvSpPr/>
          <p:nvPr/>
        </p:nvSpPr>
        <p:spPr>
          <a:xfrm>
            <a:off x="8531352" y="1655064"/>
            <a:ext cx="3172968" cy="310896"/>
          </a:xfrm>
          <a:prstGeom prst="rect">
            <a:avLst/>
          </a:prstGeom>
          <a:solidFill>
            <a:srgbClr val="FFFFFF"/>
          </a:solidFill>
          <a:ln w="12700">
            <a:solidFill>
              <a:srgbClr val="D6D6D6"/>
            </a:solidFill>
          </a:ln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0F0F0F"/>
                </a:solidFill>
                <a:latin typeface="Roboto Condensed" pitchFamily="34" charset="0"/>
                <a:ea typeface="Roboto Condensed" pitchFamily="34" charset="-122"/>
                <a:cs typeface="Roboto Condensed" pitchFamily="34" charset="-120"/>
              </a:rPr>
              <a:t>Аудит</a:t>
            </a:r>
            <a:endParaRPr lang="en-US" sz="1800" dirty="0"/>
          </a:p>
        </p:txBody>
      </p:sp>
      <p:sp>
        <p:nvSpPr>
          <p:cNvPr id="21" name="Text 18"/>
          <p:cNvSpPr/>
          <p:nvPr/>
        </p:nvSpPr>
        <p:spPr>
          <a:xfrm>
            <a:off x="8531352" y="2020824"/>
            <a:ext cx="3172968" cy="3547872"/>
          </a:xfrm>
          <a:prstGeom prst="rect">
            <a:avLst/>
          </a:prstGeom>
          <a:solidFill>
            <a:srgbClr val="FFFFFF"/>
          </a:solidFill>
          <a:ln w="12700">
            <a:solidFill>
              <a:srgbClr val="D6D6D6"/>
            </a:solidFill>
          </a:ln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endParaRPr lang="en-US" sz="1100" dirty="0"/>
          </a:p>
        </p:txBody>
      </p:sp>
      <p:sp>
        <p:nvSpPr>
          <p:cNvPr id="22" name="Text 19"/>
          <p:cNvSpPr/>
          <p:nvPr/>
        </p:nvSpPr>
        <p:spPr>
          <a:xfrm>
            <a:off x="8659368" y="2148840"/>
            <a:ext cx="2816352" cy="2926080"/>
          </a:xfrm>
          <a:prstGeom prst="rect">
            <a:avLst/>
          </a:prstGeom>
          <a:solidFill>
            <a:srgbClr val="FFFFFF"/>
          </a:solidFill>
          <a:ln w="12700">
            <a:solidFill>
              <a:srgbClr val="D6D6D6"/>
            </a:solidFill>
          </a:ln>
        </p:spPr>
        <p:txBody>
          <a:bodyPr wrap="square" rtlCol="0" anchor="t"/>
          <a:lstStyle/>
          <a:p>
            <a:pPr marL="152400" indent="-152400">
              <a:buSzPct val="100000"/>
              <a:buChar char="•"/>
            </a:pPr>
            <a:r>
              <a:rPr lang="en-US" sz="1800" dirty="0">
                <a:solidFill>
                  <a:srgbClr val="545454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усиление advisory-составляющей</a:t>
            </a:r>
            <a:pPr indent="0" marL="0">
              <a:buNone/>
            </a:pPr>
            <a:r>
              <a:rPr lang="en-US" sz="1500" dirty="0">
                <a:solidFill>
                  <a:srgbClr val="0F0F0F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
</a:t>
            </a:r>
            <a:endParaRPr lang="en-US" sz="1500" dirty="0"/>
          </a:p>
          <a:p>
            <a:pPr marL="152400" indent="-152400">
              <a:buSzPct val="100000"/>
              <a:buChar char="•"/>
            </a:pPr>
            <a:r>
              <a:rPr lang="en-US" sz="1800" dirty="0">
                <a:solidFill>
                  <a:srgbClr val="545454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методология, отчетность, трансформация</a:t>
            </a:r>
            <a:pPr indent="0" marL="0">
              <a:buNone/>
            </a:pPr>
            <a:r>
              <a:rPr lang="en-US" sz="1500" dirty="0">
                <a:solidFill>
                  <a:srgbClr val="0F0F0F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
</a:t>
            </a:r>
            <a:endParaRPr lang="en-US" sz="1500" dirty="0"/>
          </a:p>
          <a:p>
            <a:pPr marL="152400" indent="-152400">
              <a:buSzPct val="100000"/>
              <a:buChar char="•"/>
            </a:pPr>
            <a:r>
              <a:rPr lang="en-US" sz="1800" dirty="0">
                <a:solidFill>
                  <a:srgbClr val="545454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проекты после аудита и диагностики</a:t>
            </a:r>
            <a:endParaRPr lang="en-US" sz="1500" dirty="0"/>
          </a:p>
        </p:txBody>
      </p:sp>
      <p:sp>
        <p:nvSpPr>
          <p:cNvPr id="23" name="Oval 22"/>
          <p:cNvSpPr/>
          <p:nvPr/>
        </p:nvSpPr>
        <p:spPr>
          <a:xfrm>
            <a:off x="594360" y="1417320"/>
            <a:ext cx="230428" cy="230428"/>
          </a:xfrm>
          <a:prstGeom prst="ellipse">
            <a:avLst/>
          </a:prstGeom>
          <a:noFill/>
          <a:ln w="22225">
            <a:solidFill>
              <a:srgbClr val="84383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ectangle 23"/>
          <p:cNvSpPr/>
          <p:nvPr/>
        </p:nvSpPr>
        <p:spPr>
          <a:xfrm rot="2700000">
            <a:off x="767181" y="1602943"/>
            <a:ext cx="108813" cy="19202"/>
          </a:xfrm>
          <a:prstGeom prst="rect">
            <a:avLst/>
          </a:prstGeom>
          <a:solidFill>
            <a:srgbClr val="8438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164592"/>
          </a:xfrm>
          <a:prstGeom prst="rect">
            <a:avLst/>
          </a:prstGeom>
          <a:solidFill>
            <a:srgbClr val="FFFFFF"/>
          </a:solidFill>
          <a:ln w="12700">
            <a:solidFill>
              <a:srgbClr val="D6D6D6"/>
            </a:solidFill>
            <a:prstDash val="solid"/>
          </a:ln>
        </p:spPr>
        <p:txBody>
          <a:bodyPr/>
          <a:p/>
        </p:txBody>
      </p:sp>
      <p:sp>
        <p:nvSpPr>
          <p:cNvPr id="3" name="Text 1"/>
          <p:cNvSpPr/>
          <p:nvPr/>
        </p:nvSpPr>
        <p:spPr>
          <a:xfrm>
            <a:off x="594360" y="310896"/>
            <a:ext cx="8046720" cy="384048"/>
          </a:xfrm>
          <a:prstGeom prst="rect">
            <a:avLst/>
          </a:prstGeom>
          <a:solidFill>
            <a:srgbClr val="FFFFFF"/>
          </a:solidFill>
          <a:ln w="12700">
            <a:solidFill>
              <a:srgbClr val="D6D6D6"/>
            </a:solidFill>
          </a:ln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0F0F0F"/>
                </a:solidFill>
                <a:latin typeface="Roboto Condensed" pitchFamily="34" charset="0"/>
                <a:ea typeface="Roboto Condensed" pitchFamily="34" charset="-122"/>
                <a:cs typeface="Roboto Condensed" pitchFamily="34" charset="-120"/>
              </a:rPr>
              <a:t>С ЧЕГО РАЗУМНО НАЧАТЬ</a:t>
            </a:r>
            <a:endParaRPr lang="en-US" sz="2600" dirty="0"/>
          </a:p>
        </p:txBody>
      </p:sp>
      <p:sp>
        <p:nvSpPr>
          <p:cNvPr id="4" name="Text 2"/>
          <p:cNvSpPr/>
          <p:nvPr/>
        </p:nvSpPr>
        <p:spPr>
          <a:xfrm>
            <a:off x="594360" y="722376"/>
            <a:ext cx="7589520" cy="201168"/>
          </a:xfrm>
          <a:prstGeom prst="rect">
            <a:avLst/>
          </a:prstGeom>
          <a:solidFill>
            <a:srgbClr val="FFFFFF"/>
          </a:solidFill>
          <a:ln w="12700">
            <a:solidFill>
              <a:srgbClr val="D6D6D6"/>
            </a:solidFill>
          </a:ln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545454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приоритетный контур запуска практики</a:t>
            </a:r>
            <a:endParaRPr lang="en-US" sz="950" dirty="0"/>
          </a:p>
        </p:txBody>
      </p:sp>
      <p:pic>
        <p:nvPicPr>
          <p:cNvPr id="5" name="Image 0" descr="/mnt/data/work/logo_crop_trans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343388" y="256032"/>
            <a:ext cx="938784" cy="502920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11475720" y="6473952"/>
            <a:ext cx="320040" cy="164592"/>
          </a:xfrm>
          <a:prstGeom prst="rect">
            <a:avLst/>
          </a:prstGeom>
          <a:solidFill>
            <a:srgbClr val="FFFFFF"/>
          </a:solidFill>
          <a:ln w="12700">
            <a:solidFill>
              <a:srgbClr val="D6D6D6"/>
            </a:solidFill>
          </a:ln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dirty="0" b="1">
                <a:solidFill>
                  <a:srgbClr val="84383E"/>
                </a:solidFill>
                <a:latin typeface="Roboto Condensed" pitchFamily="34" charset="0"/>
                <a:ea typeface="Roboto Condensed" pitchFamily="34" charset="-122"/>
                <a:cs typeface="Roboto Condensed" pitchFamily="34" charset="-120"/>
              </a:rPr>
              <a:t>11</a:t>
            </a:r>
            <a:endParaRPr lang="en-US" sz="1000" dirty="0"/>
          </a:p>
        </p:txBody>
      </p:sp>
      <p:sp>
        <p:nvSpPr>
          <p:cNvPr id="7" name="Shape 4"/>
          <p:cNvSpPr/>
          <p:nvPr/>
        </p:nvSpPr>
        <p:spPr>
          <a:xfrm>
            <a:off x="594360" y="932688"/>
            <a:ext cx="11018520" cy="0"/>
          </a:xfrm>
          <a:prstGeom prst="line">
            <a:avLst/>
          </a:prstGeom>
          <a:noFill/>
          <a:ln w="12700">
            <a:solidFill>
              <a:srgbClr val="D6D6D6"/>
            </a:solidFill>
            <a:prstDash val="solid"/>
          </a:ln>
        </p:spPr>
        <p:txBody>
          <a:bodyPr/>
          <a:p/>
        </p:txBody>
      </p:sp>
      <p:sp>
        <p:nvSpPr>
          <p:cNvPr id="8" name="Shape 5"/>
          <p:cNvSpPr/>
          <p:nvPr/>
        </p:nvSpPr>
        <p:spPr>
          <a:xfrm>
            <a:off x="822960" y="1554480"/>
            <a:ext cx="3337560" cy="4206240"/>
          </a:xfrm>
          <a:prstGeom prst="roundRect">
            <a:avLst>
              <a:gd name="adj" fmla="val 2192"/>
            </a:avLst>
          </a:prstGeom>
          <a:solidFill>
            <a:srgbClr val="FFFFFF"/>
          </a:solidFill>
          <a:ln w="12700">
            <a:solidFill>
              <a:srgbClr val="D6D6D6"/>
            </a:solidFill>
            <a:prstDash val="solid"/>
          </a:ln>
          <a:effectLst>
            <a:outerShdw sx="100000" sy="100000" kx="0" ky="0" algn="bl" rotWithShape="0" blurRad="12700" dist="3810" dir="2700000">
              <a:srgbClr val="000000">
                <a:alpha val="8000"/>
              </a:srgbClr>
            </a:outerShdw>
          </a:effectLst>
        </p:spPr>
        <p:txBody>
          <a:bodyPr/>
          <a:p/>
        </p:txBody>
      </p:sp>
      <p:sp>
        <p:nvSpPr>
          <p:cNvPr id="9" name="Shape 6"/>
          <p:cNvSpPr/>
          <p:nvPr/>
        </p:nvSpPr>
        <p:spPr>
          <a:xfrm>
            <a:off x="841248" y="1572768"/>
            <a:ext cx="73152" cy="4169664"/>
          </a:xfrm>
          <a:prstGeom prst="rect">
            <a:avLst/>
          </a:prstGeom>
          <a:solidFill>
            <a:srgbClr val="FFFFFF"/>
          </a:solidFill>
          <a:ln w="12700">
            <a:solidFill>
              <a:srgbClr val="D6D6D6"/>
            </a:solidFill>
            <a:prstDash val="solid"/>
          </a:ln>
        </p:spPr>
        <p:txBody>
          <a:bodyPr/>
          <a:p/>
        </p:txBody>
      </p:sp>
      <p:sp>
        <p:nvSpPr>
          <p:cNvPr id="10" name="Text 7"/>
          <p:cNvSpPr/>
          <p:nvPr/>
        </p:nvSpPr>
        <p:spPr>
          <a:xfrm>
            <a:off x="987552" y="1700784"/>
            <a:ext cx="3081528" cy="310896"/>
          </a:xfrm>
          <a:prstGeom prst="rect">
            <a:avLst/>
          </a:prstGeom>
          <a:solidFill>
            <a:srgbClr val="FFFFFF"/>
          </a:solidFill>
          <a:ln w="12700">
            <a:solidFill>
              <a:srgbClr val="D6D6D6"/>
            </a:solidFill>
          </a:ln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0F0F0F"/>
                </a:solidFill>
                <a:latin typeface="Roboto Condensed" pitchFamily="34" charset="0"/>
                <a:ea typeface="Roboto Condensed" pitchFamily="34" charset="-122"/>
                <a:cs typeface="Roboto Condensed" pitchFamily="34" charset="-120"/>
              </a:rPr>
              <a:t>Вход</a:t>
            </a:r>
            <a:endParaRPr lang="en-US" sz="1800" dirty="0"/>
          </a:p>
        </p:txBody>
      </p:sp>
      <p:sp>
        <p:nvSpPr>
          <p:cNvPr id="11" name="Text 8"/>
          <p:cNvSpPr/>
          <p:nvPr/>
        </p:nvSpPr>
        <p:spPr>
          <a:xfrm>
            <a:off x="987552" y="2066544"/>
            <a:ext cx="3081528" cy="3547872"/>
          </a:xfrm>
          <a:prstGeom prst="rect">
            <a:avLst/>
          </a:prstGeom>
          <a:solidFill>
            <a:srgbClr val="FFFFFF"/>
          </a:solidFill>
          <a:ln w="12700">
            <a:solidFill>
              <a:srgbClr val="D6D6D6"/>
            </a:solidFill>
          </a:ln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endParaRPr lang="en-US" sz="1100" dirty="0"/>
          </a:p>
        </p:txBody>
      </p:sp>
      <p:sp>
        <p:nvSpPr>
          <p:cNvPr id="12" name="Text 9"/>
          <p:cNvSpPr/>
          <p:nvPr/>
        </p:nvSpPr>
        <p:spPr>
          <a:xfrm>
            <a:off x="1115568" y="2176272"/>
            <a:ext cx="2697480" cy="2834640"/>
          </a:xfrm>
          <a:prstGeom prst="rect">
            <a:avLst/>
          </a:prstGeom>
          <a:solidFill>
            <a:srgbClr val="FFFFFF"/>
          </a:solidFill>
          <a:ln w="12700">
            <a:solidFill>
              <a:srgbClr val="D6D6D6"/>
            </a:solidFill>
          </a:ln>
        </p:spPr>
        <p:txBody>
          <a:bodyPr wrap="square" rtlCol="0" anchor="t"/>
          <a:lstStyle/>
          <a:p>
            <a:pPr marL="152400" indent="-152400">
              <a:buSzPct val="100000"/>
              <a:buChar char="•"/>
            </a:pPr>
            <a:r>
              <a:rPr lang="en-US" sz="1800" dirty="0">
                <a:solidFill>
                  <a:srgbClr val="545454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Финансовая диагностика</a:t>
            </a:r>
            <a:pPr indent="0" marL="0">
              <a:buNone/>
            </a:pPr>
            <a:r>
              <a:rPr lang="en-US" sz="1500" dirty="0">
                <a:solidFill>
                  <a:srgbClr val="0F0F0F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
</a:t>
            </a:r>
            <a:endParaRPr lang="en-US" sz="1500" dirty="0"/>
          </a:p>
          <a:p>
            <a:pPr marL="152400" indent="-152400">
              <a:buSzPct val="100000"/>
              <a:buChar char="•"/>
            </a:pPr>
            <a:r>
              <a:rPr lang="en-US" sz="1800" dirty="0">
                <a:solidFill>
                  <a:srgbClr val="545454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Диагностика управленческого учета</a:t>
            </a:r>
            <a:pPr indent="0" marL="0">
              <a:buNone/>
            </a:pPr>
            <a:r>
              <a:rPr lang="en-US" sz="1500" dirty="0">
                <a:solidFill>
                  <a:srgbClr val="0F0F0F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
</a:t>
            </a:r>
            <a:endParaRPr lang="en-US" sz="1500" dirty="0"/>
          </a:p>
          <a:p>
            <a:pPr marL="152400" indent="-152400">
              <a:buSzPct val="100000"/>
              <a:buChar char="•"/>
            </a:pPr>
            <a:r>
              <a:rPr lang="en-US" sz="1800" dirty="0">
                <a:solidFill>
                  <a:srgbClr val="545454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Диагностика денежных потоков</a:t>
            </a:r>
            <a:pPr indent="0" marL="0">
              <a:buNone/>
            </a:pPr>
            <a:r>
              <a:rPr lang="en-US" sz="1500" dirty="0">
                <a:solidFill>
                  <a:srgbClr val="0F0F0F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
</a:t>
            </a:r>
            <a:endParaRPr lang="en-US" sz="1500" dirty="0"/>
          </a:p>
          <a:p>
            <a:pPr marL="152400" indent="-152400">
              <a:buSzPct val="100000"/>
              <a:buChar char="•"/>
            </a:pPr>
            <a:r>
              <a:rPr lang="en-US" sz="1800" dirty="0">
                <a:solidFill>
                  <a:srgbClr val="545454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Диагностика прибыльности</a:t>
            </a:r>
            <a:endParaRPr lang="en-US" sz="1500" dirty="0"/>
          </a:p>
        </p:txBody>
      </p:sp>
      <p:sp>
        <p:nvSpPr>
          <p:cNvPr id="13" name="Shape 10"/>
          <p:cNvSpPr/>
          <p:nvPr/>
        </p:nvSpPr>
        <p:spPr>
          <a:xfrm>
            <a:off x="4590288" y="1554480"/>
            <a:ext cx="3337560" cy="4206240"/>
          </a:xfrm>
          <a:prstGeom prst="roundRect">
            <a:avLst>
              <a:gd name="adj" fmla="val 2192"/>
            </a:avLst>
          </a:prstGeom>
          <a:solidFill>
            <a:srgbClr val="FFFFFF"/>
          </a:solidFill>
          <a:ln w="12700">
            <a:solidFill>
              <a:srgbClr val="D6D6D6"/>
            </a:solidFill>
            <a:prstDash val="solid"/>
          </a:ln>
          <a:effectLst>
            <a:outerShdw sx="100000" sy="100000" kx="0" ky="0" algn="bl" rotWithShape="0" blurRad="12700" dist="3810" dir="2700000">
              <a:srgbClr val="000000">
                <a:alpha val="8000"/>
              </a:srgbClr>
            </a:outerShdw>
          </a:effectLst>
        </p:spPr>
        <p:txBody>
          <a:bodyPr/>
          <a:p/>
        </p:txBody>
      </p:sp>
      <p:sp>
        <p:nvSpPr>
          <p:cNvPr id="14" name="Shape 11"/>
          <p:cNvSpPr/>
          <p:nvPr/>
        </p:nvSpPr>
        <p:spPr>
          <a:xfrm>
            <a:off x="4608576" y="1572768"/>
            <a:ext cx="73152" cy="4169664"/>
          </a:xfrm>
          <a:prstGeom prst="rect">
            <a:avLst/>
          </a:prstGeom>
          <a:solidFill>
            <a:srgbClr val="FFFFFF"/>
          </a:solidFill>
          <a:ln w="12700">
            <a:solidFill>
              <a:srgbClr val="D6D6D6"/>
            </a:solidFill>
            <a:prstDash val="solid"/>
          </a:ln>
        </p:spPr>
        <p:txBody>
          <a:bodyPr/>
          <a:p/>
        </p:txBody>
      </p:sp>
      <p:sp>
        <p:nvSpPr>
          <p:cNvPr id="15" name="Text 12"/>
          <p:cNvSpPr/>
          <p:nvPr/>
        </p:nvSpPr>
        <p:spPr>
          <a:xfrm>
            <a:off x="4754880" y="1700784"/>
            <a:ext cx="3081528" cy="310896"/>
          </a:xfrm>
          <a:prstGeom prst="rect">
            <a:avLst/>
          </a:prstGeom>
          <a:solidFill>
            <a:srgbClr val="FFFFFF"/>
          </a:solidFill>
          <a:ln w="12700">
            <a:solidFill>
              <a:srgbClr val="D6D6D6"/>
            </a:solidFill>
          </a:ln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0F0F0F"/>
                </a:solidFill>
                <a:latin typeface="Roboto Condensed" pitchFamily="34" charset="0"/>
                <a:ea typeface="Roboto Condensed" pitchFamily="34" charset="-122"/>
                <a:cs typeface="Roboto Condensed" pitchFamily="34" charset="-120"/>
              </a:rPr>
              <a:t>Core</a:t>
            </a:r>
            <a:endParaRPr lang="en-US" sz="1800" dirty="0"/>
          </a:p>
        </p:txBody>
      </p:sp>
      <p:sp>
        <p:nvSpPr>
          <p:cNvPr id="16" name="Text 13"/>
          <p:cNvSpPr/>
          <p:nvPr/>
        </p:nvSpPr>
        <p:spPr>
          <a:xfrm>
            <a:off x="4754880" y="2066544"/>
            <a:ext cx="3081528" cy="3547872"/>
          </a:xfrm>
          <a:prstGeom prst="rect">
            <a:avLst/>
          </a:prstGeom>
          <a:solidFill>
            <a:srgbClr val="FFFFFF"/>
          </a:solidFill>
          <a:ln w="12700">
            <a:solidFill>
              <a:srgbClr val="D6D6D6"/>
            </a:solidFill>
          </a:ln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endParaRPr lang="en-US" sz="1100" dirty="0"/>
          </a:p>
        </p:txBody>
      </p:sp>
      <p:sp>
        <p:nvSpPr>
          <p:cNvPr id="17" name="Text 14"/>
          <p:cNvSpPr/>
          <p:nvPr/>
        </p:nvSpPr>
        <p:spPr>
          <a:xfrm>
            <a:off x="4882896" y="2176272"/>
            <a:ext cx="2697480" cy="2834640"/>
          </a:xfrm>
          <a:prstGeom prst="rect">
            <a:avLst/>
          </a:prstGeom>
          <a:solidFill>
            <a:srgbClr val="FFFFFF"/>
          </a:solidFill>
          <a:ln w="12700">
            <a:solidFill>
              <a:srgbClr val="D6D6D6"/>
            </a:solidFill>
          </a:ln>
        </p:spPr>
        <p:txBody>
          <a:bodyPr wrap="square" rtlCol="0" anchor="t"/>
          <a:lstStyle/>
          <a:p>
            <a:pPr marL="152400" indent="-152400">
              <a:buSzPct val="100000"/>
              <a:buChar char="•"/>
            </a:pPr>
            <a:r>
              <a:rPr lang="en-US" sz="1800" dirty="0">
                <a:solidFill>
                  <a:srgbClr val="545454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Методология управленческого учета</a:t>
            </a:r>
            <a:pPr indent="0" marL="0">
              <a:buNone/>
            </a:pPr>
            <a:r>
              <a:rPr lang="en-US" sz="1500" dirty="0">
                <a:solidFill>
                  <a:srgbClr val="0F0F0F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
</a:t>
            </a:r>
            <a:endParaRPr lang="en-US" sz="1500" dirty="0"/>
          </a:p>
          <a:p>
            <a:pPr marL="152400" indent="-152400">
              <a:buSzPct val="100000"/>
              <a:buChar char="•"/>
            </a:pPr>
            <a:r>
              <a:rPr lang="en-US" sz="1800" dirty="0">
                <a:solidFill>
                  <a:srgbClr val="545454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Трехформенная отчетность</a:t>
            </a:r>
            <a:pPr indent="0" marL="0">
              <a:buNone/>
            </a:pPr>
            <a:r>
              <a:rPr lang="en-US" sz="1500" dirty="0">
                <a:solidFill>
                  <a:srgbClr val="0F0F0F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
</a:t>
            </a:r>
            <a:endParaRPr lang="en-US" sz="1500" dirty="0"/>
          </a:p>
          <a:p>
            <a:pPr marL="152400" indent="-152400">
              <a:buSzPct val="100000"/>
              <a:buChar char="•"/>
            </a:pPr>
            <a:r>
              <a:rPr lang="en-US" sz="1800" dirty="0">
                <a:solidFill>
                  <a:srgbClr val="545454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Панель собственника</a:t>
            </a:r>
            <a:pPr indent="0" marL="0">
              <a:buNone/>
            </a:pPr>
            <a:r>
              <a:rPr lang="en-US" sz="1500" dirty="0">
                <a:solidFill>
                  <a:srgbClr val="0F0F0F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
</a:t>
            </a:r>
            <a:endParaRPr lang="en-US" sz="1500" dirty="0"/>
          </a:p>
          <a:p>
            <a:pPr marL="152400" indent="-152400">
              <a:buSzPct val="100000"/>
              <a:buChar char="•"/>
            </a:pPr>
            <a:r>
              <a:rPr lang="en-US" sz="1800" dirty="0">
                <a:solidFill>
                  <a:srgbClr val="545454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Бюджетирование / казначейство</a:t>
            </a:r>
            <a:endParaRPr lang="en-US" sz="1500" dirty="0"/>
          </a:p>
        </p:txBody>
      </p:sp>
      <p:sp>
        <p:nvSpPr>
          <p:cNvPr id="18" name="Shape 15"/>
          <p:cNvSpPr/>
          <p:nvPr/>
        </p:nvSpPr>
        <p:spPr>
          <a:xfrm>
            <a:off x="8357616" y="1554480"/>
            <a:ext cx="3337560" cy="4206240"/>
          </a:xfrm>
          <a:prstGeom prst="roundRect">
            <a:avLst>
              <a:gd name="adj" fmla="val 2192"/>
            </a:avLst>
          </a:prstGeom>
          <a:solidFill>
            <a:srgbClr val="FFFFFF"/>
          </a:solidFill>
          <a:ln w="12700">
            <a:solidFill>
              <a:srgbClr val="D6D6D6"/>
            </a:solidFill>
            <a:prstDash val="solid"/>
          </a:ln>
          <a:effectLst>
            <a:outerShdw sx="100000" sy="100000" kx="0" ky="0" algn="bl" rotWithShape="0" blurRad="12700" dist="3810" dir="2700000">
              <a:srgbClr val="000000">
                <a:alpha val="8000"/>
              </a:srgbClr>
            </a:outerShdw>
          </a:effectLst>
        </p:spPr>
        <p:txBody>
          <a:bodyPr/>
          <a:p/>
        </p:txBody>
      </p:sp>
      <p:sp>
        <p:nvSpPr>
          <p:cNvPr id="19" name="Shape 16"/>
          <p:cNvSpPr/>
          <p:nvPr/>
        </p:nvSpPr>
        <p:spPr>
          <a:xfrm>
            <a:off x="8375904" y="1572768"/>
            <a:ext cx="73152" cy="4169664"/>
          </a:xfrm>
          <a:prstGeom prst="rect">
            <a:avLst/>
          </a:prstGeom>
          <a:solidFill>
            <a:srgbClr val="FFFFFF"/>
          </a:solidFill>
          <a:ln w="12700">
            <a:solidFill>
              <a:srgbClr val="D6D6D6"/>
            </a:solidFill>
            <a:prstDash val="solid"/>
          </a:ln>
        </p:spPr>
        <p:txBody>
          <a:bodyPr/>
          <a:p/>
        </p:txBody>
      </p:sp>
      <p:sp>
        <p:nvSpPr>
          <p:cNvPr id="20" name="Text 17"/>
          <p:cNvSpPr/>
          <p:nvPr/>
        </p:nvSpPr>
        <p:spPr>
          <a:xfrm>
            <a:off x="8522208" y="1700784"/>
            <a:ext cx="3081528" cy="310896"/>
          </a:xfrm>
          <a:prstGeom prst="rect">
            <a:avLst/>
          </a:prstGeom>
          <a:solidFill>
            <a:srgbClr val="FFFFFF"/>
          </a:solidFill>
          <a:ln w="12700">
            <a:solidFill>
              <a:srgbClr val="D6D6D6"/>
            </a:solidFill>
          </a:ln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0F0F0F"/>
                </a:solidFill>
                <a:latin typeface="Roboto Condensed" pitchFamily="34" charset="0"/>
                <a:ea typeface="Roboto Condensed" pitchFamily="34" charset="-122"/>
                <a:cs typeface="Roboto Condensed" pitchFamily="34" charset="-120"/>
              </a:rPr>
              <a:t>Recurring</a:t>
            </a:r>
            <a:endParaRPr lang="en-US" sz="1800" dirty="0"/>
          </a:p>
        </p:txBody>
      </p:sp>
      <p:sp>
        <p:nvSpPr>
          <p:cNvPr id="21" name="Text 18"/>
          <p:cNvSpPr/>
          <p:nvPr/>
        </p:nvSpPr>
        <p:spPr>
          <a:xfrm>
            <a:off x="8522208" y="2066544"/>
            <a:ext cx="3081528" cy="3547872"/>
          </a:xfrm>
          <a:prstGeom prst="rect">
            <a:avLst/>
          </a:prstGeom>
          <a:solidFill>
            <a:srgbClr val="FFFFFF"/>
          </a:solidFill>
          <a:ln w="12700">
            <a:solidFill>
              <a:srgbClr val="D6D6D6"/>
            </a:solidFill>
          </a:ln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endParaRPr lang="en-US" sz="1100" dirty="0"/>
          </a:p>
        </p:txBody>
      </p:sp>
      <p:sp>
        <p:nvSpPr>
          <p:cNvPr id="22" name="Text 19"/>
          <p:cNvSpPr/>
          <p:nvPr/>
        </p:nvSpPr>
        <p:spPr>
          <a:xfrm>
            <a:off x="8650224" y="2176272"/>
            <a:ext cx="2697480" cy="2834640"/>
          </a:xfrm>
          <a:prstGeom prst="rect">
            <a:avLst/>
          </a:prstGeom>
          <a:solidFill>
            <a:srgbClr val="FFFFFF"/>
          </a:solidFill>
          <a:ln w="12700">
            <a:solidFill>
              <a:srgbClr val="D6D6D6"/>
            </a:solidFill>
          </a:ln>
        </p:spPr>
        <p:txBody>
          <a:bodyPr wrap="square" rtlCol="0" anchor="t"/>
          <a:lstStyle/>
          <a:p>
            <a:pPr marL="152400" indent="-152400">
              <a:buSzPct val="100000"/>
              <a:buChar char="•"/>
            </a:pPr>
            <a:r>
              <a:rPr lang="en-US" sz="1800" dirty="0">
                <a:solidFill>
                  <a:srgbClr val="545454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Внешний CFO</a:t>
            </a:r>
            <a:pPr indent="0" marL="0">
              <a:buNone/>
            </a:pPr>
            <a:r>
              <a:rPr lang="en-US" sz="1500" dirty="0">
                <a:solidFill>
                  <a:srgbClr val="0F0F0F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
</a:t>
            </a:r>
            <a:endParaRPr lang="en-US" sz="1500" dirty="0"/>
          </a:p>
          <a:p>
            <a:pPr marL="152400" indent="-152400">
              <a:buSzPct val="100000"/>
              <a:buChar char="•"/>
            </a:pPr>
            <a:r>
              <a:rPr lang="en-US" sz="1800" dirty="0">
                <a:solidFill>
                  <a:srgbClr val="545454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Внешний финансовый контролер</a:t>
            </a:r>
            <a:pPr indent="0" marL="0">
              <a:buNone/>
            </a:pPr>
            <a:r>
              <a:rPr lang="en-US" sz="1500" dirty="0">
                <a:solidFill>
                  <a:srgbClr val="0F0F0F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
</a:t>
            </a:r>
            <a:endParaRPr lang="en-US" sz="1500" dirty="0"/>
          </a:p>
          <a:p>
            <a:pPr marL="152400" indent="-152400">
              <a:buSzPct val="100000"/>
              <a:buChar char="•"/>
            </a:pPr>
            <a:r>
              <a:rPr lang="en-US" sz="1800" dirty="0">
                <a:solidFill>
                  <a:srgbClr val="545454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Ежемесячный финансовый обзор</a:t>
            </a:r>
            <a:endParaRPr lang="en-US" sz="1500" dirty="0"/>
          </a:p>
        </p:txBody>
      </p:sp>
      <p:sp>
        <p:nvSpPr>
          <p:cNvPr id="23" name="Oval 22"/>
          <p:cNvSpPr/>
          <p:nvPr/>
        </p:nvSpPr>
        <p:spPr>
          <a:xfrm>
            <a:off x="594360" y="1417320"/>
            <a:ext cx="230428" cy="230428"/>
          </a:xfrm>
          <a:prstGeom prst="ellipse">
            <a:avLst/>
          </a:prstGeom>
          <a:noFill/>
          <a:ln w="22225">
            <a:solidFill>
              <a:srgbClr val="84383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ectangle 23"/>
          <p:cNvSpPr/>
          <p:nvPr/>
        </p:nvSpPr>
        <p:spPr>
          <a:xfrm rot="2700000">
            <a:off x="767181" y="1602943"/>
            <a:ext cx="108813" cy="19202"/>
          </a:xfrm>
          <a:prstGeom prst="rect">
            <a:avLst/>
          </a:prstGeom>
          <a:solidFill>
            <a:srgbClr val="8438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164592"/>
          </a:xfrm>
          <a:prstGeom prst="rect">
            <a:avLst/>
          </a:prstGeom>
          <a:solidFill>
            <a:srgbClr val="FFFFFF"/>
          </a:solidFill>
          <a:ln w="12700">
            <a:solidFill>
              <a:srgbClr val="D6D6D6"/>
            </a:solidFill>
            <a:prstDash val="solid"/>
          </a:ln>
        </p:spPr>
        <p:txBody>
          <a:bodyPr/>
          <a:p/>
        </p:txBody>
      </p:sp>
      <p:sp>
        <p:nvSpPr>
          <p:cNvPr id="3" name="Text 1"/>
          <p:cNvSpPr/>
          <p:nvPr/>
        </p:nvSpPr>
        <p:spPr>
          <a:xfrm>
            <a:off x="594360" y="310896"/>
            <a:ext cx="8046720" cy="384048"/>
          </a:xfrm>
          <a:prstGeom prst="rect">
            <a:avLst/>
          </a:prstGeom>
          <a:solidFill>
            <a:srgbClr val="FFFFFF"/>
          </a:solidFill>
          <a:ln w="12700">
            <a:solidFill>
              <a:srgbClr val="D6D6D6"/>
            </a:solidFill>
          </a:ln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0F0F0F"/>
                </a:solidFill>
                <a:latin typeface="Roboto Condensed" pitchFamily="34" charset="0"/>
                <a:ea typeface="Roboto Condensed" pitchFamily="34" charset="-122"/>
                <a:cs typeface="Roboto Condensed" pitchFamily="34" charset="-120"/>
              </a:rPr>
              <a:t>РЫНОК, КОНКУРЕНЦИЯ И ТОЧКИ БЫСТРОГО СТАРТА</a:t>
            </a:r>
            <a:endParaRPr lang="en-US" sz="2600" dirty="0"/>
          </a:p>
        </p:txBody>
      </p:sp>
      <p:sp>
        <p:nvSpPr>
          <p:cNvPr id="4" name="Text 2"/>
          <p:cNvSpPr/>
          <p:nvPr/>
        </p:nvSpPr>
        <p:spPr>
          <a:xfrm>
            <a:off x="594360" y="722376"/>
            <a:ext cx="7589520" cy="201168"/>
          </a:xfrm>
          <a:prstGeom prst="rect">
            <a:avLst/>
          </a:prstGeom>
          <a:solidFill>
            <a:srgbClr val="FFFFFF"/>
          </a:solidFill>
          <a:ln w="12700">
            <a:solidFill>
              <a:srgbClr val="D6D6D6"/>
            </a:solidFill>
          </a:ln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545454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рыночный итог и рекомендуемая стратегия запуска</a:t>
            </a:r>
            <a:endParaRPr lang="en-US" sz="950" dirty="0"/>
          </a:p>
        </p:txBody>
      </p:sp>
      <p:pic>
        <p:nvPicPr>
          <p:cNvPr id="5" name="Image 0" descr="/mnt/data/work/logo_crop_trans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343388" y="256032"/>
            <a:ext cx="938784" cy="502920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11475720" y="6473952"/>
            <a:ext cx="320040" cy="164592"/>
          </a:xfrm>
          <a:prstGeom prst="rect">
            <a:avLst/>
          </a:prstGeom>
          <a:solidFill>
            <a:srgbClr val="FFFFFF"/>
          </a:solidFill>
          <a:ln w="12700">
            <a:solidFill>
              <a:srgbClr val="D6D6D6"/>
            </a:solidFill>
          </a:ln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dirty="0" b="1">
                <a:solidFill>
                  <a:srgbClr val="84383E"/>
                </a:solidFill>
                <a:latin typeface="Roboto Condensed" pitchFamily="34" charset="0"/>
                <a:ea typeface="Roboto Condensed" pitchFamily="34" charset="-122"/>
                <a:cs typeface="Roboto Condensed" pitchFamily="34" charset="-120"/>
              </a:rPr>
              <a:t>12</a:t>
            </a:r>
            <a:endParaRPr lang="en-US" sz="1000" dirty="0"/>
          </a:p>
        </p:txBody>
      </p:sp>
      <p:sp>
        <p:nvSpPr>
          <p:cNvPr id="7" name="Shape 4"/>
          <p:cNvSpPr/>
          <p:nvPr/>
        </p:nvSpPr>
        <p:spPr>
          <a:xfrm>
            <a:off x="594360" y="932688"/>
            <a:ext cx="11018520" cy="0"/>
          </a:xfrm>
          <a:prstGeom prst="line">
            <a:avLst/>
          </a:prstGeom>
          <a:noFill/>
          <a:ln w="12700">
            <a:solidFill>
              <a:srgbClr val="D6D6D6"/>
            </a:solidFill>
            <a:prstDash val="solid"/>
          </a:ln>
        </p:spPr>
        <p:txBody>
          <a:bodyPr/>
          <a:p/>
        </p:txBody>
      </p:sp>
      <p:sp>
        <p:nvSpPr>
          <p:cNvPr id="8" name="Shape 5"/>
          <p:cNvSpPr/>
          <p:nvPr/>
        </p:nvSpPr>
        <p:spPr>
          <a:xfrm>
            <a:off x="777240" y="1353312"/>
            <a:ext cx="5257800" cy="4297680"/>
          </a:xfrm>
          <a:prstGeom prst="roundRect">
            <a:avLst>
              <a:gd name="adj" fmla="val 1702"/>
            </a:avLst>
          </a:prstGeom>
          <a:solidFill>
            <a:srgbClr val="FFFFFF"/>
          </a:solidFill>
          <a:ln w="12700">
            <a:solidFill>
              <a:srgbClr val="D6D6D6"/>
            </a:solidFill>
            <a:prstDash val="solid"/>
          </a:ln>
          <a:effectLst>
            <a:outerShdw sx="100000" sy="100000" kx="0" ky="0" algn="bl" rotWithShape="0" blurRad="12700" dist="3810" dir="2700000">
              <a:srgbClr val="000000">
                <a:alpha val="8000"/>
              </a:srgbClr>
            </a:outerShdw>
          </a:effectLst>
        </p:spPr>
        <p:txBody>
          <a:bodyPr/>
          <a:p/>
        </p:txBody>
      </p:sp>
      <p:sp>
        <p:nvSpPr>
          <p:cNvPr id="9" name="Shape 6"/>
          <p:cNvSpPr/>
          <p:nvPr/>
        </p:nvSpPr>
        <p:spPr>
          <a:xfrm>
            <a:off x="795528" y="1371600"/>
            <a:ext cx="73152" cy="4261104"/>
          </a:xfrm>
          <a:prstGeom prst="rect">
            <a:avLst/>
          </a:prstGeom>
          <a:solidFill>
            <a:srgbClr val="FFFFFF"/>
          </a:solidFill>
          <a:ln w="12700">
            <a:solidFill>
              <a:srgbClr val="D6D6D6"/>
            </a:solidFill>
            <a:prstDash val="solid"/>
          </a:ln>
        </p:spPr>
        <p:txBody>
          <a:bodyPr/>
          <a:p/>
        </p:txBody>
      </p:sp>
      <p:sp>
        <p:nvSpPr>
          <p:cNvPr id="10" name="Text 7"/>
          <p:cNvSpPr/>
          <p:nvPr/>
        </p:nvSpPr>
        <p:spPr>
          <a:xfrm>
            <a:off x="941832" y="1499616"/>
            <a:ext cx="5001768" cy="310896"/>
          </a:xfrm>
          <a:prstGeom prst="rect">
            <a:avLst/>
          </a:prstGeom>
          <a:solidFill>
            <a:srgbClr val="FFFFFF"/>
          </a:solidFill>
          <a:ln w="12700">
            <a:solidFill>
              <a:srgbClr val="D6D6D6"/>
            </a:solidFill>
          </a:ln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0F0F0F"/>
                </a:solidFill>
                <a:latin typeface="Roboto Condensed" pitchFamily="34" charset="0"/>
                <a:ea typeface="Roboto Condensed" pitchFamily="34" charset="-122"/>
                <a:cs typeface="Roboto Condensed" pitchFamily="34" charset="-120"/>
              </a:rPr>
              <a:t>Высокая конкуренция</a:t>
            </a:r>
            <a:endParaRPr lang="en-US" sz="1800" dirty="0"/>
          </a:p>
        </p:txBody>
      </p:sp>
      <p:sp>
        <p:nvSpPr>
          <p:cNvPr id="11" name="Text 8"/>
          <p:cNvSpPr/>
          <p:nvPr/>
        </p:nvSpPr>
        <p:spPr>
          <a:xfrm>
            <a:off x="941832" y="1865376"/>
            <a:ext cx="5001768" cy="3639312"/>
          </a:xfrm>
          <a:prstGeom prst="rect">
            <a:avLst/>
          </a:prstGeom>
          <a:solidFill>
            <a:srgbClr val="FFFFFF"/>
          </a:solidFill>
          <a:ln w="12700">
            <a:solidFill>
              <a:srgbClr val="D6D6D6"/>
            </a:solidFill>
          </a:ln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endParaRPr lang="en-US" sz="1100" dirty="0"/>
          </a:p>
        </p:txBody>
      </p:sp>
      <p:sp>
        <p:nvSpPr>
          <p:cNvPr id="12" name="Text 9"/>
          <p:cNvSpPr/>
          <p:nvPr/>
        </p:nvSpPr>
        <p:spPr>
          <a:xfrm>
            <a:off x="1097280" y="1920240"/>
            <a:ext cx="4526280" cy="2743200"/>
          </a:xfrm>
          <a:prstGeom prst="rect">
            <a:avLst/>
          </a:prstGeom>
          <a:solidFill>
            <a:srgbClr val="FFFFFF"/>
          </a:solidFill>
          <a:ln w="12700">
            <a:solidFill>
              <a:srgbClr val="D6D6D6"/>
            </a:solidFill>
          </a:ln>
        </p:spPr>
        <p:txBody>
          <a:bodyPr wrap="square" rtlCol="0" anchor="t"/>
          <a:lstStyle/>
          <a:p>
            <a:pPr marL="152400" indent="-152400">
              <a:buSzPct val="100000"/>
              <a:buChar char="•"/>
            </a:pPr>
            <a:r>
              <a:rPr lang="en-US" sz="1800" dirty="0">
                <a:solidFill>
                  <a:srgbClr val="545454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Постановка управленческого учета</a:t>
            </a:r>
            <a:pPr indent="0" marL="0">
              <a:buNone/>
            </a:pPr>
            <a:r>
              <a:rPr lang="en-US" sz="1500" dirty="0">
                <a:solidFill>
                  <a:srgbClr val="0F0F0F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
</a:t>
            </a:r>
            <a:endParaRPr lang="en-US" sz="1500" dirty="0"/>
          </a:p>
          <a:p>
            <a:pPr marL="152400" indent="-152400">
              <a:buSzPct val="100000"/>
              <a:buChar char="•"/>
            </a:pPr>
            <a:r>
              <a:rPr lang="en-US" sz="1800" dirty="0">
                <a:solidFill>
                  <a:srgbClr val="545454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Бюджетирование</a:t>
            </a:r>
            <a:pPr indent="0" marL="0">
              <a:buNone/>
            </a:pPr>
            <a:r>
              <a:rPr lang="en-US" sz="1500" dirty="0">
                <a:solidFill>
                  <a:srgbClr val="0F0F0F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
</a:t>
            </a:r>
            <a:endParaRPr lang="en-US" sz="1500" dirty="0"/>
          </a:p>
          <a:p>
            <a:pPr marL="152400" indent="-152400">
              <a:buSzPct val="100000"/>
              <a:buChar char="•"/>
            </a:pPr>
            <a:r>
              <a:rPr lang="en-US" sz="1800" dirty="0">
                <a:solidFill>
                  <a:srgbClr val="545454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Казначейство</a:t>
            </a:r>
            <a:pPr indent="0" marL="0">
              <a:buNone/>
            </a:pPr>
            <a:r>
              <a:rPr lang="en-US" sz="1500" dirty="0">
                <a:solidFill>
                  <a:srgbClr val="0F0F0F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
</a:t>
            </a:r>
            <a:endParaRPr lang="en-US" sz="1500" dirty="0"/>
          </a:p>
          <a:p>
            <a:pPr marL="152400" indent="-152400">
              <a:buSzPct val="100000"/>
              <a:buChar char="•"/>
            </a:pPr>
            <a:r>
              <a:rPr lang="en-US" sz="1800" dirty="0">
                <a:solidFill>
                  <a:srgbClr val="545454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Внешний финансовый директор</a:t>
            </a:r>
            <a:pPr indent="0" marL="0">
              <a:buNone/>
            </a:pPr>
            <a:r>
              <a:rPr lang="en-US" sz="1500" dirty="0">
                <a:solidFill>
                  <a:srgbClr val="0F0F0F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
</a:t>
            </a:r>
            <a:endParaRPr lang="en-US" sz="1500" dirty="0"/>
          </a:p>
          <a:p>
            <a:pPr marL="152400" indent="-152400">
              <a:buSzPct val="100000"/>
              <a:buChar char="•"/>
            </a:pPr>
            <a:r>
              <a:rPr lang="en-US" sz="1800" dirty="0">
                <a:solidFill>
                  <a:srgbClr val="545454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Финансовое моделирование</a:t>
            </a:r>
            <a:pPr indent="0" marL="0">
              <a:buNone/>
            </a:pPr>
            <a:r>
              <a:rPr lang="en-US" sz="1500" dirty="0">
                <a:solidFill>
                  <a:srgbClr val="0F0F0F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
</a:t>
            </a:r>
            <a:endParaRPr lang="en-US" sz="1500" dirty="0"/>
          </a:p>
          <a:p>
            <a:pPr marL="152400" indent="-152400">
              <a:buSzPct val="100000"/>
              <a:buChar char="•"/>
            </a:pPr>
            <a:r>
              <a:rPr lang="en-US" sz="1800" dirty="0">
                <a:solidFill>
                  <a:srgbClr val="545454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Трансформация финансовой функции</a:t>
            </a:r>
            <a:endParaRPr lang="en-US" sz="1500" dirty="0"/>
          </a:p>
        </p:txBody>
      </p:sp>
      <p:sp>
        <p:nvSpPr>
          <p:cNvPr id="13" name="Text 10"/>
          <p:cNvSpPr/>
          <p:nvPr/>
        </p:nvSpPr>
        <p:spPr>
          <a:xfrm>
            <a:off x="1097280" y="4919472"/>
            <a:ext cx="4526280" cy="347472"/>
          </a:xfrm>
          <a:prstGeom prst="rect">
            <a:avLst/>
          </a:prstGeom>
          <a:solidFill>
            <a:srgbClr val="FFFFFF"/>
          </a:solidFill>
          <a:ln w="12700">
            <a:solidFill>
              <a:srgbClr val="D6D6D6"/>
            </a:solidFill>
          </a:ln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545454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Рынок в этих категориях уже насыщен сильными брендами и платформенными игроками.</a:t>
            </a:r>
            <a:endParaRPr lang="en-US" sz="1250" dirty="0"/>
          </a:p>
        </p:txBody>
      </p:sp>
      <p:sp>
        <p:nvSpPr>
          <p:cNvPr id="14" name="Shape 11"/>
          <p:cNvSpPr/>
          <p:nvPr/>
        </p:nvSpPr>
        <p:spPr>
          <a:xfrm>
            <a:off x="6172200" y="1353312"/>
            <a:ext cx="5257800" cy="4297680"/>
          </a:xfrm>
          <a:prstGeom prst="roundRect">
            <a:avLst>
              <a:gd name="adj" fmla="val 1702"/>
            </a:avLst>
          </a:prstGeom>
          <a:solidFill>
            <a:srgbClr val="FFFFFF"/>
          </a:solidFill>
          <a:ln w="12700">
            <a:solidFill>
              <a:srgbClr val="D6D6D6"/>
            </a:solidFill>
            <a:prstDash val="solid"/>
          </a:ln>
          <a:effectLst>
            <a:outerShdw sx="100000" sy="100000" kx="0" ky="0" algn="bl" rotWithShape="0" blurRad="12700" dist="3810" dir="2700000">
              <a:srgbClr val="000000">
                <a:alpha val="8000"/>
              </a:srgbClr>
            </a:outerShdw>
          </a:effectLst>
        </p:spPr>
        <p:txBody>
          <a:bodyPr/>
          <a:p/>
        </p:txBody>
      </p:sp>
      <p:sp>
        <p:nvSpPr>
          <p:cNvPr id="15" name="Shape 12"/>
          <p:cNvSpPr/>
          <p:nvPr/>
        </p:nvSpPr>
        <p:spPr>
          <a:xfrm>
            <a:off x="6190488" y="1371600"/>
            <a:ext cx="73152" cy="4261104"/>
          </a:xfrm>
          <a:prstGeom prst="rect">
            <a:avLst/>
          </a:prstGeom>
          <a:solidFill>
            <a:srgbClr val="FFFFFF"/>
          </a:solidFill>
          <a:ln w="12700">
            <a:solidFill>
              <a:srgbClr val="D6D6D6"/>
            </a:solidFill>
            <a:prstDash val="solid"/>
          </a:ln>
        </p:spPr>
        <p:txBody>
          <a:bodyPr/>
          <a:p/>
        </p:txBody>
      </p:sp>
      <p:sp>
        <p:nvSpPr>
          <p:cNvPr id="16" name="Text 13"/>
          <p:cNvSpPr/>
          <p:nvPr/>
        </p:nvSpPr>
        <p:spPr>
          <a:xfrm>
            <a:off x="6336792" y="1499616"/>
            <a:ext cx="5001768" cy="310896"/>
          </a:xfrm>
          <a:prstGeom prst="rect">
            <a:avLst/>
          </a:prstGeom>
          <a:solidFill>
            <a:srgbClr val="FFFFFF"/>
          </a:solidFill>
          <a:ln w="12700">
            <a:solidFill>
              <a:srgbClr val="D6D6D6"/>
            </a:solidFill>
          </a:ln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0F0F0F"/>
                </a:solidFill>
                <a:latin typeface="Roboto Condensed" pitchFamily="34" charset="0"/>
                <a:ea typeface="Roboto Condensed" pitchFamily="34" charset="-122"/>
                <a:cs typeface="Roboto Condensed" pitchFamily="34" charset="-120"/>
              </a:rPr>
              <a:t>Быстрый старт / приемлемая конкуренция</a:t>
            </a:r>
            <a:endParaRPr lang="en-US" sz="1800" dirty="0"/>
          </a:p>
        </p:txBody>
      </p:sp>
      <p:sp>
        <p:nvSpPr>
          <p:cNvPr id="17" name="Text 14"/>
          <p:cNvSpPr/>
          <p:nvPr/>
        </p:nvSpPr>
        <p:spPr>
          <a:xfrm>
            <a:off x="6336792" y="1865376"/>
            <a:ext cx="5001768" cy="3639312"/>
          </a:xfrm>
          <a:prstGeom prst="rect">
            <a:avLst/>
          </a:prstGeom>
          <a:solidFill>
            <a:srgbClr val="FFFFFF"/>
          </a:solidFill>
          <a:ln w="12700">
            <a:solidFill>
              <a:srgbClr val="D6D6D6"/>
            </a:solidFill>
          </a:ln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endParaRPr lang="en-US" sz="1100" dirty="0"/>
          </a:p>
        </p:txBody>
      </p:sp>
      <p:sp>
        <p:nvSpPr>
          <p:cNvPr id="18" name="Text 15"/>
          <p:cNvSpPr/>
          <p:nvPr/>
        </p:nvSpPr>
        <p:spPr>
          <a:xfrm>
            <a:off x="6492240" y="1920240"/>
            <a:ext cx="4526280" cy="2743200"/>
          </a:xfrm>
          <a:prstGeom prst="rect">
            <a:avLst/>
          </a:prstGeom>
          <a:solidFill>
            <a:srgbClr val="FFFFFF"/>
          </a:solidFill>
          <a:ln w="12700">
            <a:solidFill>
              <a:srgbClr val="D6D6D6"/>
            </a:solidFill>
          </a:ln>
        </p:spPr>
        <p:txBody>
          <a:bodyPr wrap="square" rtlCol="0" anchor="t"/>
          <a:lstStyle/>
          <a:p>
            <a:pPr marL="152400" indent="-152400">
              <a:buSzPct val="100000"/>
              <a:buChar char="•"/>
            </a:pPr>
            <a:r>
              <a:rPr lang="en-US" sz="1800" dirty="0">
                <a:solidFill>
                  <a:srgbClr val="545454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Диагностика расхождений между бух-, налоговым и управленческим учетом</a:t>
            </a:r>
            <a:pPr indent="0" marL="0">
              <a:buNone/>
            </a:pPr>
            <a:r>
              <a:rPr lang="en-US" sz="1500" dirty="0">
                <a:solidFill>
                  <a:srgbClr val="0F0F0F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
</a:t>
            </a:r>
            <a:endParaRPr lang="en-US" sz="1500" dirty="0"/>
          </a:p>
          <a:p>
            <a:pPr marL="152400" indent="-152400">
              <a:buSzPct val="100000"/>
              <a:buChar char="•"/>
            </a:pPr>
            <a:r>
              <a:rPr lang="en-US" sz="1800" dirty="0">
                <a:solidFill>
                  <a:srgbClr val="545454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Учетная политика управленческого учета</a:t>
            </a:r>
            <a:pPr indent="0" marL="0">
              <a:buNone/>
            </a:pPr>
            <a:r>
              <a:rPr lang="en-US" sz="1500" dirty="0">
                <a:solidFill>
                  <a:srgbClr val="0F0F0F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
</a:t>
            </a:r>
            <a:endParaRPr lang="en-US" sz="1500" dirty="0"/>
          </a:p>
          <a:p>
            <a:pPr marL="152400" indent="-152400">
              <a:buSzPct val="100000"/>
              <a:buChar char="•"/>
            </a:pPr>
            <a:r>
              <a:rPr lang="en-US" sz="1800" dirty="0">
                <a:solidFill>
                  <a:srgbClr val="545454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Регламент закрытия месяца</a:t>
            </a:r>
            <a:pPr indent="0" marL="0">
              <a:buNone/>
            </a:pPr>
            <a:r>
              <a:rPr lang="en-US" sz="1500" dirty="0">
                <a:solidFill>
                  <a:srgbClr val="0F0F0F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
</a:t>
            </a:r>
            <a:endParaRPr lang="en-US" sz="1500" dirty="0"/>
          </a:p>
          <a:p>
            <a:pPr marL="152400" indent="-152400">
              <a:buSzPct val="100000"/>
              <a:buChar char="•"/>
            </a:pPr>
            <a:r>
              <a:rPr lang="en-US" sz="1800" dirty="0">
                <a:solidFill>
                  <a:srgbClr val="545454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Финансовая панель собственника</a:t>
            </a:r>
            <a:pPr indent="0" marL="0">
              <a:buNone/>
            </a:pPr>
            <a:r>
              <a:rPr lang="en-US" sz="1500" dirty="0">
                <a:solidFill>
                  <a:srgbClr val="0F0F0F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
</a:t>
            </a:r>
            <a:endParaRPr lang="en-US" sz="1500" dirty="0"/>
          </a:p>
          <a:p>
            <a:pPr marL="152400" indent="-152400">
              <a:buSzPct val="100000"/>
              <a:buChar char="•"/>
            </a:pPr>
            <a:r>
              <a:rPr lang="en-US" sz="1800" dirty="0">
                <a:solidFill>
                  <a:srgbClr val="545454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Подготовка к кредитованию</a:t>
            </a:r>
            <a:endParaRPr lang="en-US" sz="1500" dirty="0"/>
          </a:p>
        </p:txBody>
      </p:sp>
      <p:sp>
        <p:nvSpPr>
          <p:cNvPr id="19" name="Text 16"/>
          <p:cNvSpPr/>
          <p:nvPr/>
        </p:nvSpPr>
        <p:spPr>
          <a:xfrm>
            <a:off x="6492240" y="4919472"/>
            <a:ext cx="4526280" cy="347472"/>
          </a:xfrm>
          <a:prstGeom prst="rect">
            <a:avLst/>
          </a:prstGeom>
          <a:solidFill>
            <a:srgbClr val="FFFFFF"/>
          </a:solidFill>
          <a:ln w="12700">
            <a:solidFill>
              <a:srgbClr val="D6D6D6"/>
            </a:solidFill>
          </a:ln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545454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Эти офферы лучше опираются на текущую экспертизу компании и легче продаются действующей базе.</a:t>
            </a:r>
            <a:endParaRPr lang="en-US" sz="1250" dirty="0"/>
          </a:p>
        </p:txBody>
      </p:sp>
      <p:sp>
        <p:nvSpPr>
          <p:cNvPr id="20" name="Shape 17"/>
          <p:cNvSpPr/>
          <p:nvPr/>
        </p:nvSpPr>
        <p:spPr>
          <a:xfrm>
            <a:off x="868680" y="5788152"/>
            <a:ext cx="10469880" cy="658368"/>
          </a:xfrm>
          <a:prstGeom prst="roundRect">
            <a:avLst>
              <a:gd name="adj" fmla="val 11111"/>
            </a:avLst>
          </a:prstGeom>
          <a:solidFill>
            <a:srgbClr val="F1EFEF"/>
          </a:solidFill>
          <a:ln w="12700">
            <a:solidFill>
              <a:srgbClr val="D6D6D6"/>
            </a:solidFill>
            <a:prstDash val="solid"/>
          </a:ln>
          <a:effectLst>
            <a:outerShdw sx="100000" sy="100000" kx="0" ky="0" algn="bl" rotWithShape="0" blurRad="12700" dist="3810" dir="2700000">
              <a:srgbClr val="000000">
                <a:alpha val="8000"/>
              </a:srgbClr>
            </a:outerShdw>
          </a:effectLst>
        </p:spPr>
        <p:txBody>
          <a:bodyPr/>
          <a:p/>
        </p:txBody>
      </p:sp>
      <p:sp>
        <p:nvSpPr>
          <p:cNvPr id="21" name="Shape 18"/>
          <p:cNvSpPr/>
          <p:nvPr/>
        </p:nvSpPr>
        <p:spPr>
          <a:xfrm>
            <a:off x="886968" y="5806440"/>
            <a:ext cx="73152" cy="621792"/>
          </a:xfrm>
          <a:prstGeom prst="rect">
            <a:avLst/>
          </a:prstGeom>
          <a:solidFill>
            <a:srgbClr val="FFFFFF"/>
          </a:solidFill>
          <a:ln w="12700">
            <a:solidFill>
              <a:srgbClr val="D6D6D6"/>
            </a:solidFill>
            <a:prstDash val="solid"/>
          </a:ln>
        </p:spPr>
        <p:txBody>
          <a:bodyPr/>
          <a:p/>
        </p:txBody>
      </p:sp>
      <p:sp>
        <p:nvSpPr>
          <p:cNvPr id="22" name="Text 19"/>
          <p:cNvSpPr/>
          <p:nvPr/>
        </p:nvSpPr>
        <p:spPr>
          <a:xfrm>
            <a:off x="1033272" y="5934456"/>
            <a:ext cx="10213848" cy="310896"/>
          </a:xfrm>
          <a:prstGeom prst="rect">
            <a:avLst/>
          </a:prstGeom>
          <a:solidFill>
            <a:srgbClr val="FFFFFF"/>
          </a:solidFill>
          <a:ln w="12700">
            <a:solidFill>
              <a:srgbClr val="D6D6D6"/>
            </a:solidFill>
          </a:ln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0F0F0F"/>
                </a:solidFill>
                <a:latin typeface="Roboto Condensed" pitchFamily="34" charset="0"/>
                <a:ea typeface="Roboto Condensed" pitchFamily="34" charset="-122"/>
                <a:cs typeface="Roboto Condensed" pitchFamily="34" charset="-120"/>
              </a:rPr>
              <a:t>Рекомендуемая стратегия запуска</a:t>
            </a:r>
            <a:endParaRPr lang="en-US" sz="1800" dirty="0"/>
          </a:p>
        </p:txBody>
      </p:sp>
      <p:sp>
        <p:nvSpPr>
          <p:cNvPr id="23" name="Text 20"/>
          <p:cNvSpPr/>
          <p:nvPr/>
        </p:nvSpPr>
        <p:spPr>
          <a:xfrm>
            <a:off x="1033272" y="6300216"/>
            <a:ext cx="10213848" cy="0"/>
          </a:xfrm>
          <a:prstGeom prst="rect">
            <a:avLst/>
          </a:prstGeom>
          <a:solidFill>
            <a:srgbClr val="FFFFFF"/>
          </a:solidFill>
          <a:ln w="12700">
            <a:solidFill>
              <a:srgbClr val="D6D6D6"/>
            </a:solidFill>
          </a:ln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800" dirty="0">
                <a:solidFill>
                  <a:srgbClr val="545454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Начинать с решений на стыке бухгалтерии, налогов и управленческих финансов — там ниже прямое конкурентное давление и выше естественное доверие к аудиторской компании.</a:t>
            </a:r>
            <a:endParaRPr lang="en-US" sz="11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Roboto Condensed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Noto Sans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12</Slides>
  <Notes>12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12</vt:i4>
      </vt:variant>
    </vt:vector>
  </HeadingPairs>
  <TitlesOfParts>
    <vt:vector size="15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</vt:vector>
  </TitlesOfParts>
  <Company>OpenAI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Система продуктов финансовой практики</dc:title>
  <dc:subject>Система продуктов финансовой практики</dc:subject>
  <dc:creator>OpenAI</dc:creator>
  <cp:lastModifiedBy>OpenAI</cp:lastModifiedBy>
  <cp:revision>1</cp:revision>
  <dcterms:created xsi:type="dcterms:W3CDTF">2026-04-15T06:57:41Z</dcterms:created>
  <dcterms:modified xsi:type="dcterms:W3CDTF">2026-04-15T06:57:41Z</dcterms:modified>
</cp:coreProperties>
</file>